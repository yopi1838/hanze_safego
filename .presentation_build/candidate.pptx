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791300a90a46d7" /><Relationship Type="http://schemas.openxmlformats.org/officeDocument/2006/relationships/extended-properties" Target="/docProps/app.xml" Id="R160c65c22e894bfc" /><Relationship Type="http://schemas.openxmlformats.org/officeDocument/2006/relationships/officeDocument" Target="/ppt/presentation.xml" Id="R105785e81d4e46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55c390d1f5450e"/>
  </p:sldMasterIdLst>
  <p:notesMasterIdLst>
    <p:notesMasterId xmlns:r="http://schemas.openxmlformats.org/officeDocument/2006/relationships" r:id="R64547e0f0c394968"/>
  </p:notesMasterIdLst>
  <p:sldIdLst>
    <p:sldId xmlns:r="http://schemas.openxmlformats.org/officeDocument/2006/relationships" id="256" r:id="Rb88dccf26f3c4aa8"/>
    <p:sldId xmlns:r="http://schemas.openxmlformats.org/officeDocument/2006/relationships" id="257" r:id="Rd17f2c438abf4b47"/>
    <p:sldId xmlns:r="http://schemas.openxmlformats.org/officeDocument/2006/relationships" id="258" r:id="R2c1435b4f311464e"/>
    <p:sldId xmlns:r="http://schemas.openxmlformats.org/officeDocument/2006/relationships" id="259" r:id="R4e0e444f52b74741"/>
    <p:sldId xmlns:r="http://schemas.openxmlformats.org/officeDocument/2006/relationships" id="260" r:id="Ra710f68000944218"/>
    <p:sldId xmlns:r="http://schemas.openxmlformats.org/officeDocument/2006/relationships" id="261" r:id="Rccd65a1d92264030"/>
    <p:sldId xmlns:r="http://schemas.openxmlformats.org/officeDocument/2006/relationships" id="262" r:id="R40e62a2e3c6d4c23"/>
    <p:sldId xmlns:r="http://schemas.openxmlformats.org/officeDocument/2006/relationships" id="263" r:id="R73480050ebac466f"/>
    <p:sldId xmlns:r="http://schemas.openxmlformats.org/officeDocument/2006/relationships" id="264" r:id="R9eef65151b7c4b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41316262e54b8e" /><Relationship Type="http://schemas.openxmlformats.org/officeDocument/2006/relationships/slideMaster" Target="/ppt/slideMasters/slideMaster1.xml" Id="Rf055c390d1f5450e" /><Relationship Type="http://schemas.openxmlformats.org/officeDocument/2006/relationships/notesMaster" Target="/ppt/notesMasters/notesMaster1.xml" Id="R64547e0f0c394968" /><Relationship Type="http://schemas.openxmlformats.org/officeDocument/2006/relationships/presProps" Target="/ppt/presProps.xml" Id="Reb59155f708a4dd8" /><Relationship Type="http://schemas.openxmlformats.org/officeDocument/2006/relationships/tableStyles" Target="/ppt/tableStyles.xml" Id="Ra406b07cd6574782" /><Relationship Type="http://schemas.openxmlformats.org/officeDocument/2006/relationships/slide" Target="/ppt/slides/slide1.xml" Id="Rb88dccf26f3c4aa8" /><Relationship Type="http://schemas.openxmlformats.org/officeDocument/2006/relationships/slide" Target="/ppt/slides/slide2.xml" Id="Rd17f2c438abf4b47" /><Relationship Type="http://schemas.openxmlformats.org/officeDocument/2006/relationships/slide" Target="/ppt/slides/slide3.xml" Id="R2c1435b4f311464e" /><Relationship Type="http://schemas.openxmlformats.org/officeDocument/2006/relationships/slide" Target="/ppt/slides/slide4.xml" Id="R4e0e444f52b74741" /><Relationship Type="http://schemas.openxmlformats.org/officeDocument/2006/relationships/slide" Target="/ppt/slides/slide5.xml" Id="Ra710f68000944218" /><Relationship Type="http://schemas.openxmlformats.org/officeDocument/2006/relationships/slide" Target="/ppt/slides/slide6.xml" Id="Rccd65a1d92264030" /><Relationship Type="http://schemas.openxmlformats.org/officeDocument/2006/relationships/slide" Target="/ppt/slides/slide7.xml" Id="R40e62a2e3c6d4c23" /><Relationship Type="http://schemas.openxmlformats.org/officeDocument/2006/relationships/slide" Target="/ppt/slides/slide8.xml" Id="R73480050ebac466f" /><Relationship Type="http://schemas.openxmlformats.org/officeDocument/2006/relationships/slide" Target="/ppt/slides/slide9.xml" Id="R9eef65151b7c4b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241877cf644a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08a7c88d6943ab" /><Relationship Type="http://schemas.openxmlformats.org/officeDocument/2006/relationships/notesMaster" Target="/ppt/notesMasters/notesMaster1.xml" Id="Ree228e0911e546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338d157cd54eb5" /><Relationship Type="http://schemas.openxmlformats.org/officeDocument/2006/relationships/notesMaster" Target="/ppt/notesMasters/notesMaster1.xml" Id="Rf1d10aaa22a840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d2712ccb88470d" /><Relationship Type="http://schemas.openxmlformats.org/officeDocument/2006/relationships/notesMaster" Target="/ppt/notesMasters/notesMaster1.xml" Id="R9f82f7172c2e43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4b44603fe5432f" /><Relationship Type="http://schemas.openxmlformats.org/officeDocument/2006/relationships/notesMaster" Target="/ppt/notesMasters/notesMaster1.xml" Id="Rf1b5015244d942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e1aaeade334b53" /><Relationship Type="http://schemas.openxmlformats.org/officeDocument/2006/relationships/notesMaster" Target="/ppt/notesMasters/notesMaster1.xml" Id="R80f8de37a47c48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e86e8ea2154af1" /><Relationship Type="http://schemas.openxmlformats.org/officeDocument/2006/relationships/notesMaster" Target="/ppt/notesMasters/notesMaster1.xml" Id="R77e5b26520494e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709be479ab4a1f" /><Relationship Type="http://schemas.openxmlformats.org/officeDocument/2006/relationships/notesMaster" Target="/ppt/notesMasters/notesMaster1.xml" Id="R954397bb657840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d74d64d1f046c6" /><Relationship Type="http://schemas.openxmlformats.org/officeDocument/2006/relationships/notesMaster" Target="/ppt/notesMasters/notesMaster1.xml" Id="R4facffbe87074b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e7dcaeae1347d7" /><Relationship Type="http://schemas.openxmlformats.org/officeDocument/2006/relationships/notesMaster" Target="/ppt/notesMasters/notesMaster1.xml" Id="R66b6072f61eb4c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update focuses on the four Route 2 carrier and target combinations. Each sequence starts from the same Strategy F Run 21 save and carries the damage state forward through FR76 Runs 22–25.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Wave A is common to all four methods and targets scale × Sd(T1), where T1 is about 0.1119 s. Methods 1 and 2 use fixed target points at T1 and Teff, with Teff about 0.2414 s. Methods 3 and 4 use the precomputed capacity-proxy target d* and T* for each intensity. Method 1 carries Wave B at Teff; Method 2 uses the FR76 predominant period Tp = 0.260 s; Method 3 carries Wave B at T*; Method 4 uses Tp. The adaptive schedule is precomputed and independent of the preceding 3DEC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Metrics use the three experimental comparisons available for US-1 Test 9, Runs 22–24. Method 2 has the lowest mean absolute percentage error in peak relative OOP displacement at 17.1%. Method 1 has the lowest mean absolute percentage error in peak base shear at 9.3%. Run 25 is shown for the model sequence only because no US-1 Test 9 experiment exists for that run. The four methods used the common Strategy F Run 21 starting state. All 16 signal fits report fit_converged=False at the 2% tolerance, so the method ranking is preliminary.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1 uses the per-method plot generated from the project copy of Claude outputs/baseshear_exp_from_model.py. The script sums tributary masses at sensors 15–17 using ρ = 1,619 kg/m³ and applies MASS_SCALE = 2.317348 to both the model and experimental sides. The source figure also retains US-2 Test 12 and the support reaction traces. The reported mean base-shear peak error is the mean absolute percentage error over the three available US-1 Test 9 comparisons, Runs 22–24.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2 uses the per-method plot generated from the project copy of Claude outputs/baseshear_exp_from_model.py. The script sums tributary masses at sensors 15–17 using ρ = 1,619 kg/m³ and applies MASS_SCALE = 2.317348 to both the model and experimental sides. The source figure also retains US-2 Test 12 and the support reaction traces. The reported mean base-shear peak error is the mean absolute percentage error over the three available US-1 Test 9 comparisons, Runs 22–24.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3 uses the per-method plot generated from the project copy of Claude outputs/baseshear_exp_from_model.py. The script sums tributary masses at sensors 15–17 using ρ = 1,619 kg/m³ and applies MASS_SCALE = 2.317348 to both the model and experimental sides. The source figure also retains US-2 Test 12 and the support reaction traces. The reported mean base-shear peak error is the mean absolute percentage error over the three available US-1 Test 9 comparisons, Runs 22–24.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4 uses the per-method plot generated from the project copy of Claude outputs/baseshear_exp_from_model.py. The script sums tributary masses at sensors 15–17 using ρ = 1,619 kg/m³ and applies MASS_SCALE = 2.317348 to both the model and experimental sides. The source figure also retains US-2 Test 12 and the support reaction traces. The reported mean base-shear peak error is the mean absolute percentage error over the three available US-1 Test 9 comparisons, Runs 22–24.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Experimental points are read from Claude outputs/exp_Test9_incl_tilt.csv, column resid_tilt_y_deg: Run 21 = 2.756°, Run 22 = 2.529°, Run 23 = 2.3965°, and Run 24 = 6.035°. Run 24 is +3.279° relative to Run 21. The within-shaking inclinometers clip near ±25.75°; this figure therefore uses settled residuals. No matched model instrument-point tilt series is presented. The current local chord-angle proxy is deliberately excluded from this experimental comparison.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mean error metrics compare Methods 1–4 against US-1 Test 9 for Runs 22–24. Method 2 gives the lowest mean absolute OOP displacement error at 17.1%; Method 1 gives the lowest mean absolute base-shear peak error at 9.3%. These four runs do not identify one overall winner. All spectral calibration fits missed the 2% convergence tolerance, so first improve the joint two-wave fit. Then generate a model tilt measure at the actual inclinometer location and compare settled residuals before selecting a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2c4c95b7dc43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a7730a9bb14dc6" /><Relationship Type="http://schemas.openxmlformats.org/officeDocument/2006/relationships/slideLayout" Target="/ppt/slideLayouts/slideLayout1.xml" Id="Ra83deb07734340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3deb07734340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6e7beb59c4227" /><Relationship Type="http://schemas.openxmlformats.org/officeDocument/2006/relationships/notesSlide" Target="/ppt/notesSlides/notesSlide1.xml" Id="R5049ee644b164d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59d4fbe6d493d" /><Relationship Type="http://schemas.openxmlformats.org/officeDocument/2006/relationships/notesSlide" Target="/ppt/notesSlides/notesSlide2.xml" Id="R04bbbeb16af94b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3ce5798994153" /><Relationship Type="http://schemas.openxmlformats.org/officeDocument/2006/relationships/image" Target="/ppt/media/image.png" Id="R5be7d24be97b43a0" /><Relationship Type="http://schemas.openxmlformats.org/officeDocument/2006/relationships/notesSlide" Target="/ppt/notesSlides/notesSlide3.xml" Id="R8217391a650942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b3b42d7904f93" /><Relationship Type="http://schemas.openxmlformats.org/officeDocument/2006/relationships/image" Target="/ppt/media/image2.png" Id="R82d346e6d8c84c9d" /><Relationship Type="http://schemas.openxmlformats.org/officeDocument/2006/relationships/notesSlide" Target="/ppt/notesSlides/notesSlide4.xml" Id="R692114ff39094f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7516df7bc4dc2" /><Relationship Type="http://schemas.openxmlformats.org/officeDocument/2006/relationships/image" Target="/ppt/media/image3.png" Id="R53ebff937d1d40d4" /><Relationship Type="http://schemas.openxmlformats.org/officeDocument/2006/relationships/notesSlide" Target="/ppt/notesSlides/notesSlide5.xml" Id="R28b6405533dc48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e9a1e8cc64f48" /><Relationship Type="http://schemas.openxmlformats.org/officeDocument/2006/relationships/image" Target="/ppt/media/image4.png" Id="Rd11ac2091af742f3" /><Relationship Type="http://schemas.openxmlformats.org/officeDocument/2006/relationships/notesSlide" Target="/ppt/notesSlides/notesSlide6.xml" Id="R5f781b42a9de42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308f007b846fb" /><Relationship Type="http://schemas.openxmlformats.org/officeDocument/2006/relationships/image" Target="/ppt/media/image5.png" Id="R65c323544b4f42f0" /><Relationship Type="http://schemas.openxmlformats.org/officeDocument/2006/relationships/notesSlide" Target="/ppt/notesSlides/notesSlide7.xml" Id="R0f2602b6317c41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c1b0cd8fb4a51" /><Relationship Type="http://schemas.openxmlformats.org/officeDocument/2006/relationships/chart" Target="/ppt/slides/charts/chart1.xml" Id="R50510147054b438b" /><Relationship Type="http://schemas.openxmlformats.org/officeDocument/2006/relationships/notesSlide" Target="/ppt/notesSlides/notesSlide8.xml" Id="Rbce29602ae0c4e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9211ae27547ef" /><Relationship Type="http://schemas.openxmlformats.org/officeDocument/2006/relationships/notesSlide" Target="/ppt/notesSlides/notesSlide9.xml" Id="Ra40eea7b435a48bd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US-1 Test 9</c:v>
          </c:tx>
          <c:spPr>
            <a:ln xmlns:a="http://schemas.openxmlformats.org/drawingml/2006/main" w="28575">
              <a:solidFill>
                <a:srgbClr val="B7684B"/>
              </a:solidFill>
              <a:prstDash val="solid"/>
            </a:ln>
          </c:spPr>
          <c:marker>
            <c:symbol val="diamond"/>
            <c:size val="8"/>
            <c:spPr>
              <a:solidFill xmlns:a="http://schemas.openxmlformats.org/drawingml/2006/main">
                <a:srgbClr val="B7684B"/>
              </a:solidFill>
            </c:spPr>
          </c:marker>
          <c:cat>
            <c:numLit>
              <c:formatCode>General</c:formatCode>
              <c:ptCount val="4"/>
              <c:pt idx="0">
                <c:v>21</c:v>
              </c:pt>
              <c:pt idx="1">
                <c:v>22</c:v>
              </c:pt>
              <c:pt idx="2">
                <c:v>23</c:v>
              </c:pt>
              <c:pt idx="3">
                <c:v>24</c:v>
              </c:pt>
            </c:numLit>
          </c:cat>
          <c:val>
            <c:numLit>
              <c:formatCode>0.00</c:formatCode>
              <c:ptCount val="4"/>
              <c:pt idx="0">
                <c:v>2.756</c:v>
              </c:pt>
              <c:pt idx="1">
                <c:v>2.529</c:v>
              </c:pt>
              <c:pt idx="2">
                <c:v>2.3965</c:v>
              </c:pt>
              <c:pt idx="3">
                <c:v>6.035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FR76 sequence run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Settled residual tilt Y (degrees)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C29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0F41A2E-139C-4883-9CCD-DD5B37E3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85925"/>
            <a:ext cx="9810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Adaptive sinusoidal spectral matching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for out-of-plane masonry walls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D64EA9B-1E2D-40E4-884B-32B4D0EB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D7D2CE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D7D2CE"/>
                </a:solidFill>
                <a:latin typeface="Calibri"/>
                <a:ea typeface="Calibri"/>
                <a:cs typeface="Calibri"/>
              </a:rPr>
              <a:t>Four Route 2 methods tested from the common Strategy F Run 21 state</a:t>
            </a:r>
          </a:p>
        </p:txBody>
      </p:sp>
      <p:sp>
        <p:nvSpPr>
          <p:cNvPr id="3" name="cover-meta">
            <a:extLst xmlns:a="http://schemas.openxmlformats.org/drawingml/2006/main">
              <a:ext uri="{FF2B5EF4-FFF2-40B4-BE49-F238E27FC236}">
                <a16:creationId xmlns:a16="http://schemas.microsoft.com/office/drawing/2014/main" id="{E67E7BC9-2964-4093-9995-8169E6FE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4BFBB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C4BFBB"/>
                </a:solidFill>
                <a:latin typeface="Calibri"/>
                <a:ea typeface="Calibri"/>
                <a:cs typeface="Calibri"/>
              </a:rPr>
              <a:t>Progress meeting, Hanze SAFEGo US-1, 5 October 2026</a:t>
            </a:r>
          </a:p>
        </p:txBody>
      </p:sp>
      <p:sp>
        <p:nvSpPr>
          <p:cNvPr id="4" name="cover-terracotta-circle">
            <a:extLst xmlns:a="http://schemas.openxmlformats.org/drawingml/2006/main">
              <a:ext uri="{FF2B5EF4-FFF2-40B4-BE49-F238E27FC236}">
                <a16:creationId xmlns:a16="http://schemas.microsoft.com/office/drawing/2014/main" id="{96AACE38-444A-4EED-8AF8-BC9626E2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324350"/>
            <a:ext cx="1952625" cy="1952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245734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lide-number-circle-1">
            <a:extLst xmlns:a="http://schemas.openxmlformats.org/drawingml/2006/main">
              <a:ext uri="{FF2B5EF4-FFF2-40B4-BE49-F238E27FC236}">
                <a16:creationId xmlns:a16="http://schemas.microsoft.com/office/drawing/2014/main" id="{24F60768-A0EE-48FB-917D-3A11780E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">
            <a:extLst xmlns:a="http://schemas.openxmlformats.org/drawingml/2006/main">
              <a:ext uri="{FF2B5EF4-FFF2-40B4-BE49-F238E27FC236}">
                <a16:creationId xmlns:a16="http://schemas.microsoft.com/office/drawing/2014/main" id="{633571AB-7431-4110-9054-459F0798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3" name="slide-title-1">
            <a:extLst xmlns:a="http://schemas.openxmlformats.org/drawingml/2006/main">
              <a:ext uri="{FF2B5EF4-FFF2-40B4-BE49-F238E27FC236}">
                <a16:creationId xmlns:a16="http://schemas.microsoft.com/office/drawing/2014/main" id="{E477B68B-6F2D-4FDE-86E5-19D2CAFB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Four Route 2 methods</a:t>
            </a:r>
          </a:p>
        </p:txBody>
      </p:sp>
      <p:sp>
        <p:nvSpPr>
          <p:cNvPr id="4" name="slide-subtitle-1">
            <a:extLst xmlns:a="http://schemas.openxmlformats.org/drawingml/2006/main">
              <a:ext uri="{FF2B5EF4-FFF2-40B4-BE49-F238E27FC236}">
                <a16:creationId xmlns:a16="http://schemas.microsoft.com/office/drawing/2014/main" id="{FF62E6FA-FFDB-481B-B478-562A4A9B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Two target rules crossed with two Wave B carrier periods</a:t>
            </a:r>
          </a:p>
        </p:txBody>
      </p:sp>
      <p:sp>
        <p:nvSpPr>
          <p:cNvPr id="5" name="method-1-surface">
            <a:extLst xmlns:a="http://schemas.openxmlformats.org/drawingml/2006/main">
              <a:ext uri="{FF2B5EF4-FFF2-40B4-BE49-F238E27FC236}">
                <a16:creationId xmlns:a16="http://schemas.microsoft.com/office/drawing/2014/main" id="{8FA680E1-7863-4357-A228-06CEA2AD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049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hod-1-accent">
            <a:extLst xmlns:a="http://schemas.openxmlformats.org/drawingml/2006/main">
              <a:ext uri="{FF2B5EF4-FFF2-40B4-BE49-F238E27FC236}">
                <a16:creationId xmlns:a16="http://schemas.microsoft.com/office/drawing/2014/main" id="{8112648F-3925-4514-9ABC-98B0BA42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049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hod-1-title">
            <a:extLst xmlns:a="http://schemas.openxmlformats.org/drawingml/2006/main">
              <a:ext uri="{FF2B5EF4-FFF2-40B4-BE49-F238E27FC236}">
                <a16:creationId xmlns:a16="http://schemas.microsoft.com/office/drawing/2014/main" id="{CEC0D1E9-AB3E-4DEA-AE0D-0A97838C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192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Method 1</a:t>
            </a:r>
          </a:p>
        </p:txBody>
      </p:sp>
      <p:sp>
        <p:nvSpPr>
          <p:cNvPr id="8" name="method-1-target">
            <a:extLst xmlns:a="http://schemas.openxmlformats.org/drawingml/2006/main">
              <a:ext uri="{FF2B5EF4-FFF2-40B4-BE49-F238E27FC236}">
                <a16:creationId xmlns:a16="http://schemas.microsoft.com/office/drawing/2014/main" id="{C254924A-DB7A-420E-AAC4-9183DAF3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4287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scale × Sd(Teff)</a:t>
            </a:r>
          </a:p>
        </p:txBody>
      </p:sp>
      <p:sp>
        <p:nvSpPr>
          <p:cNvPr id="9" name="method-1-carrier">
            <a:extLst xmlns:a="http://schemas.openxmlformats.org/drawingml/2006/main">
              <a:ext uri="{FF2B5EF4-FFF2-40B4-BE49-F238E27FC236}">
                <a16:creationId xmlns:a16="http://schemas.microsoft.com/office/drawing/2014/main" id="{413B584F-8FA2-486C-8F2E-824C0737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7240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Teff = 0.241 s</a:t>
            </a:r>
          </a:p>
        </p:txBody>
      </p:sp>
      <p:sp>
        <p:nvSpPr>
          <p:cNvPr id="10" name="method-1-axis-a">
            <a:extLst xmlns:a="http://schemas.openxmlformats.org/drawingml/2006/main">
              <a:ext uri="{FF2B5EF4-FFF2-40B4-BE49-F238E27FC236}">
                <a16:creationId xmlns:a16="http://schemas.microsoft.com/office/drawing/2014/main" id="{D55CD12B-BAE7-4DFD-9C16-EEB5AFF0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11" name="method-1-axis-b">
            <a:extLst xmlns:a="http://schemas.openxmlformats.org/drawingml/2006/main">
              <a:ext uri="{FF2B5EF4-FFF2-40B4-BE49-F238E27FC236}">
                <a16:creationId xmlns:a16="http://schemas.microsoft.com/office/drawing/2014/main" id="{4EC96A15-A5BE-48E1-A759-2E328CDF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12" name="method-1-wave-a">
            <a:extLst xmlns:a="http://schemas.openxmlformats.org/drawingml/2006/main">
              <a:ext uri="{FF2B5EF4-FFF2-40B4-BE49-F238E27FC236}">
                <a16:creationId xmlns:a16="http://schemas.microsoft.com/office/drawing/2014/main" id="{CDF7730A-3567-4189-A196-E7494BCD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13" name="method-1-wave-b">
            <a:extLst xmlns:a="http://schemas.openxmlformats.org/drawingml/2006/main">
              <a:ext uri="{FF2B5EF4-FFF2-40B4-BE49-F238E27FC236}">
                <a16:creationId xmlns:a16="http://schemas.microsoft.com/office/drawing/2014/main" id="{D3F70BC5-7A19-433C-B4CA-FF855AFD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44022"/>
                </a:lnTo>
                <a:lnTo>
                  <a:pt x="60325" y="126499"/>
                </a:lnTo>
                <a:lnTo>
                  <a:pt x="90488" y="109731"/>
                </a:lnTo>
                <a:lnTo>
                  <a:pt x="120650" y="94073"/>
                </a:lnTo>
                <a:lnTo>
                  <a:pt x="150813" y="79858"/>
                </a:lnTo>
                <a:lnTo>
                  <a:pt x="180975" y="67390"/>
                </a:lnTo>
                <a:lnTo>
                  <a:pt x="211138" y="56934"/>
                </a:lnTo>
                <a:lnTo>
                  <a:pt x="241300" y="48711"/>
                </a:lnTo>
                <a:lnTo>
                  <a:pt x="271463" y="42898"/>
                </a:lnTo>
                <a:lnTo>
                  <a:pt x="301625" y="39617"/>
                </a:lnTo>
                <a:lnTo>
                  <a:pt x="331788" y="38938"/>
                </a:lnTo>
                <a:lnTo>
                  <a:pt x="361950" y="40877"/>
                </a:lnTo>
                <a:lnTo>
                  <a:pt x="392113" y="45391"/>
                </a:lnTo>
                <a:lnTo>
                  <a:pt x="422275" y="52385"/>
                </a:lnTo>
                <a:lnTo>
                  <a:pt x="452438" y="61709"/>
                </a:lnTo>
                <a:lnTo>
                  <a:pt x="482600" y="73166"/>
                </a:lnTo>
                <a:lnTo>
                  <a:pt x="512763" y="86511"/>
                </a:lnTo>
                <a:lnTo>
                  <a:pt x="542925" y="101462"/>
                </a:lnTo>
                <a:lnTo>
                  <a:pt x="573088" y="117698"/>
                </a:lnTo>
                <a:lnTo>
                  <a:pt x="603250" y="134876"/>
                </a:lnTo>
                <a:lnTo>
                  <a:pt x="633413" y="152629"/>
                </a:lnTo>
                <a:lnTo>
                  <a:pt x="663575" y="170581"/>
                </a:lnTo>
                <a:lnTo>
                  <a:pt x="693738" y="188347"/>
                </a:lnTo>
                <a:lnTo>
                  <a:pt x="723900" y="205552"/>
                </a:lnTo>
                <a:lnTo>
                  <a:pt x="754063" y="221829"/>
                </a:lnTo>
                <a:lnTo>
                  <a:pt x="784225" y="236830"/>
                </a:lnTo>
                <a:lnTo>
                  <a:pt x="814388" y="250238"/>
                </a:lnTo>
                <a:lnTo>
                  <a:pt x="844550" y="261767"/>
                </a:lnTo>
                <a:lnTo>
                  <a:pt x="874713" y="271172"/>
                </a:lnTo>
                <a:lnTo>
                  <a:pt x="904875" y="278251"/>
                </a:lnTo>
                <a:lnTo>
                  <a:pt x="935038" y="282856"/>
                </a:lnTo>
                <a:lnTo>
                  <a:pt x="965200" y="284888"/>
                </a:lnTo>
                <a:lnTo>
                  <a:pt x="995363" y="284303"/>
                </a:lnTo>
                <a:lnTo>
                  <a:pt x="1025525" y="281114"/>
                </a:lnTo>
                <a:lnTo>
                  <a:pt x="1055688" y="275389"/>
                </a:lnTo>
                <a:lnTo>
                  <a:pt x="1085850" y="267250"/>
                </a:lnTo>
                <a:lnTo>
                  <a:pt x="1116013" y="256869"/>
                </a:lnTo>
                <a:lnTo>
                  <a:pt x="1146175" y="244469"/>
                </a:lnTo>
                <a:lnTo>
                  <a:pt x="1176338" y="230312"/>
                </a:lnTo>
                <a:lnTo>
                  <a:pt x="1206500" y="214700"/>
                </a:lnTo>
                <a:lnTo>
                  <a:pt x="1236663" y="197965"/>
                </a:lnTo>
                <a:lnTo>
                  <a:pt x="1266825" y="180463"/>
                </a:lnTo>
                <a:lnTo>
                  <a:pt x="1296988" y="162567"/>
                </a:lnTo>
                <a:lnTo>
                  <a:pt x="1327150" y="144657"/>
                </a:lnTo>
                <a:lnTo>
                  <a:pt x="1357313" y="127114"/>
                </a:lnTo>
                <a:lnTo>
                  <a:pt x="1387475" y="110312"/>
                </a:lnTo>
                <a:lnTo>
                  <a:pt x="1417638" y="94609"/>
                </a:lnTo>
                <a:lnTo>
                  <a:pt x="1447800" y="80338"/>
                </a:lnTo>
                <a:lnTo>
                  <a:pt x="1477963" y="67802"/>
                </a:lnTo>
                <a:lnTo>
                  <a:pt x="1508125" y="57270"/>
                </a:lnTo>
                <a:lnTo>
                  <a:pt x="1538288" y="48964"/>
                </a:lnTo>
                <a:lnTo>
                  <a:pt x="1568450" y="43062"/>
                </a:lnTo>
                <a:lnTo>
                  <a:pt x="1598613" y="39689"/>
                </a:lnTo>
                <a:lnTo>
                  <a:pt x="1628775" y="38917"/>
                </a:lnTo>
                <a:lnTo>
                  <a:pt x="1658938" y="40763"/>
                </a:lnTo>
                <a:lnTo>
                  <a:pt x="1689100" y="45186"/>
                </a:lnTo>
                <a:lnTo>
                  <a:pt x="1719263" y="52094"/>
                </a:lnTo>
                <a:lnTo>
                  <a:pt x="1749425" y="61338"/>
                </a:lnTo>
                <a:lnTo>
                  <a:pt x="1779588" y="72723"/>
                </a:lnTo>
                <a:lnTo>
                  <a:pt x="1809750" y="8600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276B8E"/>
            </a:solidFill>
            <a:prstDash val="solid"/>
          </a:ln>
        </p:spPr>
      </p:sp>
      <p:sp>
        <p:nvSpPr>
          <p:cNvPr id="14" name="method-1-wave-a-label">
            <a:extLst xmlns:a="http://schemas.openxmlformats.org/drawingml/2006/main">
              <a:ext uri="{FF2B5EF4-FFF2-40B4-BE49-F238E27FC236}">
                <a16:creationId xmlns:a16="http://schemas.microsoft.com/office/drawing/2014/main" id="{338766B7-F65D-4F07-A30C-3357C190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98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15" name="method-1-wave-b-label">
            <a:extLst xmlns:a="http://schemas.openxmlformats.org/drawingml/2006/main">
              <a:ext uri="{FF2B5EF4-FFF2-40B4-BE49-F238E27FC236}">
                <a16:creationId xmlns:a16="http://schemas.microsoft.com/office/drawing/2014/main" id="{111A4E63-D803-4CBC-8DE6-85192714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098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16" name="method-2-surface">
            <a:extLst xmlns:a="http://schemas.openxmlformats.org/drawingml/2006/main">
              <a:ext uri="{FF2B5EF4-FFF2-40B4-BE49-F238E27FC236}">
                <a16:creationId xmlns:a16="http://schemas.microsoft.com/office/drawing/2014/main" id="{2A3F745B-EBCC-4B91-BABF-89053BDD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049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ethod-2-accent">
            <a:extLst xmlns:a="http://schemas.openxmlformats.org/drawingml/2006/main">
              <a:ext uri="{FF2B5EF4-FFF2-40B4-BE49-F238E27FC236}">
                <a16:creationId xmlns:a16="http://schemas.microsoft.com/office/drawing/2014/main" id="{794AA154-FB62-4AD4-B2C1-C40DEB4D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049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thod-2-title">
            <a:extLst xmlns:a="http://schemas.openxmlformats.org/drawingml/2006/main">
              <a:ext uri="{FF2B5EF4-FFF2-40B4-BE49-F238E27FC236}">
                <a16:creationId xmlns:a16="http://schemas.microsoft.com/office/drawing/2014/main" id="{EF42A987-F18E-4308-BCE1-D9E5ADED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192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Method 2</a:t>
            </a:r>
          </a:p>
        </p:txBody>
      </p:sp>
      <p:sp>
        <p:nvSpPr>
          <p:cNvPr id="19" name="method-2-target">
            <a:extLst xmlns:a="http://schemas.openxmlformats.org/drawingml/2006/main">
              <a:ext uri="{FF2B5EF4-FFF2-40B4-BE49-F238E27FC236}">
                <a16:creationId xmlns:a16="http://schemas.microsoft.com/office/drawing/2014/main" id="{13B37073-F463-4306-B836-DF9B693D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287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scale × Sd(Teff)</a:t>
            </a:r>
          </a:p>
        </p:txBody>
      </p:sp>
      <p:sp>
        <p:nvSpPr>
          <p:cNvPr id="20" name="method-2-carrier">
            <a:extLst xmlns:a="http://schemas.openxmlformats.org/drawingml/2006/main">
              <a:ext uri="{FF2B5EF4-FFF2-40B4-BE49-F238E27FC236}">
                <a16:creationId xmlns:a16="http://schemas.microsoft.com/office/drawing/2014/main" id="{06F061D1-6233-486E-B3EE-BD13AF5E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240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record Tp = 0.260 s</a:t>
            </a:r>
          </a:p>
        </p:txBody>
      </p:sp>
      <p:sp>
        <p:nvSpPr>
          <p:cNvPr id="21" name="method-2-axis-a">
            <a:extLst xmlns:a="http://schemas.openxmlformats.org/drawingml/2006/main">
              <a:ext uri="{FF2B5EF4-FFF2-40B4-BE49-F238E27FC236}">
                <a16:creationId xmlns:a16="http://schemas.microsoft.com/office/drawing/2014/main" id="{103458CF-6FBC-46FB-BFA7-B6EF4682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22" name="method-2-axis-b">
            <a:extLst xmlns:a="http://schemas.openxmlformats.org/drawingml/2006/main">
              <a:ext uri="{FF2B5EF4-FFF2-40B4-BE49-F238E27FC236}">
                <a16:creationId xmlns:a16="http://schemas.microsoft.com/office/drawing/2014/main" id="{2FBA7DB3-E361-4848-BEA0-E9D14EA8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23" name="method-2-wave-a">
            <a:extLst xmlns:a="http://schemas.openxmlformats.org/drawingml/2006/main">
              <a:ext uri="{FF2B5EF4-FFF2-40B4-BE49-F238E27FC236}">
                <a16:creationId xmlns:a16="http://schemas.microsoft.com/office/drawing/2014/main" id="{FAC96599-6650-4574-AB73-19F13E9F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24" name="method-2-wave-b">
            <a:extLst xmlns:a="http://schemas.openxmlformats.org/drawingml/2006/main">
              <a:ext uri="{FF2B5EF4-FFF2-40B4-BE49-F238E27FC236}">
                <a16:creationId xmlns:a16="http://schemas.microsoft.com/office/drawing/2014/main" id="{18E4E9F4-05F3-49CE-87EA-CC09482B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45322"/>
                </a:lnTo>
                <a:lnTo>
                  <a:pt x="60325" y="129022"/>
                </a:lnTo>
                <a:lnTo>
                  <a:pt x="90488" y="113324"/>
                </a:lnTo>
                <a:lnTo>
                  <a:pt x="120650" y="98515"/>
                </a:lnTo>
                <a:lnTo>
                  <a:pt x="150813" y="84865"/>
                </a:lnTo>
                <a:lnTo>
                  <a:pt x="180975" y="72624"/>
                </a:lnTo>
                <a:lnTo>
                  <a:pt x="211138" y="62016"/>
                </a:lnTo>
                <a:lnTo>
                  <a:pt x="241300" y="53236"/>
                </a:lnTo>
                <a:lnTo>
                  <a:pt x="271463" y="46443"/>
                </a:lnTo>
                <a:lnTo>
                  <a:pt x="301625" y="41761"/>
                </a:lnTo>
                <a:lnTo>
                  <a:pt x="331788" y="39277"/>
                </a:lnTo>
                <a:lnTo>
                  <a:pt x="361950" y="39036"/>
                </a:lnTo>
                <a:lnTo>
                  <a:pt x="392113" y="41042"/>
                </a:lnTo>
                <a:lnTo>
                  <a:pt x="422275" y="45258"/>
                </a:lnTo>
                <a:lnTo>
                  <a:pt x="452438" y="51608"/>
                </a:lnTo>
                <a:lnTo>
                  <a:pt x="482600" y="59975"/>
                </a:lnTo>
                <a:lnTo>
                  <a:pt x="512763" y="70207"/>
                </a:lnTo>
                <a:lnTo>
                  <a:pt x="542925" y="82115"/>
                </a:lnTo>
                <a:lnTo>
                  <a:pt x="573088" y="95483"/>
                </a:lnTo>
                <a:lnTo>
                  <a:pt x="603250" y="110066"/>
                </a:lnTo>
                <a:lnTo>
                  <a:pt x="633413" y="125597"/>
                </a:lnTo>
                <a:lnTo>
                  <a:pt x="663575" y="141793"/>
                </a:lnTo>
                <a:lnTo>
                  <a:pt x="693738" y="158357"/>
                </a:lnTo>
                <a:lnTo>
                  <a:pt x="723900" y="174986"/>
                </a:lnTo>
                <a:lnTo>
                  <a:pt x="754063" y="191376"/>
                </a:lnTo>
                <a:lnTo>
                  <a:pt x="784225" y="207228"/>
                </a:lnTo>
                <a:lnTo>
                  <a:pt x="814388" y="222251"/>
                </a:lnTo>
                <a:lnTo>
                  <a:pt x="844550" y="236171"/>
                </a:lnTo>
                <a:lnTo>
                  <a:pt x="874713" y="248733"/>
                </a:lnTo>
                <a:lnTo>
                  <a:pt x="904875" y="259708"/>
                </a:lnTo>
                <a:lnTo>
                  <a:pt x="935038" y="268895"/>
                </a:lnTo>
                <a:lnTo>
                  <a:pt x="965200" y="276126"/>
                </a:lnTo>
                <a:lnTo>
                  <a:pt x="995363" y="281268"/>
                </a:lnTo>
                <a:lnTo>
                  <a:pt x="1025525" y="284228"/>
                </a:lnTo>
                <a:lnTo>
                  <a:pt x="1055688" y="284952"/>
                </a:lnTo>
                <a:lnTo>
                  <a:pt x="1085850" y="283426"/>
                </a:lnTo>
                <a:lnTo>
                  <a:pt x="1116013" y="279678"/>
                </a:lnTo>
                <a:lnTo>
                  <a:pt x="1146175" y="273777"/>
                </a:lnTo>
                <a:lnTo>
                  <a:pt x="1176338" y="265831"/>
                </a:lnTo>
                <a:lnTo>
                  <a:pt x="1206500" y="255984"/>
                </a:lnTo>
                <a:lnTo>
                  <a:pt x="1236663" y="244417"/>
                </a:lnTo>
                <a:lnTo>
                  <a:pt x="1266825" y="231342"/>
                </a:lnTo>
                <a:lnTo>
                  <a:pt x="1296988" y="216998"/>
                </a:lnTo>
                <a:lnTo>
                  <a:pt x="1327150" y="201647"/>
                </a:lnTo>
                <a:lnTo>
                  <a:pt x="1357313" y="185569"/>
                </a:lnTo>
                <a:lnTo>
                  <a:pt x="1387475" y="169058"/>
                </a:lnTo>
                <a:lnTo>
                  <a:pt x="1417638" y="152418"/>
                </a:lnTo>
                <a:lnTo>
                  <a:pt x="1447800" y="135951"/>
                </a:lnTo>
                <a:lnTo>
                  <a:pt x="1477963" y="119959"/>
                </a:lnTo>
                <a:lnTo>
                  <a:pt x="1508125" y="104735"/>
                </a:lnTo>
                <a:lnTo>
                  <a:pt x="1538288" y="90556"/>
                </a:lnTo>
                <a:lnTo>
                  <a:pt x="1568450" y="77683"/>
                </a:lnTo>
                <a:lnTo>
                  <a:pt x="1598613" y="66350"/>
                </a:lnTo>
                <a:lnTo>
                  <a:pt x="1628775" y="56764"/>
                </a:lnTo>
                <a:lnTo>
                  <a:pt x="1658938" y="49102"/>
                </a:lnTo>
                <a:lnTo>
                  <a:pt x="1689100" y="43503"/>
                </a:lnTo>
                <a:lnTo>
                  <a:pt x="1719263" y="40069"/>
                </a:lnTo>
                <a:lnTo>
                  <a:pt x="1749425" y="38863"/>
                </a:lnTo>
                <a:lnTo>
                  <a:pt x="1779588" y="39908"/>
                </a:lnTo>
                <a:lnTo>
                  <a:pt x="1809750" y="4318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E07A2D"/>
            </a:solidFill>
            <a:prstDash val="solid"/>
          </a:ln>
        </p:spPr>
      </p:sp>
      <p:sp>
        <p:nvSpPr>
          <p:cNvPr id="25" name="method-2-wave-a-label">
            <a:extLst xmlns:a="http://schemas.openxmlformats.org/drawingml/2006/main">
              <a:ext uri="{FF2B5EF4-FFF2-40B4-BE49-F238E27FC236}">
                <a16:creationId xmlns:a16="http://schemas.microsoft.com/office/drawing/2014/main" id="{3F913A93-34E4-477F-B59C-1D9F0D2F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98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26" name="method-2-wave-b-label">
            <a:extLst xmlns:a="http://schemas.openxmlformats.org/drawingml/2006/main">
              <a:ext uri="{FF2B5EF4-FFF2-40B4-BE49-F238E27FC236}">
                <a16:creationId xmlns:a16="http://schemas.microsoft.com/office/drawing/2014/main" id="{E14A37F2-BD9A-481E-9BD9-05837916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098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27" name="method-3-surface">
            <a:extLst xmlns:a="http://schemas.openxmlformats.org/drawingml/2006/main">
              <a:ext uri="{FF2B5EF4-FFF2-40B4-BE49-F238E27FC236}">
                <a16:creationId xmlns:a16="http://schemas.microsoft.com/office/drawing/2014/main" id="{98F0CA8B-1C54-4286-9A11-3B45C36F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147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method-3-accent">
            <a:extLst xmlns:a="http://schemas.openxmlformats.org/drawingml/2006/main">
              <a:ext uri="{FF2B5EF4-FFF2-40B4-BE49-F238E27FC236}">
                <a16:creationId xmlns:a16="http://schemas.microsoft.com/office/drawing/2014/main" id="{8505CC49-3FEF-4BAF-8D2C-BBC4A6C1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147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method-3-title">
            <a:extLst xmlns:a="http://schemas.openxmlformats.org/drawingml/2006/main">
              <a:ext uri="{FF2B5EF4-FFF2-40B4-BE49-F238E27FC236}">
                <a16:creationId xmlns:a16="http://schemas.microsoft.com/office/drawing/2014/main" id="{2F986F87-64B7-4626-86B3-33379E4C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290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Method 3</a:t>
            </a:r>
          </a:p>
        </p:txBody>
      </p:sp>
      <p:sp>
        <p:nvSpPr>
          <p:cNvPr id="30" name="method-3-target">
            <a:extLst xmlns:a="http://schemas.openxmlformats.org/drawingml/2006/main">
              <a:ext uri="{FF2B5EF4-FFF2-40B4-BE49-F238E27FC236}">
                <a16:creationId xmlns:a16="http://schemas.microsoft.com/office/drawing/2014/main" id="{433647BA-80EC-41BE-9D5F-03EDAF66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385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(T*, d*) by intensity</a:t>
            </a:r>
          </a:p>
        </p:txBody>
      </p:sp>
      <p:sp>
        <p:nvSpPr>
          <p:cNvPr id="31" name="method-3-carrier">
            <a:extLst xmlns:a="http://schemas.openxmlformats.org/drawingml/2006/main">
              <a:ext uri="{FF2B5EF4-FFF2-40B4-BE49-F238E27FC236}">
                <a16:creationId xmlns:a16="http://schemas.microsoft.com/office/drawing/2014/main" id="{B28850D4-5F4E-442F-8C92-112EFFD7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338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T* = 0.134 s</a:t>
            </a:r>
          </a:p>
        </p:txBody>
      </p:sp>
      <p:sp>
        <p:nvSpPr>
          <p:cNvPr id="32" name="method-3-axis-a">
            <a:extLst xmlns:a="http://schemas.openxmlformats.org/drawingml/2006/main">
              <a:ext uri="{FF2B5EF4-FFF2-40B4-BE49-F238E27FC236}">
                <a16:creationId xmlns:a16="http://schemas.microsoft.com/office/drawing/2014/main" id="{2B2C45D7-4EE3-4F53-B3E5-7424C552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33" name="method-3-axis-b">
            <a:extLst xmlns:a="http://schemas.openxmlformats.org/drawingml/2006/main">
              <a:ext uri="{FF2B5EF4-FFF2-40B4-BE49-F238E27FC236}">
                <a16:creationId xmlns:a16="http://schemas.microsoft.com/office/drawing/2014/main" id="{72147BE4-32E3-45C2-A9D8-5034AF0E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34" name="method-3-wave-a">
            <a:extLst xmlns:a="http://schemas.openxmlformats.org/drawingml/2006/main">
              <a:ext uri="{FF2B5EF4-FFF2-40B4-BE49-F238E27FC236}">
                <a16:creationId xmlns:a16="http://schemas.microsoft.com/office/drawing/2014/main" id="{418E5D43-AB2A-419C-9BC5-08A096C6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35" name="method-3-wave-b">
            <a:extLst xmlns:a="http://schemas.openxmlformats.org/drawingml/2006/main">
              <a:ext uri="{FF2B5EF4-FFF2-40B4-BE49-F238E27FC236}">
                <a16:creationId xmlns:a16="http://schemas.microsoft.com/office/drawing/2014/main" id="{D3CFA2D7-15A9-4392-8D08-D1B19920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9981"/>
                </a:lnTo>
                <a:lnTo>
                  <a:pt x="60325" y="100227"/>
                </a:lnTo>
                <a:lnTo>
                  <a:pt x="90488" y="74703"/>
                </a:lnTo>
                <a:lnTo>
                  <a:pt x="120650" y="55157"/>
                </a:lnTo>
                <a:lnTo>
                  <a:pt x="150813" y="42932"/>
                </a:lnTo>
                <a:lnTo>
                  <a:pt x="180975" y="38863"/>
                </a:lnTo>
                <a:lnTo>
                  <a:pt x="211138" y="43231"/>
                </a:lnTo>
                <a:lnTo>
                  <a:pt x="241300" y="55736"/>
                </a:lnTo>
                <a:lnTo>
                  <a:pt x="271463" y="75521"/>
                </a:lnTo>
                <a:lnTo>
                  <a:pt x="301625" y="101228"/>
                </a:lnTo>
                <a:lnTo>
                  <a:pt x="331788" y="131097"/>
                </a:lnTo>
                <a:lnTo>
                  <a:pt x="361950" y="163079"/>
                </a:lnTo>
                <a:lnTo>
                  <a:pt x="392113" y="194982"/>
                </a:lnTo>
                <a:lnTo>
                  <a:pt x="422275" y="224619"/>
                </a:lnTo>
                <a:lnTo>
                  <a:pt x="452438" y="249958"/>
                </a:lnTo>
                <a:lnTo>
                  <a:pt x="482600" y="269262"/>
                </a:lnTo>
                <a:lnTo>
                  <a:pt x="512763" y="281207"/>
                </a:lnTo>
                <a:lnTo>
                  <a:pt x="542925" y="284976"/>
                </a:lnTo>
                <a:lnTo>
                  <a:pt x="573088" y="280309"/>
                </a:lnTo>
                <a:lnTo>
                  <a:pt x="603250" y="267526"/>
                </a:lnTo>
                <a:lnTo>
                  <a:pt x="633413" y="247504"/>
                </a:lnTo>
                <a:lnTo>
                  <a:pt x="663575" y="221615"/>
                </a:lnTo>
                <a:lnTo>
                  <a:pt x="693738" y="191634"/>
                </a:lnTo>
                <a:lnTo>
                  <a:pt x="723900" y="159617"/>
                </a:lnTo>
                <a:lnTo>
                  <a:pt x="754063" y="127758"/>
                </a:lnTo>
                <a:lnTo>
                  <a:pt x="784225" y="98241"/>
                </a:lnTo>
                <a:lnTo>
                  <a:pt x="814388" y="73090"/>
                </a:lnTo>
                <a:lnTo>
                  <a:pt x="844550" y="54029"/>
                </a:lnTo>
                <a:lnTo>
                  <a:pt x="874713" y="42364"/>
                </a:lnTo>
                <a:lnTo>
                  <a:pt x="904875" y="38896"/>
                </a:lnTo>
                <a:lnTo>
                  <a:pt x="935038" y="43862"/>
                </a:lnTo>
                <a:lnTo>
                  <a:pt x="965200" y="56921"/>
                </a:lnTo>
                <a:lnTo>
                  <a:pt x="995363" y="77179"/>
                </a:lnTo>
                <a:lnTo>
                  <a:pt x="1025525" y="103247"/>
                </a:lnTo>
                <a:lnTo>
                  <a:pt x="1055688" y="133337"/>
                </a:lnTo>
                <a:lnTo>
                  <a:pt x="1085850" y="165387"/>
                </a:lnTo>
                <a:lnTo>
                  <a:pt x="1116013" y="197199"/>
                </a:lnTo>
                <a:lnTo>
                  <a:pt x="1146175" y="226594"/>
                </a:lnTo>
                <a:lnTo>
                  <a:pt x="1176338" y="251555"/>
                </a:lnTo>
                <a:lnTo>
                  <a:pt x="1206500" y="270372"/>
                </a:lnTo>
                <a:lnTo>
                  <a:pt x="1236663" y="281754"/>
                </a:lnTo>
                <a:lnTo>
                  <a:pt x="1266825" y="284922"/>
                </a:lnTo>
                <a:lnTo>
                  <a:pt x="1296988" y="279657"/>
                </a:lnTo>
                <a:lnTo>
                  <a:pt x="1327150" y="266322"/>
                </a:lnTo>
                <a:lnTo>
                  <a:pt x="1357313" y="245830"/>
                </a:lnTo>
                <a:lnTo>
                  <a:pt x="1387475" y="219586"/>
                </a:lnTo>
                <a:lnTo>
                  <a:pt x="1417638" y="189389"/>
                </a:lnTo>
                <a:lnTo>
                  <a:pt x="1447800" y="157310"/>
                </a:lnTo>
                <a:lnTo>
                  <a:pt x="1477963" y="125547"/>
                </a:lnTo>
                <a:lnTo>
                  <a:pt x="1508125" y="96277"/>
                </a:lnTo>
                <a:lnTo>
                  <a:pt x="1538288" y="71508"/>
                </a:lnTo>
                <a:lnTo>
                  <a:pt x="1568450" y="52938"/>
                </a:lnTo>
                <a:lnTo>
                  <a:pt x="1598613" y="41838"/>
                </a:lnTo>
                <a:lnTo>
                  <a:pt x="1628775" y="38972"/>
                </a:lnTo>
                <a:lnTo>
                  <a:pt x="1658938" y="44534"/>
                </a:lnTo>
                <a:lnTo>
                  <a:pt x="1689100" y="58143"/>
                </a:lnTo>
                <a:lnTo>
                  <a:pt x="1719263" y="78868"/>
                </a:lnTo>
                <a:lnTo>
                  <a:pt x="1749425" y="105286"/>
                </a:lnTo>
                <a:lnTo>
                  <a:pt x="1779588" y="135587"/>
                </a:lnTo>
                <a:lnTo>
                  <a:pt x="1809750" y="167693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3E8C61"/>
            </a:solidFill>
            <a:prstDash val="solid"/>
          </a:ln>
        </p:spPr>
      </p:sp>
      <p:sp>
        <p:nvSpPr>
          <p:cNvPr id="36" name="method-3-wave-a-label">
            <a:extLst xmlns:a="http://schemas.openxmlformats.org/drawingml/2006/main">
              <a:ext uri="{FF2B5EF4-FFF2-40B4-BE49-F238E27FC236}">
                <a16:creationId xmlns:a16="http://schemas.microsoft.com/office/drawing/2014/main" id="{C2561C63-AD65-4DE5-9EF9-AB251C92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96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37" name="method-3-wave-b-label">
            <a:extLst xmlns:a="http://schemas.openxmlformats.org/drawingml/2006/main">
              <a:ext uri="{FF2B5EF4-FFF2-40B4-BE49-F238E27FC236}">
                <a16:creationId xmlns:a16="http://schemas.microsoft.com/office/drawing/2014/main" id="{9DC69E6A-CFBD-47C6-A22D-84ADFDD4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0196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38" name="method-4-surface">
            <a:extLst xmlns:a="http://schemas.openxmlformats.org/drawingml/2006/main">
              <a:ext uri="{FF2B5EF4-FFF2-40B4-BE49-F238E27FC236}">
                <a16:creationId xmlns:a16="http://schemas.microsoft.com/office/drawing/2014/main" id="{A8B18005-0427-4D17-8DB1-D643B844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147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method-4-accent">
            <a:extLst xmlns:a="http://schemas.openxmlformats.org/drawingml/2006/main">
              <a:ext uri="{FF2B5EF4-FFF2-40B4-BE49-F238E27FC236}">
                <a16:creationId xmlns:a16="http://schemas.microsoft.com/office/drawing/2014/main" id="{B630300B-7E75-42D2-AD13-20EAFD3C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147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method-4-title">
            <a:extLst xmlns:a="http://schemas.openxmlformats.org/drawingml/2006/main">
              <a:ext uri="{FF2B5EF4-FFF2-40B4-BE49-F238E27FC236}">
                <a16:creationId xmlns:a16="http://schemas.microsoft.com/office/drawing/2014/main" id="{677E62D6-2494-4495-B275-80BED31F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290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A14D8D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A14D8D"/>
                </a:solidFill>
                <a:latin typeface="Cambria"/>
                <a:ea typeface="Cambria"/>
                <a:cs typeface="Cambria"/>
              </a:rPr>
              <a:t>Method 4</a:t>
            </a:r>
          </a:p>
        </p:txBody>
      </p:sp>
      <p:sp>
        <p:nvSpPr>
          <p:cNvPr id="41" name="method-4-target">
            <a:extLst xmlns:a="http://schemas.openxmlformats.org/drawingml/2006/main">
              <a:ext uri="{FF2B5EF4-FFF2-40B4-BE49-F238E27FC236}">
                <a16:creationId xmlns:a16="http://schemas.microsoft.com/office/drawing/2014/main" id="{C0A4A73F-2E32-4AC6-AFDC-35D588E9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385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(T*, d*) by intensity</a:t>
            </a:r>
          </a:p>
        </p:txBody>
      </p:sp>
      <p:sp>
        <p:nvSpPr>
          <p:cNvPr id="42" name="method-4-carrier">
            <a:extLst xmlns:a="http://schemas.openxmlformats.org/drawingml/2006/main">
              <a:ext uri="{FF2B5EF4-FFF2-40B4-BE49-F238E27FC236}">
                <a16:creationId xmlns:a16="http://schemas.microsoft.com/office/drawing/2014/main" id="{007A53EC-F807-4465-8F52-72EECF6F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338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record Tp = 0.260 s</a:t>
            </a:r>
          </a:p>
        </p:txBody>
      </p:sp>
      <p:sp>
        <p:nvSpPr>
          <p:cNvPr id="43" name="method-4-axis-a">
            <a:extLst xmlns:a="http://schemas.openxmlformats.org/drawingml/2006/main">
              <a:ext uri="{FF2B5EF4-FFF2-40B4-BE49-F238E27FC236}">
                <a16:creationId xmlns:a16="http://schemas.microsoft.com/office/drawing/2014/main" id="{A6E1632B-3222-461A-A5A2-A9669DCA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44" name="method-4-axis-b">
            <a:extLst xmlns:a="http://schemas.openxmlformats.org/drawingml/2006/main">
              <a:ext uri="{FF2B5EF4-FFF2-40B4-BE49-F238E27FC236}">
                <a16:creationId xmlns:a16="http://schemas.microsoft.com/office/drawing/2014/main" id="{613500B2-DDAE-48A6-8E0D-1749C12F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45" name="method-4-wave-a">
            <a:extLst xmlns:a="http://schemas.openxmlformats.org/drawingml/2006/main">
              <a:ext uri="{FF2B5EF4-FFF2-40B4-BE49-F238E27FC236}">
                <a16:creationId xmlns:a16="http://schemas.microsoft.com/office/drawing/2014/main" id="{AF525010-49E1-4D31-9F3F-0433184A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46" name="method-4-wave-b">
            <a:extLst xmlns:a="http://schemas.openxmlformats.org/drawingml/2006/main">
              <a:ext uri="{FF2B5EF4-FFF2-40B4-BE49-F238E27FC236}">
                <a16:creationId xmlns:a16="http://schemas.microsoft.com/office/drawing/2014/main" id="{D283043F-2D11-4BE3-A73E-D881AC33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45322"/>
                </a:lnTo>
                <a:lnTo>
                  <a:pt x="60325" y="129022"/>
                </a:lnTo>
                <a:lnTo>
                  <a:pt x="90488" y="113324"/>
                </a:lnTo>
                <a:lnTo>
                  <a:pt x="120650" y="98515"/>
                </a:lnTo>
                <a:lnTo>
                  <a:pt x="150813" y="84865"/>
                </a:lnTo>
                <a:lnTo>
                  <a:pt x="180975" y="72624"/>
                </a:lnTo>
                <a:lnTo>
                  <a:pt x="211138" y="62016"/>
                </a:lnTo>
                <a:lnTo>
                  <a:pt x="241300" y="53236"/>
                </a:lnTo>
                <a:lnTo>
                  <a:pt x="271463" y="46443"/>
                </a:lnTo>
                <a:lnTo>
                  <a:pt x="301625" y="41761"/>
                </a:lnTo>
                <a:lnTo>
                  <a:pt x="331788" y="39277"/>
                </a:lnTo>
                <a:lnTo>
                  <a:pt x="361950" y="39036"/>
                </a:lnTo>
                <a:lnTo>
                  <a:pt x="392113" y="41042"/>
                </a:lnTo>
                <a:lnTo>
                  <a:pt x="422275" y="45258"/>
                </a:lnTo>
                <a:lnTo>
                  <a:pt x="452438" y="51608"/>
                </a:lnTo>
                <a:lnTo>
                  <a:pt x="482600" y="59975"/>
                </a:lnTo>
                <a:lnTo>
                  <a:pt x="512763" y="70207"/>
                </a:lnTo>
                <a:lnTo>
                  <a:pt x="542925" y="82115"/>
                </a:lnTo>
                <a:lnTo>
                  <a:pt x="573088" y="95483"/>
                </a:lnTo>
                <a:lnTo>
                  <a:pt x="603250" y="110066"/>
                </a:lnTo>
                <a:lnTo>
                  <a:pt x="633413" y="125597"/>
                </a:lnTo>
                <a:lnTo>
                  <a:pt x="663575" y="141793"/>
                </a:lnTo>
                <a:lnTo>
                  <a:pt x="693738" y="158357"/>
                </a:lnTo>
                <a:lnTo>
                  <a:pt x="723900" y="174986"/>
                </a:lnTo>
                <a:lnTo>
                  <a:pt x="754063" y="191376"/>
                </a:lnTo>
                <a:lnTo>
                  <a:pt x="784225" y="207228"/>
                </a:lnTo>
                <a:lnTo>
                  <a:pt x="814388" y="222251"/>
                </a:lnTo>
                <a:lnTo>
                  <a:pt x="844550" y="236171"/>
                </a:lnTo>
                <a:lnTo>
                  <a:pt x="874713" y="248733"/>
                </a:lnTo>
                <a:lnTo>
                  <a:pt x="904875" y="259708"/>
                </a:lnTo>
                <a:lnTo>
                  <a:pt x="935038" y="268895"/>
                </a:lnTo>
                <a:lnTo>
                  <a:pt x="965200" y="276126"/>
                </a:lnTo>
                <a:lnTo>
                  <a:pt x="995363" y="281268"/>
                </a:lnTo>
                <a:lnTo>
                  <a:pt x="1025525" y="284228"/>
                </a:lnTo>
                <a:lnTo>
                  <a:pt x="1055688" y="284952"/>
                </a:lnTo>
                <a:lnTo>
                  <a:pt x="1085850" y="283426"/>
                </a:lnTo>
                <a:lnTo>
                  <a:pt x="1116013" y="279678"/>
                </a:lnTo>
                <a:lnTo>
                  <a:pt x="1146175" y="273777"/>
                </a:lnTo>
                <a:lnTo>
                  <a:pt x="1176338" y="265831"/>
                </a:lnTo>
                <a:lnTo>
                  <a:pt x="1206500" y="255984"/>
                </a:lnTo>
                <a:lnTo>
                  <a:pt x="1236663" y="244417"/>
                </a:lnTo>
                <a:lnTo>
                  <a:pt x="1266825" y="231342"/>
                </a:lnTo>
                <a:lnTo>
                  <a:pt x="1296988" y="216998"/>
                </a:lnTo>
                <a:lnTo>
                  <a:pt x="1327150" y="201647"/>
                </a:lnTo>
                <a:lnTo>
                  <a:pt x="1357313" y="185569"/>
                </a:lnTo>
                <a:lnTo>
                  <a:pt x="1387475" y="169058"/>
                </a:lnTo>
                <a:lnTo>
                  <a:pt x="1417638" y="152418"/>
                </a:lnTo>
                <a:lnTo>
                  <a:pt x="1447800" y="135951"/>
                </a:lnTo>
                <a:lnTo>
                  <a:pt x="1477963" y="119959"/>
                </a:lnTo>
                <a:lnTo>
                  <a:pt x="1508125" y="104735"/>
                </a:lnTo>
                <a:lnTo>
                  <a:pt x="1538288" y="90556"/>
                </a:lnTo>
                <a:lnTo>
                  <a:pt x="1568450" y="77683"/>
                </a:lnTo>
                <a:lnTo>
                  <a:pt x="1598613" y="66350"/>
                </a:lnTo>
                <a:lnTo>
                  <a:pt x="1628775" y="56764"/>
                </a:lnTo>
                <a:lnTo>
                  <a:pt x="1658938" y="49102"/>
                </a:lnTo>
                <a:lnTo>
                  <a:pt x="1689100" y="43503"/>
                </a:lnTo>
                <a:lnTo>
                  <a:pt x="1719263" y="40069"/>
                </a:lnTo>
                <a:lnTo>
                  <a:pt x="1749425" y="38863"/>
                </a:lnTo>
                <a:lnTo>
                  <a:pt x="1779588" y="39908"/>
                </a:lnTo>
                <a:lnTo>
                  <a:pt x="1809750" y="4318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A14D8D"/>
            </a:solidFill>
            <a:prstDash val="solid"/>
          </a:ln>
        </p:spPr>
      </p:sp>
      <p:sp>
        <p:nvSpPr>
          <p:cNvPr id="47" name="method-4-wave-a-label">
            <a:extLst xmlns:a="http://schemas.openxmlformats.org/drawingml/2006/main">
              <a:ext uri="{FF2B5EF4-FFF2-40B4-BE49-F238E27FC236}">
                <a16:creationId xmlns:a16="http://schemas.microsoft.com/office/drawing/2014/main" id="{FD3E160D-D60C-44C2-B896-188F8775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196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48" name="method-4-wave-b-label">
            <a:extLst xmlns:a="http://schemas.openxmlformats.org/drawingml/2006/main">
              <a:ext uri="{FF2B5EF4-FFF2-40B4-BE49-F238E27FC236}">
                <a16:creationId xmlns:a16="http://schemas.microsoft.com/office/drawing/2014/main" id="{6D318FEC-7929-451A-8A68-D9512698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196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49" name="methods-footer-rule">
            <a:extLst xmlns:a="http://schemas.openxmlformats.org/drawingml/2006/main">
              <a:ext uri="{FF2B5EF4-FFF2-40B4-BE49-F238E27FC236}">
                <a16:creationId xmlns:a16="http://schemas.microsoft.com/office/drawing/2014/main" id="{3ACFB494-789B-47A1-B83E-90A86EAC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50" name="methods-footer-note">
            <a:extLst xmlns:a="http://schemas.openxmlformats.org/drawingml/2006/main">
              <a:ext uri="{FF2B5EF4-FFF2-40B4-BE49-F238E27FC236}">
                <a16:creationId xmlns:a16="http://schemas.microsoft.com/office/drawing/2014/main" id="{3EBE0948-A39C-415C-8E0E-35CB4991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Methods 3–4 use precomputed capacity-proxy targets that vary with intensity. The schedule is independent of the preceding 3DEC response.</a:t>
            </a:r>
          </a:p>
        </p:txBody>
      </p:sp>
    </p:spTree>
    <p:extLst>
      <p:ext uri="{BB962C8B-B14F-4D97-AF65-F5344CB8AC3E}">
        <p14:creationId xmlns:p14="http://schemas.microsoft.com/office/powerpoint/2010/main" val="21086058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2">
            <a:extLst xmlns:a="http://schemas.openxmlformats.org/drawingml/2006/main">
              <a:ext uri="{FF2B5EF4-FFF2-40B4-BE49-F238E27FC236}">
                <a16:creationId xmlns:a16="http://schemas.microsoft.com/office/drawing/2014/main" id="{F1E5E30C-4700-489A-9AC4-700BCA9D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23B8F896-5141-48AB-913D-3BFDD694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24AFF427-1146-427A-B140-FC60ADC5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Peak response and spectral calibration</a:t>
            </a:r>
          </a:p>
        </p:txBody>
      </p:sp>
      <p:sp>
        <p:nvSpPr>
          <p:cNvPr id="4" name="slide-subtitle-2">
            <a:extLst xmlns:a="http://schemas.openxmlformats.org/drawingml/2006/main">
              <a:ext uri="{FF2B5EF4-FFF2-40B4-BE49-F238E27FC236}">
                <a16:creationId xmlns:a16="http://schemas.microsoft.com/office/drawing/2014/main" id="{FECA488D-FA18-439F-93B1-6CC66FC7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Runs 22–24 compare with US-1 Test 9; Run 25 has no matching specimen test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e7d24be97b43a0"/>
          <a:stretch xmlns:a="http://schemas.openxmlformats.org/drawingml/2006/main"/>
        </p:blipFill>
        <p:spPr>
          <a:xfrm xmlns:a="http://schemas.openxmlformats.org/drawingml/2006/main">
            <a:off x="466725" y="1277553"/>
            <a:ext cx="11258550" cy="3636145"/>
          </a:xfrm>
          <a:prstGeom xmlns:a="http://schemas.openxmlformats.org/drawingml/2006/main" prst="rect">
            <a:avLst/>
          </a:prstGeom>
        </p:spPr>
      </p:pic>
      <p:sp>
        <p:nvSpPr>
          <p:cNvPr id="6" name="best-displacement-value">
            <a:extLst xmlns:a="http://schemas.openxmlformats.org/drawingml/2006/main">
              <a:ext uri="{FF2B5EF4-FFF2-40B4-BE49-F238E27FC236}">
                <a16:creationId xmlns:a16="http://schemas.microsoft.com/office/drawing/2014/main" id="{60483F28-2039-4A1D-8B2F-99C1A032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4350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300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17.1%</a:t>
            </a:r>
          </a:p>
        </p:txBody>
      </p:sp>
      <p:sp>
        <p:nvSpPr>
          <p:cNvPr id="7" name="best-displacement-label">
            <a:extLst xmlns:a="http://schemas.openxmlformats.org/drawingml/2006/main">
              <a:ext uri="{FF2B5EF4-FFF2-40B4-BE49-F238E27FC236}">
                <a16:creationId xmlns:a16="http://schemas.microsoft.com/office/drawing/2014/main" id="{4D065314-12FC-4C59-B011-0F254188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911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2 mean OOP error</a:t>
            </a:r>
          </a:p>
        </p:txBody>
      </p:sp>
      <p:sp>
        <p:nvSpPr>
          <p:cNvPr id="8" name="comparison-mid-rule">
            <a:extLst xmlns:a="http://schemas.openxmlformats.org/drawingml/2006/main">
              <a:ext uri="{FF2B5EF4-FFF2-40B4-BE49-F238E27FC236}">
                <a16:creationId xmlns:a16="http://schemas.microsoft.com/office/drawing/2014/main" id="{0CE05B4B-6055-4179-829D-0C283612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53025"/>
            <a:ext cx="0" cy="73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9" name="best-baseshear-value">
            <a:extLst xmlns:a="http://schemas.openxmlformats.org/drawingml/2006/main">
              <a:ext uri="{FF2B5EF4-FFF2-40B4-BE49-F238E27FC236}">
                <a16:creationId xmlns:a16="http://schemas.microsoft.com/office/drawing/2014/main" id="{5553FC21-090C-4CCC-B094-C19EFE14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435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300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9.3%</a:t>
            </a:r>
          </a:p>
        </p:txBody>
      </p:sp>
      <p:sp>
        <p:nvSpPr>
          <p:cNvPr id="10" name="best-baseshear-label">
            <a:extLst xmlns:a="http://schemas.openxmlformats.org/drawingml/2006/main">
              <a:ext uri="{FF2B5EF4-FFF2-40B4-BE49-F238E27FC236}">
                <a16:creationId xmlns:a16="http://schemas.microsoft.com/office/drawing/2014/main" id="{D42F65A9-220B-4E65-8032-AEED4347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9117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1 mean base-shear peak error</a:t>
            </a:r>
          </a:p>
        </p:txBody>
      </p:sp>
      <p:sp>
        <p:nvSpPr>
          <p:cNvPr id="11" name="fit-provisional-note">
            <a:extLst xmlns:a="http://schemas.openxmlformats.org/drawingml/2006/main">
              <a:ext uri="{FF2B5EF4-FFF2-40B4-BE49-F238E27FC236}">
                <a16:creationId xmlns:a16="http://schemas.microsoft.com/office/drawing/2014/main" id="{0E5FBD99-3441-4321-95FE-30991839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All 16 spectral fits missed the 2% convergence tolerance. Treat these response rankings as provisional.</a:t>
            </a:r>
          </a:p>
        </p:txBody>
      </p:sp>
    </p:spTree>
    <p:extLst>
      <p:ext uri="{BB962C8B-B14F-4D97-AF65-F5344CB8AC3E}">
        <p14:creationId xmlns:p14="http://schemas.microsoft.com/office/powerpoint/2010/main" val="8182748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3">
            <a:extLst xmlns:a="http://schemas.openxmlformats.org/drawingml/2006/main">
              <a:ext uri="{FF2B5EF4-FFF2-40B4-BE49-F238E27FC236}">
                <a16:creationId xmlns:a16="http://schemas.microsoft.com/office/drawing/2014/main" id="{AA20E6A9-B67A-4560-82F5-14E9C0A5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415505BC-A26F-4301-A070-389500C8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F95A6A6B-1A62-458F-B91E-7DDC77B9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1</a:t>
            </a:r>
          </a:p>
        </p:txBody>
      </p:sp>
      <p:sp>
        <p:nvSpPr>
          <p:cNvPr id="4" name="slide-subtitle-3">
            <a:extLst xmlns:a="http://schemas.openxmlformats.org/drawingml/2006/main">
              <a:ext uri="{FF2B5EF4-FFF2-40B4-BE49-F238E27FC236}">
                <a16:creationId xmlns:a16="http://schemas.microsoft.com/office/drawing/2014/main" id="{7A9F3AF7-EE04-41FF-9BAC-644B9FF1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d346e6d8c84c9d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1-loop-context">
            <a:extLst xmlns:a="http://schemas.openxmlformats.org/drawingml/2006/main">
              <a:ext uri="{FF2B5EF4-FFF2-40B4-BE49-F238E27FC236}">
                <a16:creationId xmlns:a16="http://schemas.microsoft.com/office/drawing/2014/main" id="{E7DF32E7-8F2C-4A6E-B5DF-71BAA4AA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1-mass-formula-label">
            <a:extLst xmlns:a="http://schemas.openxmlformats.org/drawingml/2006/main">
              <a:ext uri="{FF2B5EF4-FFF2-40B4-BE49-F238E27FC236}">
                <a16:creationId xmlns:a16="http://schemas.microsoft.com/office/drawing/2014/main" id="{E85E4EFB-5621-4494-95D6-1870881D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1-mass-formula">
            <a:extLst xmlns:a="http://schemas.openxmlformats.org/drawingml/2006/main">
              <a:ext uri="{FF2B5EF4-FFF2-40B4-BE49-F238E27FC236}">
                <a16:creationId xmlns:a16="http://schemas.microsoft.com/office/drawing/2014/main" id="{41995842-007E-4E9F-B746-11DFEED7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1-mean-error-rule">
            <a:extLst xmlns:a="http://schemas.openxmlformats.org/drawingml/2006/main">
              <a:ext uri="{FF2B5EF4-FFF2-40B4-BE49-F238E27FC236}">
                <a16:creationId xmlns:a16="http://schemas.microsoft.com/office/drawing/2014/main" id="{C5D046C4-D1FF-4454-88E6-0B17DF49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1-mean-error-caption">
            <a:extLst xmlns:a="http://schemas.openxmlformats.org/drawingml/2006/main">
              <a:ext uri="{FF2B5EF4-FFF2-40B4-BE49-F238E27FC236}">
                <a16:creationId xmlns:a16="http://schemas.microsoft.com/office/drawing/2014/main" id="{C090E6CE-687C-4259-840D-BF12564E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Mean base-shear peak error</a:t>
            </a:r>
          </a:p>
        </p:txBody>
      </p:sp>
      <p:sp>
        <p:nvSpPr>
          <p:cNvPr id="11" name="Method 1-mean-error">
            <a:extLst xmlns:a="http://schemas.openxmlformats.org/drawingml/2006/main">
              <a:ext uri="{FF2B5EF4-FFF2-40B4-BE49-F238E27FC236}">
                <a16:creationId xmlns:a16="http://schemas.microsoft.com/office/drawing/2014/main" id="{7B60334C-BEA9-4759-8948-83C8D4D7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9.3%</a:t>
            </a:r>
          </a:p>
        </p:txBody>
      </p:sp>
    </p:spTree>
    <p:extLst>
      <p:ext uri="{BB962C8B-B14F-4D97-AF65-F5344CB8AC3E}">
        <p14:creationId xmlns:p14="http://schemas.microsoft.com/office/powerpoint/2010/main" val="9393901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4">
            <a:extLst xmlns:a="http://schemas.openxmlformats.org/drawingml/2006/main">
              <a:ext uri="{FF2B5EF4-FFF2-40B4-BE49-F238E27FC236}">
                <a16:creationId xmlns:a16="http://schemas.microsoft.com/office/drawing/2014/main" id="{2AEEBC70-981C-4DFE-AA39-F246D850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D15AFCF1-800B-4DB5-BE87-E713FE8F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F4F76B44-42D3-4E77-895C-8285B4BF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2</a:t>
            </a:r>
          </a:p>
        </p:txBody>
      </p:sp>
      <p:sp>
        <p:nvSpPr>
          <p:cNvPr id="4" name="slide-subtitle-4">
            <a:extLst xmlns:a="http://schemas.openxmlformats.org/drawingml/2006/main">
              <a:ext uri="{FF2B5EF4-FFF2-40B4-BE49-F238E27FC236}">
                <a16:creationId xmlns:a16="http://schemas.microsoft.com/office/drawing/2014/main" id="{975D8A06-59C0-420C-8A4B-AB2F9B8F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bff937d1d40d4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2-loop-context">
            <a:extLst xmlns:a="http://schemas.openxmlformats.org/drawingml/2006/main">
              <a:ext uri="{FF2B5EF4-FFF2-40B4-BE49-F238E27FC236}">
                <a16:creationId xmlns:a16="http://schemas.microsoft.com/office/drawing/2014/main" id="{2D792E96-ADCC-4D29-BAE2-E317BBC5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2-mass-formula-label">
            <a:extLst xmlns:a="http://schemas.openxmlformats.org/drawingml/2006/main">
              <a:ext uri="{FF2B5EF4-FFF2-40B4-BE49-F238E27FC236}">
                <a16:creationId xmlns:a16="http://schemas.microsoft.com/office/drawing/2014/main" id="{8834EB2C-A5CA-4F92-8DDF-4B446D46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2-mass-formula">
            <a:extLst xmlns:a="http://schemas.openxmlformats.org/drawingml/2006/main">
              <a:ext uri="{FF2B5EF4-FFF2-40B4-BE49-F238E27FC236}">
                <a16:creationId xmlns:a16="http://schemas.microsoft.com/office/drawing/2014/main" id="{71C25535-AA4E-45D4-AFF9-0B2D59EA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2-mean-error-rule">
            <a:extLst xmlns:a="http://schemas.openxmlformats.org/drawingml/2006/main">
              <a:ext uri="{FF2B5EF4-FFF2-40B4-BE49-F238E27FC236}">
                <a16:creationId xmlns:a16="http://schemas.microsoft.com/office/drawing/2014/main" id="{233C63C1-C7CF-439D-B0C8-79A9FE51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2-mean-error-caption">
            <a:extLst xmlns:a="http://schemas.openxmlformats.org/drawingml/2006/main">
              <a:ext uri="{FF2B5EF4-FFF2-40B4-BE49-F238E27FC236}">
                <a16:creationId xmlns:a16="http://schemas.microsoft.com/office/drawing/2014/main" id="{B0A1F920-DB5F-4196-B32D-A79DBF53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Mean base-shear peak error</a:t>
            </a:r>
          </a:p>
        </p:txBody>
      </p:sp>
      <p:sp>
        <p:nvSpPr>
          <p:cNvPr id="11" name="Method 2-mean-error">
            <a:extLst xmlns:a="http://schemas.openxmlformats.org/drawingml/2006/main">
              <a:ext uri="{FF2B5EF4-FFF2-40B4-BE49-F238E27FC236}">
                <a16:creationId xmlns:a16="http://schemas.microsoft.com/office/drawing/2014/main" id="{87D96CE4-B766-42C5-8A5B-815268C8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13.3%</a:t>
            </a:r>
          </a:p>
        </p:txBody>
      </p:sp>
    </p:spTree>
    <p:extLst>
      <p:ext uri="{BB962C8B-B14F-4D97-AF65-F5344CB8AC3E}">
        <p14:creationId xmlns:p14="http://schemas.microsoft.com/office/powerpoint/2010/main" val="20871815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5">
            <a:extLst xmlns:a="http://schemas.openxmlformats.org/drawingml/2006/main">
              <a:ext uri="{FF2B5EF4-FFF2-40B4-BE49-F238E27FC236}">
                <a16:creationId xmlns:a16="http://schemas.microsoft.com/office/drawing/2014/main" id="{2C8CF089-F2C3-4663-B96E-5F8A3A87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ADD0B8A6-8B9A-4FBE-8A9D-67402418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B3A8069A-FF2F-4E5F-9160-B4F8AC41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3</a:t>
            </a:r>
          </a:p>
        </p:txBody>
      </p:sp>
      <p:sp>
        <p:nvSpPr>
          <p:cNvPr id="4" name="slide-subtitle-5">
            <a:extLst xmlns:a="http://schemas.openxmlformats.org/drawingml/2006/main">
              <a:ext uri="{FF2B5EF4-FFF2-40B4-BE49-F238E27FC236}">
                <a16:creationId xmlns:a16="http://schemas.microsoft.com/office/drawing/2014/main" id="{ECB67C91-712F-4725-9395-BBDF2492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1ac2091af742f3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3-loop-context">
            <a:extLst xmlns:a="http://schemas.openxmlformats.org/drawingml/2006/main">
              <a:ext uri="{FF2B5EF4-FFF2-40B4-BE49-F238E27FC236}">
                <a16:creationId xmlns:a16="http://schemas.microsoft.com/office/drawing/2014/main" id="{D6816944-1E7E-448A-9033-B5309F6A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3-mass-formula-label">
            <a:extLst xmlns:a="http://schemas.openxmlformats.org/drawingml/2006/main">
              <a:ext uri="{FF2B5EF4-FFF2-40B4-BE49-F238E27FC236}">
                <a16:creationId xmlns:a16="http://schemas.microsoft.com/office/drawing/2014/main" id="{66298E43-DBAD-4B6A-BF03-875E1DE9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3-mass-formula">
            <a:extLst xmlns:a="http://schemas.openxmlformats.org/drawingml/2006/main">
              <a:ext uri="{FF2B5EF4-FFF2-40B4-BE49-F238E27FC236}">
                <a16:creationId xmlns:a16="http://schemas.microsoft.com/office/drawing/2014/main" id="{4B6F581B-D133-4623-9B90-2F087F2B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3-mean-error-rule">
            <a:extLst xmlns:a="http://schemas.openxmlformats.org/drawingml/2006/main">
              <a:ext uri="{FF2B5EF4-FFF2-40B4-BE49-F238E27FC236}">
                <a16:creationId xmlns:a16="http://schemas.microsoft.com/office/drawing/2014/main" id="{0AA16C3D-5C2E-494F-9537-8566E709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3-mean-error-caption">
            <a:extLst xmlns:a="http://schemas.openxmlformats.org/drawingml/2006/main">
              <a:ext uri="{FF2B5EF4-FFF2-40B4-BE49-F238E27FC236}">
                <a16:creationId xmlns:a16="http://schemas.microsoft.com/office/drawing/2014/main" id="{F05E2102-7A37-4441-ABAF-BB19061A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Mean base-shear peak error</a:t>
            </a:r>
          </a:p>
        </p:txBody>
      </p:sp>
      <p:sp>
        <p:nvSpPr>
          <p:cNvPr id="11" name="Method 3-mean-error">
            <a:extLst xmlns:a="http://schemas.openxmlformats.org/drawingml/2006/main">
              <a:ext uri="{FF2B5EF4-FFF2-40B4-BE49-F238E27FC236}">
                <a16:creationId xmlns:a16="http://schemas.microsoft.com/office/drawing/2014/main" id="{DD5A8CC6-AF8C-4EAF-BCC1-098C20BD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14.7%</a:t>
            </a:r>
          </a:p>
        </p:txBody>
      </p:sp>
    </p:spTree>
    <p:extLst>
      <p:ext uri="{BB962C8B-B14F-4D97-AF65-F5344CB8AC3E}">
        <p14:creationId xmlns:p14="http://schemas.microsoft.com/office/powerpoint/2010/main" val="17806290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6">
            <a:extLst xmlns:a="http://schemas.openxmlformats.org/drawingml/2006/main">
              <a:ext uri="{FF2B5EF4-FFF2-40B4-BE49-F238E27FC236}">
                <a16:creationId xmlns:a16="http://schemas.microsoft.com/office/drawing/2014/main" id="{73AFD9C7-39DF-4F18-966A-4D36DE5F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C3E1F3CD-1C47-4C6C-BB84-4430513A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" name="slide-title-6">
            <a:extLst xmlns:a="http://schemas.openxmlformats.org/drawingml/2006/main">
              <a:ext uri="{FF2B5EF4-FFF2-40B4-BE49-F238E27FC236}">
                <a16:creationId xmlns:a16="http://schemas.microsoft.com/office/drawing/2014/main" id="{BCC62632-09AB-4BB8-B26C-6ECDB9F3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4</a:t>
            </a:r>
          </a:p>
        </p:txBody>
      </p:sp>
      <p:sp>
        <p:nvSpPr>
          <p:cNvPr id="4" name="slide-subtitle-6">
            <a:extLst xmlns:a="http://schemas.openxmlformats.org/drawingml/2006/main">
              <a:ext uri="{FF2B5EF4-FFF2-40B4-BE49-F238E27FC236}">
                <a16:creationId xmlns:a16="http://schemas.microsoft.com/office/drawing/2014/main" id="{AC555C6F-CE68-469A-A324-E3F24F3A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c323544b4f42f0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4-loop-context">
            <a:extLst xmlns:a="http://schemas.openxmlformats.org/drawingml/2006/main">
              <a:ext uri="{FF2B5EF4-FFF2-40B4-BE49-F238E27FC236}">
                <a16:creationId xmlns:a16="http://schemas.microsoft.com/office/drawing/2014/main" id="{925E996B-808A-4EB0-A612-D580990E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4-mass-formula-label">
            <a:extLst xmlns:a="http://schemas.openxmlformats.org/drawingml/2006/main">
              <a:ext uri="{FF2B5EF4-FFF2-40B4-BE49-F238E27FC236}">
                <a16:creationId xmlns:a16="http://schemas.microsoft.com/office/drawing/2014/main" id="{291CEFA1-D24A-4262-8904-83C75DD6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4-mass-formula">
            <a:extLst xmlns:a="http://schemas.openxmlformats.org/drawingml/2006/main">
              <a:ext uri="{FF2B5EF4-FFF2-40B4-BE49-F238E27FC236}">
                <a16:creationId xmlns:a16="http://schemas.microsoft.com/office/drawing/2014/main" id="{B8A71F7D-94FA-4F3B-A068-C8AA5812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4-mean-error-rule">
            <a:extLst xmlns:a="http://schemas.openxmlformats.org/drawingml/2006/main">
              <a:ext uri="{FF2B5EF4-FFF2-40B4-BE49-F238E27FC236}">
                <a16:creationId xmlns:a16="http://schemas.microsoft.com/office/drawing/2014/main" id="{760E674B-52A0-42A7-9F76-A39DC0F7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4-mean-error-caption">
            <a:extLst xmlns:a="http://schemas.openxmlformats.org/drawingml/2006/main">
              <a:ext uri="{FF2B5EF4-FFF2-40B4-BE49-F238E27FC236}">
                <a16:creationId xmlns:a16="http://schemas.microsoft.com/office/drawing/2014/main" id="{AE4A6DE1-E010-4E52-AD73-13FE312D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Mean base-shear peak error</a:t>
            </a:r>
          </a:p>
        </p:txBody>
      </p:sp>
      <p:sp>
        <p:nvSpPr>
          <p:cNvPr id="11" name="Method 4-mean-error">
            <a:extLst xmlns:a="http://schemas.openxmlformats.org/drawingml/2006/main">
              <a:ext uri="{FF2B5EF4-FFF2-40B4-BE49-F238E27FC236}">
                <a16:creationId xmlns:a16="http://schemas.microsoft.com/office/drawing/2014/main" id="{E1F1F9D7-7404-4B2D-9CD4-26F9E6DA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A14D8D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A14D8D"/>
                </a:solidFill>
                <a:latin typeface="Cambria"/>
                <a:ea typeface="Cambria"/>
                <a:cs typeface="Cambria"/>
              </a:rPr>
              <a:t>17.1%</a:t>
            </a:r>
          </a:p>
        </p:txBody>
      </p:sp>
    </p:spTree>
    <p:extLst>
      <p:ext uri="{BB962C8B-B14F-4D97-AF65-F5344CB8AC3E}">
        <p14:creationId xmlns:p14="http://schemas.microsoft.com/office/powerpoint/2010/main" val="4542768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circle-7">
            <a:extLst xmlns:a="http://schemas.openxmlformats.org/drawingml/2006/main">
              <a:ext uri="{FF2B5EF4-FFF2-40B4-BE49-F238E27FC236}">
                <a16:creationId xmlns:a16="http://schemas.microsoft.com/office/drawing/2014/main" id="{F6961A32-D3F1-4814-8705-E6A2B9EF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BA345C3E-A38B-4268-A769-FF57CEF7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3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31CE6DD7-111A-4564-8DB9-532EEC37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Experimental tiltmeter residuals</a:t>
            </a:r>
          </a:p>
        </p:txBody>
      </p:sp>
      <p:sp>
        <p:nvSpPr>
          <p:cNvPr id="4" name="slide-subtitle-7">
            <a:extLst xmlns:a="http://schemas.openxmlformats.org/drawingml/2006/main">
              <a:ext uri="{FF2B5EF4-FFF2-40B4-BE49-F238E27FC236}">
                <a16:creationId xmlns:a16="http://schemas.microsoft.com/office/drawing/2014/main" id="{A4CFC735-B263-4143-856C-569155D4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Settled Y-axis readings after each run; no experimental Run 25 reading is available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71437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0510147054b438b"/>
          </a:graphicData>
        </a:graphic>
      </p:graphicFrame>
      <p:sp>
        <p:nvSpPr>
          <p:cNvPr id="6" name="tilt-note-rule">
            <a:extLst xmlns:a="http://schemas.openxmlformats.org/drawingml/2006/main">
              <a:ext uri="{FF2B5EF4-FFF2-40B4-BE49-F238E27FC236}">
                <a16:creationId xmlns:a16="http://schemas.microsoft.com/office/drawing/2014/main" id="{BCEE4AD8-02FA-47AB-8401-22DA9605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0" cy="402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7" name="tilt-run24-value">
            <a:extLst xmlns:a="http://schemas.openxmlformats.org/drawingml/2006/main">
              <a:ext uri="{FF2B5EF4-FFF2-40B4-BE49-F238E27FC236}">
                <a16:creationId xmlns:a16="http://schemas.microsoft.com/office/drawing/2014/main" id="{374504BC-38ED-417E-8806-EB70EDC6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43075"/>
            <a:ext cx="295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B7684B"/>
                </a:solidFill>
                <a:latin typeface="Cambria"/>
                <a:ea typeface="Cambria"/>
                <a:cs typeface="Cambria"/>
              </a:defRPr>
            </a:pPr>
            <a:r>
              <a:rPr sz="3225" b="1" i="0">
                <a:solidFill>
                  <a:srgbClr val="B7684B"/>
                </a:solidFill>
                <a:latin typeface="Cambria"/>
                <a:ea typeface="Cambria"/>
                <a:cs typeface="Cambria"/>
              </a:rPr>
              <a:t>+3.279°</a:t>
            </a:r>
          </a:p>
        </p:txBody>
      </p:sp>
      <p:sp>
        <p:nvSpPr>
          <p:cNvPr id="8" name="tilt-run24-caption">
            <a:extLst xmlns:a="http://schemas.openxmlformats.org/drawingml/2006/main">
              <a:ext uri="{FF2B5EF4-FFF2-40B4-BE49-F238E27FC236}">
                <a16:creationId xmlns:a16="http://schemas.microsoft.com/office/drawing/2014/main" id="{304AA01C-6952-4939-9465-190DD74E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4003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Run 24 change from the Run 21 baseline</a:t>
            </a:r>
          </a:p>
        </p:txBody>
      </p:sp>
      <p:sp>
        <p:nvSpPr>
          <p:cNvPr id="9" name="tilt-clip-note">
            <a:extLst xmlns:a="http://schemas.openxmlformats.org/drawingml/2006/main">
              <a:ext uri="{FF2B5EF4-FFF2-40B4-BE49-F238E27FC236}">
                <a16:creationId xmlns:a16="http://schemas.microsoft.com/office/drawing/2014/main" id="{2027E2DD-E1D6-4AED-929D-898BCFD0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95650"/>
            <a:ext cx="28765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Within-shaking inclinometer peaks clip near ±25.75°, so this chart uses settled residuals only.</a:t>
            </a:r>
          </a:p>
        </p:txBody>
      </p:sp>
      <p:sp>
        <p:nvSpPr>
          <p:cNvPr id="10" name="tilt-model-note">
            <a:extLst xmlns:a="http://schemas.openxmlformats.org/drawingml/2006/main">
              <a:ext uri="{FF2B5EF4-FFF2-40B4-BE49-F238E27FC236}">
                <a16:creationId xmlns:a16="http://schemas.microsoft.com/office/drawing/2014/main" id="{E70425A5-A193-42AB-9671-36988491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71975"/>
            <a:ext cx="2876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 model comparison needs the angle at the instrument location. The local chord-angle proxy is excluded.</a:t>
            </a:r>
          </a:p>
        </p:txBody>
      </p:sp>
    </p:spTree>
    <p:extLst>
      <p:ext uri="{BB962C8B-B14F-4D97-AF65-F5344CB8AC3E}">
        <p14:creationId xmlns:p14="http://schemas.microsoft.com/office/powerpoint/2010/main" val="4289074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number-circle-8">
            <a:extLst xmlns:a="http://schemas.openxmlformats.org/drawingml/2006/main">
              <a:ext uri="{FF2B5EF4-FFF2-40B4-BE49-F238E27FC236}">
                <a16:creationId xmlns:a16="http://schemas.microsoft.com/office/drawing/2014/main" id="{54171DA5-5CAD-4C0F-B574-C758FFF0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8">
            <a:extLst xmlns:a="http://schemas.openxmlformats.org/drawingml/2006/main">
              <a:ext uri="{FF2B5EF4-FFF2-40B4-BE49-F238E27FC236}">
                <a16:creationId xmlns:a16="http://schemas.microsoft.com/office/drawing/2014/main" id="{DB0BA88D-F1F9-4698-A12B-66F6EF27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3" name="slide-title-8">
            <a:extLst xmlns:a="http://schemas.openxmlformats.org/drawingml/2006/main">
              <a:ext uri="{FF2B5EF4-FFF2-40B4-BE49-F238E27FC236}">
                <a16:creationId xmlns:a16="http://schemas.microsoft.com/office/drawing/2014/main" id="{156373AC-C823-4B79-AE39-A77A98DA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What these runs support</a:t>
            </a:r>
          </a:p>
        </p:txBody>
      </p:sp>
      <p:sp>
        <p:nvSpPr>
          <p:cNvPr id="4" name="slide-subtitle-8">
            <a:extLst xmlns:a="http://schemas.openxmlformats.org/drawingml/2006/main">
              <a:ext uri="{FF2B5EF4-FFF2-40B4-BE49-F238E27FC236}">
                <a16:creationId xmlns:a16="http://schemas.microsoft.com/office/drawing/2014/main" id="{837495E1-F189-487E-844D-146A0067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Four methods, one common starting state, and three matched US-1 runs</a:t>
            </a:r>
          </a:p>
        </p:txBody>
      </p:sp>
      <p:sp>
        <p:nvSpPr>
          <p:cNvPr id="5" name="summary-value-0">
            <a:extLst xmlns:a="http://schemas.openxmlformats.org/drawingml/2006/main">
              <a:ext uri="{FF2B5EF4-FFF2-40B4-BE49-F238E27FC236}">
                <a16:creationId xmlns:a16="http://schemas.microsoft.com/office/drawing/2014/main" id="{210C5C5F-303B-491C-A50A-181DBA97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764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405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17.1%</a:t>
            </a:r>
          </a:p>
        </p:txBody>
      </p:sp>
      <p:sp>
        <p:nvSpPr>
          <p:cNvPr id="6" name="summary-method-0">
            <a:extLst xmlns:a="http://schemas.openxmlformats.org/drawingml/2006/main">
              <a:ext uri="{FF2B5EF4-FFF2-40B4-BE49-F238E27FC236}">
                <a16:creationId xmlns:a16="http://schemas.microsoft.com/office/drawing/2014/main" id="{FBC152F5-FC59-426F-828B-F75BA30B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2</a:t>
            </a:r>
          </a:p>
        </p:txBody>
      </p:sp>
      <p:sp>
        <p:nvSpPr>
          <p:cNvPr id="7" name="summary-label-0">
            <a:extLst xmlns:a="http://schemas.openxmlformats.org/drawingml/2006/main">
              <a:ext uri="{FF2B5EF4-FFF2-40B4-BE49-F238E27FC236}">
                <a16:creationId xmlns:a16="http://schemas.microsoft.com/office/drawing/2014/main" id="{C48DA41B-8B0C-4E21-AB27-FD3E0FDA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8607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Lowest mean OOP</a:t>
            </a:r>
          </a:p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displacement error</a:t>
            </a:r>
          </a:p>
        </p:txBody>
      </p:sp>
      <p:sp>
        <p:nvSpPr>
          <p:cNvPr id="8" name="summary-divider-0">
            <a:extLst xmlns:a="http://schemas.openxmlformats.org/drawingml/2006/main">
              <a:ext uri="{FF2B5EF4-FFF2-40B4-BE49-F238E27FC236}">
                <a16:creationId xmlns:a16="http://schemas.microsoft.com/office/drawing/2014/main" id="{852B4747-010E-4B4C-BEB3-261F8133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743075"/>
            <a:ext cx="0" cy="1781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9" name="summary-value-1">
            <a:extLst xmlns:a="http://schemas.openxmlformats.org/drawingml/2006/main">
              <a:ext uri="{FF2B5EF4-FFF2-40B4-BE49-F238E27FC236}">
                <a16:creationId xmlns:a16="http://schemas.microsoft.com/office/drawing/2014/main" id="{A8707E03-F108-4209-9581-3072F739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6764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405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9.3%</a:t>
            </a:r>
          </a:p>
        </p:txBody>
      </p:sp>
      <p:sp>
        <p:nvSpPr>
          <p:cNvPr id="10" name="summary-method-1">
            <a:extLst xmlns:a="http://schemas.openxmlformats.org/drawingml/2006/main">
              <a:ext uri="{FF2B5EF4-FFF2-40B4-BE49-F238E27FC236}">
                <a16:creationId xmlns:a16="http://schemas.microsoft.com/office/drawing/2014/main" id="{88A050AD-868B-4DC8-8C06-BA373ABE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146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1</a:t>
            </a:r>
          </a:p>
        </p:txBody>
      </p:sp>
      <p:sp>
        <p:nvSpPr>
          <p:cNvPr id="11" name="summary-label-1">
            <a:extLst xmlns:a="http://schemas.openxmlformats.org/drawingml/2006/main">
              <a:ext uri="{FF2B5EF4-FFF2-40B4-BE49-F238E27FC236}">
                <a16:creationId xmlns:a16="http://schemas.microsoft.com/office/drawing/2014/main" id="{804CFE64-9C99-4964-9D65-72C7A500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8607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Lowest mean base-shear</a:t>
            </a:r>
          </a:p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peak error</a:t>
            </a:r>
          </a:p>
        </p:txBody>
      </p:sp>
      <p:sp>
        <p:nvSpPr>
          <p:cNvPr id="12" name="summary-divider-1">
            <a:extLst xmlns:a="http://schemas.openxmlformats.org/drawingml/2006/main">
              <a:ext uri="{FF2B5EF4-FFF2-40B4-BE49-F238E27FC236}">
                <a16:creationId xmlns:a16="http://schemas.microsoft.com/office/drawing/2014/main" id="{A38E7700-5BF5-461F-9B45-9EC43166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43075"/>
            <a:ext cx="0" cy="1781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3" name="summary-value-2">
            <a:extLst xmlns:a="http://schemas.openxmlformats.org/drawingml/2006/main">
              <a:ext uri="{FF2B5EF4-FFF2-40B4-BE49-F238E27FC236}">
                <a16:creationId xmlns:a16="http://schemas.microsoft.com/office/drawing/2014/main" id="{C779FEEA-2FC9-48C3-B1FC-B05AEA24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764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B7684B"/>
                </a:solidFill>
                <a:latin typeface="Cambria"/>
                <a:ea typeface="Cambria"/>
                <a:cs typeface="Cambria"/>
              </a:defRPr>
            </a:pPr>
            <a:r>
              <a:rPr sz="4050" b="1" i="0">
                <a:solidFill>
                  <a:srgbClr val="B7684B"/>
                </a:solidFill>
                <a:latin typeface="Cambria"/>
                <a:ea typeface="Cambria"/>
                <a:cs typeface="Cambria"/>
              </a:rPr>
              <a:t>16 / 16</a:t>
            </a:r>
          </a:p>
        </p:txBody>
      </p:sp>
      <p:sp>
        <p:nvSpPr>
          <p:cNvPr id="14" name="summary-method-2">
            <a:extLst xmlns:a="http://schemas.openxmlformats.org/drawingml/2006/main">
              <a:ext uri="{FF2B5EF4-FFF2-40B4-BE49-F238E27FC236}">
                <a16:creationId xmlns:a16="http://schemas.microsoft.com/office/drawing/2014/main" id="{B778334C-38B6-4C48-9065-F533E6E2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All methods</a:t>
            </a:r>
          </a:p>
        </p:txBody>
      </p:sp>
      <p:sp>
        <p:nvSpPr>
          <p:cNvPr id="15" name="summary-label-2">
            <a:extLst xmlns:a="http://schemas.openxmlformats.org/drawingml/2006/main">
              <a:ext uri="{FF2B5EF4-FFF2-40B4-BE49-F238E27FC236}">
                <a16:creationId xmlns:a16="http://schemas.microsoft.com/office/drawing/2014/main" id="{25CF2AF4-64F4-4365-9350-C976449E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8607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Spectral fits outside</a:t>
            </a:r>
          </a:p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2% tolerance</a:t>
            </a:r>
          </a:p>
        </p:txBody>
      </p:sp>
      <p:sp>
        <p:nvSpPr>
          <p:cNvPr id="16" name="summary-lower-rule">
            <a:extLst xmlns:a="http://schemas.openxmlformats.org/drawingml/2006/main">
              <a:ext uri="{FF2B5EF4-FFF2-40B4-BE49-F238E27FC236}">
                <a16:creationId xmlns:a16="http://schemas.microsoft.com/office/drawing/2014/main" id="{E12ADF6C-8ACE-4714-9B1C-B160CA6D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43350"/>
            <a:ext cx="1052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7" name="summary-reading">
            <a:extLst xmlns:a="http://schemas.openxmlformats.org/drawingml/2006/main">
              <a:ext uri="{FF2B5EF4-FFF2-40B4-BE49-F238E27FC236}">
                <a16:creationId xmlns:a16="http://schemas.microsoft.com/office/drawing/2014/main" id="{872FFCBF-86BD-4A2D-BD00-6B2E8EDA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187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Method 2 leads on displacement, while Method 1 leads on base-shear peak. No single method leads on both.</a:t>
            </a:r>
          </a:p>
        </p:txBody>
      </p:sp>
      <p:sp>
        <p:nvSpPr>
          <p:cNvPr id="18" name="summary-next-step">
            <a:extLst xmlns:a="http://schemas.openxmlformats.org/drawingml/2006/main">
              <a:ext uri="{FF2B5EF4-FFF2-40B4-BE49-F238E27FC236}">
                <a16:creationId xmlns:a16="http://schemas.microsoft.com/office/drawing/2014/main" id="{0B7779AD-B9DD-4C82-A702-A1363E8F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53025"/>
            <a:ext cx="1036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Next: improve the joint two-wave spectral fit, then compare model tilt at the instrument location.</a:t>
            </a:r>
          </a:p>
        </p:txBody>
      </p:sp>
      <p:sp>
        <p:nvSpPr>
          <p:cNvPr id="19" name="summary-scope-note">
            <a:extLst xmlns:a="http://schemas.openxmlformats.org/drawingml/2006/main">
              <a:ext uri="{FF2B5EF4-FFF2-40B4-BE49-F238E27FC236}">
                <a16:creationId xmlns:a16="http://schemas.microsoft.com/office/drawing/2014/main" id="{7AAB547C-DFE3-410F-979C-516A4B77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293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Runs 22–24 have US-1 comparisons. Run 25 is model-only. All methods start from Strategy F Run 21.</a:t>
            </a:r>
          </a:p>
        </p:txBody>
      </p:sp>
    </p:spTree>
    <p:extLst>
      <p:ext uri="{BB962C8B-B14F-4D97-AF65-F5344CB8AC3E}">
        <p14:creationId xmlns:p14="http://schemas.microsoft.com/office/powerpoint/2010/main" val="9871629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2026-10-05T07:29:03.2820000Z</dcterms:created>
  <dcterms:modified xsi:type="dcterms:W3CDTF">2026-10-05T07:29:03.2820000Z</dcterms:modified>
</coreProperties>
</file>
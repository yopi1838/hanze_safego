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75" r:id="rId4"/>
    <p:sldId id="258" r:id="rId5"/>
    <p:sldId id="259" r:id="rId6"/>
    <p:sldId id="260" r:id="rId7"/>
    <p:sldId id="276" r:id="rId8"/>
    <p:sldId id="261" r:id="rId9"/>
    <p:sldId id="262" r:id="rId10"/>
    <p:sldId id="263" r:id="rId11"/>
    <p:sldId id="264" r:id="rId12"/>
    <p:sldId id="266" r:id="rId13"/>
    <p:sldId id="267" r:id="rId14"/>
    <p:sldId id="268" r:id="rId15"/>
    <p:sldId id="269" r:id="rId16"/>
    <p:sldId id="270" r:id="rId17"/>
    <p:sldId id="274" r:id="rId18"/>
    <p:sldId id="271"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4267" autoAdjust="0"/>
  </p:normalViewPr>
  <p:slideViewPr>
    <p:cSldViewPr snapToGrid="0" snapToObjects="1">
      <p:cViewPr varScale="1">
        <p:scale>
          <a:sx n="102" d="100"/>
          <a:sy n="102" d="100"/>
        </p:scale>
        <p:origin x="1219"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Measured peak OOP displacement</c:v>
                </c:pt>
              </c:strCache>
            </c:strRef>
          </c:tx>
          <c:spPr>
            <a:ln w="38100" cap="flat">
              <a:solidFill>
                <a:srgbClr val="B85042"/>
              </a:solidFill>
              <a:prstDash val="solid"/>
              <a:round/>
            </a:ln>
            <a:effectLst/>
          </c:spPr>
          <c:marker>
            <c:symbol val="circle"/>
            <c:size val="6"/>
            <c:spPr>
              <a:solidFill>
                <a:srgbClr val="B85042"/>
              </a:solidFill>
              <a:ln w="9525" cap="flat">
                <a:solidFill>
                  <a:srgbClr val="B85042"/>
                </a:solidFill>
                <a:prstDash val="solid"/>
                <a:round/>
              </a:ln>
              <a:effectLst/>
            </c:spPr>
          </c:marker>
          <c:cat>
            <c:strRef>
              <c:f>Sheet1!$A$2:$A$25</c:f>
              <c:strCache>
                <c:ptCount val="24"/>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strCache>
            </c:strRef>
          </c:cat>
          <c:val>
            <c:numRef>
              <c:f>Sheet1!$B$2:$B$25</c:f>
              <c:numCache>
                <c:formatCode>General</c:formatCode>
                <c:ptCount val="24"/>
                <c:pt idx="0">
                  <c:v>0.3</c:v>
                </c:pt>
                <c:pt idx="1">
                  <c:v>0.41</c:v>
                </c:pt>
                <c:pt idx="2">
                  <c:v>0.15</c:v>
                </c:pt>
                <c:pt idx="3">
                  <c:v>0.67</c:v>
                </c:pt>
                <c:pt idx="4">
                  <c:v>0.96</c:v>
                </c:pt>
                <c:pt idx="5">
                  <c:v>0.48</c:v>
                </c:pt>
                <c:pt idx="6">
                  <c:v>1.24</c:v>
                </c:pt>
                <c:pt idx="7">
                  <c:v>0.87</c:v>
                </c:pt>
                <c:pt idx="8">
                  <c:v>1.41</c:v>
                </c:pt>
                <c:pt idx="9">
                  <c:v>2.06</c:v>
                </c:pt>
                <c:pt idx="10">
                  <c:v>0.93</c:v>
                </c:pt>
                <c:pt idx="11">
                  <c:v>2.25</c:v>
                </c:pt>
                <c:pt idx="12">
                  <c:v>2.57</c:v>
                </c:pt>
                <c:pt idx="13">
                  <c:v>3.1</c:v>
                </c:pt>
                <c:pt idx="14">
                  <c:v>3.65</c:v>
                </c:pt>
                <c:pt idx="15">
                  <c:v>4.7699999999999996</c:v>
                </c:pt>
                <c:pt idx="16">
                  <c:v>5.88</c:v>
                </c:pt>
                <c:pt idx="17">
                  <c:v>8.48</c:v>
                </c:pt>
                <c:pt idx="18">
                  <c:v>10.74</c:v>
                </c:pt>
                <c:pt idx="19">
                  <c:v>13.52</c:v>
                </c:pt>
                <c:pt idx="20">
                  <c:v>16.37</c:v>
                </c:pt>
                <c:pt idx="21">
                  <c:v>3.64</c:v>
                </c:pt>
                <c:pt idx="22">
                  <c:v>13.16</c:v>
                </c:pt>
                <c:pt idx="23">
                  <c:v>29.48</c:v>
                </c:pt>
              </c:numCache>
            </c:numRef>
          </c:val>
          <c:smooth val="0"/>
          <c:extLst>
            <c:ext xmlns:c16="http://schemas.microsoft.com/office/drawing/2014/chart" uri="{C3380CC4-5D6E-409C-BE32-E72D297353CC}">
              <c16:uniqueId val="{00000000-414B-4266-895C-9C0DEC4D2C5A}"/>
            </c:ext>
          </c:extLst>
        </c:ser>
        <c:ser>
          <c:idx val="1"/>
          <c:order val="1"/>
          <c:tx>
            <c:strRef>
              <c:f>Sheet1!$C$1</c:f>
              <c:strCache>
                <c:ptCount val="1"/>
                <c:pt idx="0">
                  <c:v>Sd at the identified free-vibration period</c:v>
                </c:pt>
              </c:strCache>
            </c:strRef>
          </c:tx>
          <c:spPr>
            <a:ln w="38100" cap="flat">
              <a:solidFill>
                <a:srgbClr val="7E9284"/>
              </a:solidFill>
              <a:prstDash val="solid"/>
              <a:round/>
            </a:ln>
            <a:effectLst/>
          </c:spPr>
          <c:marker>
            <c:symbol val="circle"/>
            <c:size val="6"/>
            <c:spPr>
              <a:solidFill>
                <a:srgbClr val="7E9284"/>
              </a:solidFill>
              <a:ln w="9525" cap="flat">
                <a:solidFill>
                  <a:srgbClr val="7E9284"/>
                </a:solidFill>
                <a:prstDash val="solid"/>
                <a:round/>
              </a:ln>
              <a:effectLst/>
            </c:spPr>
          </c:marker>
          <c:cat>
            <c:strRef>
              <c:f>Sheet1!$A$2:$A$25</c:f>
              <c:strCache>
                <c:ptCount val="24"/>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strCache>
            </c:strRef>
          </c:cat>
          <c:val>
            <c:numRef>
              <c:f>Sheet1!$C$2:$C$25</c:f>
              <c:numCache>
                <c:formatCode>General</c:formatCode>
                <c:ptCount val="24"/>
                <c:pt idx="0">
                  <c:v>0.23</c:v>
                </c:pt>
                <c:pt idx="1">
                  <c:v>0.4</c:v>
                </c:pt>
                <c:pt idx="2">
                  <c:v>0.27</c:v>
                </c:pt>
                <c:pt idx="3">
                  <c:v>0.56999999999999995</c:v>
                </c:pt>
                <c:pt idx="4">
                  <c:v>0.69</c:v>
                </c:pt>
                <c:pt idx="5">
                  <c:v>0.42</c:v>
                </c:pt>
                <c:pt idx="6">
                  <c:v>0.8</c:v>
                </c:pt>
                <c:pt idx="7">
                  <c:v>0.56000000000000005</c:v>
                </c:pt>
                <c:pt idx="8">
                  <c:v>1.03</c:v>
                </c:pt>
                <c:pt idx="9">
                  <c:v>1.1399999999999999</c:v>
                </c:pt>
                <c:pt idx="10">
                  <c:v>0.74</c:v>
                </c:pt>
                <c:pt idx="11">
                  <c:v>1.24</c:v>
                </c:pt>
                <c:pt idx="12">
                  <c:v>1.38</c:v>
                </c:pt>
                <c:pt idx="13">
                  <c:v>1.57</c:v>
                </c:pt>
                <c:pt idx="14">
                  <c:v>1.79</c:v>
                </c:pt>
                <c:pt idx="15">
                  <c:v>2.21</c:v>
                </c:pt>
                <c:pt idx="16">
                  <c:v>2.29</c:v>
                </c:pt>
                <c:pt idx="17">
                  <c:v>2.99</c:v>
                </c:pt>
                <c:pt idx="18">
                  <c:v>3.57</c:v>
                </c:pt>
                <c:pt idx="19">
                  <c:v>4.0199999999999996</c:v>
                </c:pt>
                <c:pt idx="20">
                  <c:v>4.6399999999999997</c:v>
                </c:pt>
                <c:pt idx="21">
                  <c:v>1.31</c:v>
                </c:pt>
                <c:pt idx="22">
                  <c:v>2.0499999999999998</c:v>
                </c:pt>
                <c:pt idx="23">
                  <c:v>2.2999999999999998</c:v>
                </c:pt>
              </c:numCache>
            </c:numRef>
          </c:val>
          <c:smooth val="0"/>
          <c:extLst>
            <c:ext xmlns:c16="http://schemas.microsoft.com/office/drawing/2014/chart" uri="{C3380CC4-5D6E-409C-BE32-E72D297353CC}">
              <c16:uniqueId val="{00000001-414B-4266-895C-9C0DEC4D2C5A}"/>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100" b="0" i="0" u="none" strike="noStrike">
                    <a:solidFill>
                      <a:srgbClr val="6B6B6B"/>
                    </a:solidFill>
                    <a:latin typeface="Arial"/>
                  </a:defRPr>
                </a:pPr>
                <a:r>
                  <a:rPr lang="en-GB" sz="1100" b="0" i="0" u="none" strike="noStrike">
                    <a:solidFill>
                      <a:srgbClr val="6B6B6B"/>
                    </a:solidFill>
                    <a:latin typeface="Arial"/>
                  </a:rPr>
                  <a:t>run</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6B6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DCD8D3"/>
              </a:solidFill>
              <a:prstDash val="solid"/>
              <a:round/>
            </a:ln>
          </c:spPr>
        </c:majorGridlines>
        <c:title>
          <c:tx>
            <c:rich>
              <a:bodyPr/>
              <a:lstStyle/>
              <a:p>
                <a:pPr>
                  <a:defRPr sz="1100" b="0" i="0" u="none" strike="noStrike">
                    <a:solidFill>
                      <a:srgbClr val="6B6B6B"/>
                    </a:solidFill>
                    <a:latin typeface="Arial"/>
                  </a:defRPr>
                </a:pPr>
                <a:r>
                  <a:rPr lang="en-GB" sz="1100" b="0" i="0" u="none" strike="noStrike">
                    <a:solidFill>
                      <a:srgbClr val="6B6B6B"/>
                    </a:solidFill>
                    <a:latin typeface="Arial"/>
                  </a:rPr>
                  <a:t>mm</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B6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6B6B6B"/>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55492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Open: this is a follow-on from IMC2026 paper 164. The method works up to run 15 and that part is not in question. Today is about the last runs, and about one decision I need from the three of you. Do not apologise for the negative results - frame the whole talk as diagnosis, not failure.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Recap Bora's proposition for anyone not close to it: one calibrated velocity pulse instead of a 90 s record, amplitude set by a spectral match, re-calibrated at the softened period after every run. LAND THIS: the ~10x cost saving is the entire reason the surrogate exists and nothing today challenges it. Then be generous about what IMC2026 genuinely established - stiffness, period elongation, mechanism, damage pattern. You need the room to accept the diagnosis later, so establish first that you are not attacking the method.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BD115E-CD1B-ED44-3E8A-631953D68A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BE47AF-96B9-FE08-F065-A82C70DC27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DC58AA-E6F0-DA79-B946-74B15B621418}"/>
              </a:ext>
            </a:extLst>
          </p:cNvPr>
          <p:cNvSpPr>
            <a:spLocks noGrp="1"/>
          </p:cNvSpPr>
          <p:nvPr>
            <p:ph type="body" idx="1"/>
          </p:nvPr>
        </p:nvSpPr>
        <p:spPr/>
        <p:txBody>
          <a:bodyPr/>
          <a:lstStyle/>
          <a:p>
            <a:r>
              <a:rPr lang="en-US" dirty="0"/>
              <a:t>[1:30]  Recap Bora's proposition for anyone not close to it: one calibrated velocity pulse instead of a 90 s record, amplitude set by a spectral match, re-calibrated at the softened period after every run. LAND THIS: the ~10x cost saving is the entire reason the surrogate exists and nothing today challenges it. Then be generous about what IMC2026 genuinely established - stiffness, period elongation, mechanism, damage pattern. You need the room to accept the diagnosis later, so establish first that you are not attacking the method.</a:t>
            </a:r>
          </a:p>
        </p:txBody>
      </p:sp>
      <p:sp>
        <p:nvSpPr>
          <p:cNvPr id="4" name="Slide Number Placeholder 3">
            <a:extLst>
              <a:ext uri="{FF2B5EF4-FFF2-40B4-BE49-F238E27FC236}">
                <a16:creationId xmlns:a16="http://schemas.microsoft.com/office/drawing/2014/main" id="{627507E3-1852-F7B2-8313-DD7FD99828BB}"/>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9797090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One slide of orientation. Everything nonlinear lives in the joints - the blocks are rigid, so cracking, sliding and rocking are all contact behaviour under the MASON model. The top beam is the experiment's boundary: held sideways, free to rotate, spring load as a constant force. The caveats for the record run: small strain and no added damping.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Point at the figure: experiment and model separate from run 16 and never reconverge. Quote the RANGES, not single numbers - 1.6 to 2.8x at run 21, 4.7 to 8.7x at run 24 - and say plainly that the range exists because our own model variants disagree. ANTICIPATE: Ihsan will ask which run produced which number. Slide 8 of the IMC deck shows ~10.5 mm at run 21, slide 12 says 6.6-7.7 mm, my Maxwell runs give 5.9 mm. If you have not reconciled these by the meeting, concede it as an open bookkeeping item rather than improvising. Then put our published explanation on screen and say: that is what we wrote, and I now think it is incomplete.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THE PIVOT SLIDE. Two runs, different records, different scale factors, the same ratio to 1%. The model returns what it is handed to within 15%. Therefore the deficit sits upstream of the contact model, the block kinematics and the damping - none of those can be the cause if the model is already delivering its instruction faithfully. WEAKEST LINK: only run 21 is fully clean. FR76's input calibration is off by ~1.3x because Table 2's PTA is a four-specimen average. If pushed, lead with run 21 and concede run 24 carries that uncertainty. Land the consequence: if the model returns approximately Sd_target linearly, the IDA is not measuring nonlinear capacity - it is redrawing the input spectrum.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Orientation slide - keep it quick. Three records, escalating multipliers, EC40 interleaved as low-amplitude damage checks. Two things to land: (1) the protocol is fixed by the experiment - we reproduce it, we do not redesign it; (2) the run-21 to run-22 transition - HU12 at 600% gives 17 mm, FR76 at 100% gives less, then 175% gives 29.5 mm. The record carries the demand, not the scale factor. That is why the single-pulse scheme, which sees only amplitude, breaks at run 22. CAVEAT if asked: EC40's data file is named EC_100 but the commanded scale there is 0.5 - a naming/normalisation mismatch we have flagged, not resolved.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Left panel: where we match versus where the wall goes. The dashed line is our matching period; the shaded band is where the measured response says the wall actually is. Right panel is the argument - come back to it on the next slide. Growth factors: x2.7 HU12, x7.5 EC40, x10.5 FR76. Compare against the observed shortfalls of 1.6-2.8x on HU12 and 4.7-8.7x on FR76. THE SPECTRAL GROWTH PREDICTS THE GAP RECORD BY RECORD - that correspondence is the strongest single piece of evidence in the talk. Say it slowly.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  LEAD WITH THE TROUGH. It is the point nobody in the room will have considered, and it attacks the ADAPTIVE part specifically rather than the pulse. Sd falls 23% between 0.265 and 0.305 s, so softening reduces the demand and the ladder stalls exactly where rocking begins. Then the peaked spectrum: two narrow peaks, a single-frequency pulse can sit on one but the wall sweeps through both. Then steepness. THE UNCOMFORTABLE PART - deliver it plainly, do not soften it: 17 of the first 21 runs are HU12, whose spectrum is flat, so the period choice barely mattered there. ANTICIPATE: Eleni may hear this as dismissing the validation. Answer: it does not invalidate it, it BOUNDS it - the method is validated for flat-spectrum records, which is a legitimate and publishable scope statement. Finish on the three repairs so the slide does not land as purely negative.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The per-run picture. Sd at the identified free-vibration period never exceeds 4.6 mm across all 24 runs while the measured demand reaches 29.5 mm. The one sentence that carries the whole talk: Figure 14's period is a POST-SHAKING, SMALL-AMPLITUDE damage indicator, not the period the wall responds at DURING shaking. We have been using a damage metric as a loading parameter. Note the caveat line - EC40 and FR76 rows carry the input-calibration issue; the HU12 ladder does not.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Explain the curve in one line: a rocking block has no fixed period - the further it leans, the slower it rocks, because the weight has less lever arm to push it back. That is the physics we are using, and the idea is sound. The problem is the formula. Housner assumes a free block; ours is restrained at the top, precompressed and tied to joists. Two independent checks say the period at 30 mm is 0.26-0.35 s, not 0.68 s. And Housner puts overturning at 208 mm while the test never went past 30 mm - so it would say the wall was nowhere near failure. Land this: keep the idea, replace the formula with a secant period from a pushover.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Show the result honestly. The curve crosses the experiment at run 24, but the log says runs 22-25 were driven at 0.87, 1.20, 1.67 and 2.80 g against a table that reached 0.78 g, and the cycle count hit its code limit of 10 on all four. So run 24 is not a prediction of 29.5 mm - the driver commanded 65.5 mm of spectral displacement and the model returned 32. The fix is one variable: shape the pulse at the rocking period rather than only reading Sd there. That gives the same demand at 0.30-0.57 g, all inside table capacity, and the commanded values then land within 5-11 percent of what the table actually applied. That last point is the result worth showing - the scheme finds the right intensity on its own.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This is the diagnosis of the previous slide. We read the spectrum at the rocking period, about 0.48 s, where FR76 x1.75 offers 65.5 mm. But we built the pulse at 0.131 s, the ring-down period. Making a 0.131 s pulse deliver 65.5 mm of spectral displacement takes 1.67 g - that is the whole reason for the violent input. Say the key line plainly: run 24 is not a prediction of 29.5 mm, it is a demand of 65.5 mm that the model half-followed. The fix is one variable. Same target, 0.52 g instead of 1.67 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Set them side by side and be explicit that damping is our published position and you are not dismissing it. Both hypotheses are consistent with everything in IMC2026 - loop stiffness, mechanism, crack pattern. They differ only in what fixes it, which is why the room has to choose. Then the control run: drive the model with the measured table motion, no period choice, no intensity measure, no damping assumption, nothing to tune. Three simulations settle it. Mention the four self-locking variants briefly - the purpose is to stop anyone proposing what has already failed, not to dwell on it.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This is the answer to question 1, and it splits. With the measured table motion and nothing adaptive at all, the model tracks the experiment through run 22 - including the dip at the record switch, which no pulse variant reproduced because it is a property of the record, not the intensity. So the under-prediction we have argued about all along was the LOADING for runs 1-22. But runs 23 and 24 stay short by 2.2x and 3.6x under the real record - there is no loading left to blame, so that residual is the MODEL. Candidates in order: small strain (this run had it off, and rocking softening is geometric), the bonded joist pockets, the rigid-block toe. Run 25 reaching 41.6 mm shows the model can go large - it gets there one run late, which reads as damage accumulating too slowly. One bookkeeping note: runs 1-6 report exactly zero while Ch4 alone reads about 2 mm - likely an export or averaging artefact, being checked.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Period, right panel: the elongation curves end at the same place, 1.18 for both. The model starts 8 percent high in absolute terms (0.0985 vs 0.091 s) but accumulates damage at the right rate. Tilt, left: peak tilt tracks the experiment to run 21 and reproduces the run-22 dip. Tilt, right: the one clear miss - both walls lean steadily from run 1 (that is the joist slip, 8-12 mm cumulative in the paper) while the model holds zero until run 18. With the pockets bonded, the model has no mechanism for that early drift. It catches the late positive swing though, and ends near the measured value.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3028F-EB2E-94FE-8EAD-FBA0FE58A4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070FF5-50AB-508C-1F60-0616C07739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460D34-F92E-65D2-4BD2-B7EE23287D8A}"/>
              </a:ext>
            </a:extLst>
          </p:cNvPr>
          <p:cNvSpPr>
            <a:spLocks noGrp="1"/>
          </p:cNvSpPr>
          <p:nvPr>
            <p:ph type="body" idx="1"/>
          </p:nvPr>
        </p:nvSpPr>
        <p:spPr/>
        <p:txBody>
          <a:bodyPr/>
          <a:lstStyle/>
          <a:p>
            <a:r>
              <a:rPr lang="en-US" dirty="0"/>
              <a:t>[1:30]  Period, right panel: the elongation curves end at the same place, 1.18 for both. The model starts 8 percent high in absolute terms (0.0985 vs 0.091 s) but accumulates damage at the right rate. Tilt, left: peak tilt tracks the experiment to run 21 and reproduces the run-22 dip. Tilt, right: the one clear miss - both walls lean steadily from run 1 (that is the joist slip, 8-12 mm cumulative in the paper) while the model holds zero until run 18. With the pockets bonded, the model has no mechanism for that early drift. It catches the late positive swing though, and ends near the measured value.</a:t>
            </a:r>
          </a:p>
        </p:txBody>
      </p:sp>
      <p:sp>
        <p:nvSpPr>
          <p:cNvPr id="4" name="Slide Number Placeholder 3">
            <a:extLst>
              <a:ext uri="{FF2B5EF4-FFF2-40B4-BE49-F238E27FC236}">
                <a16:creationId xmlns:a16="http://schemas.microsoft.com/office/drawing/2014/main" id="{9EA0AEC1-45AC-8E59-2AB8-7A0C895DC588}"/>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1742788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Order matters. The pushover is first because it is the only test here that cannot be tuned into agreeing - one run, one anchor from Table 4. It also gives the secant period that replaces Housner, so steps 1 and 3 are the same simulation. Step 2 is the driver that is already written and is a one-variable change from the run you have seen. Step 4 is the data request; put it last so it does not swallow the discussion.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2A27"/>
        </a:solidFill>
        <a:effectLst/>
      </p:bgPr>
    </p:bg>
    <p:spTree>
      <p:nvGrpSpPr>
        <p:cNvPr id="1" name=""/>
        <p:cNvGrpSpPr/>
        <p:nvPr/>
      </p:nvGrpSpPr>
      <p:grpSpPr>
        <a:xfrm>
          <a:off x="0" y="0"/>
          <a:ext cx="0" cy="0"/>
          <a:chOff x="0" y="0"/>
          <a:chExt cx="0" cy="0"/>
        </a:xfrm>
      </p:grpSpPr>
      <p:sp>
        <p:nvSpPr>
          <p:cNvPr id="2" name="Shape 0"/>
          <p:cNvSpPr/>
          <p:nvPr/>
        </p:nvSpPr>
        <p:spPr>
          <a:xfrm>
            <a:off x="10104120" y="4343400"/>
            <a:ext cx="1828800" cy="1828800"/>
          </a:xfrm>
          <a:prstGeom prst="ellipse">
            <a:avLst/>
          </a:prstGeom>
          <a:solidFill>
            <a:srgbClr val="B85042"/>
          </a:solidFill>
          <a:ln w="12700">
            <a:solidFill>
              <a:srgbClr val="B85042"/>
            </a:solidFill>
            <a:prstDash val="solid"/>
          </a:ln>
        </p:spPr>
        <p:txBody>
          <a:bodyPr/>
          <a:lstStyle/>
          <a:p>
            <a:endParaRPr lang="en-NL"/>
          </a:p>
        </p:txBody>
      </p:sp>
      <p:sp>
        <p:nvSpPr>
          <p:cNvPr id="3" name="Text 1"/>
          <p:cNvSpPr txBox="1"/>
          <p:nvPr/>
        </p:nvSpPr>
        <p:spPr>
          <a:xfrm>
            <a:off x="822960" y="1874520"/>
            <a:ext cx="9509760" cy="173736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Adaptive sinusoidal spectral matching</a:t>
            </a:r>
            <a:endParaRPr lang="en-US" sz="3600" dirty="0"/>
          </a:p>
          <a:p>
            <a:pPr marL="0" indent="0">
              <a:buNone/>
            </a:pPr>
            <a:r>
              <a:rPr lang="en-US" sz="3600" b="1" dirty="0">
                <a:solidFill>
                  <a:srgbClr val="FFFFFF"/>
                </a:solidFill>
                <a:latin typeface="Cambria" pitchFamily="34" charset="0"/>
                <a:ea typeface="Cambria" pitchFamily="34" charset="-122"/>
                <a:cs typeface="Cambria" pitchFamily="34" charset="-120"/>
              </a:rPr>
              <a:t>for out-of-plane masonry walls</a:t>
            </a:r>
            <a:endParaRPr lang="en-US" sz="3600" dirty="0"/>
          </a:p>
        </p:txBody>
      </p:sp>
      <p:sp>
        <p:nvSpPr>
          <p:cNvPr id="4" name="Text 2"/>
          <p:cNvSpPr txBox="1"/>
          <p:nvPr/>
        </p:nvSpPr>
        <p:spPr>
          <a:xfrm>
            <a:off x="822960" y="3429000"/>
            <a:ext cx="9052560" cy="457200"/>
          </a:xfrm>
          <a:prstGeom prst="rect">
            <a:avLst/>
          </a:prstGeom>
          <a:noFill/>
          <a:ln/>
        </p:spPr>
        <p:txBody>
          <a:bodyPr wrap="square" lIns="0" tIns="0" rIns="0" bIns="0" rtlCol="0" anchor="ctr"/>
          <a:lstStyle/>
          <a:p>
            <a:pPr marL="0" indent="0">
              <a:buNone/>
            </a:pPr>
            <a:r>
              <a:rPr lang="en-US" sz="1700" dirty="0">
                <a:solidFill>
                  <a:srgbClr val="CFC8C1"/>
                </a:solidFill>
                <a:latin typeface="Calibri" pitchFamily="34" charset="0"/>
                <a:ea typeface="Calibri" pitchFamily="34" charset="-122"/>
                <a:cs typeface="Calibri" pitchFamily="34" charset="-120"/>
              </a:rPr>
              <a:t>Where the scheme stands against SAFEGo US-1, and one decision I need</a:t>
            </a:r>
            <a:endParaRPr lang="en-US" sz="1700" dirty="0"/>
          </a:p>
        </p:txBody>
      </p:sp>
      <p:sp>
        <p:nvSpPr>
          <p:cNvPr id="5" name="Text 3"/>
          <p:cNvSpPr txBox="1"/>
          <p:nvPr/>
        </p:nvSpPr>
        <p:spPr>
          <a:xfrm>
            <a:off x="822960" y="4846320"/>
            <a:ext cx="9052560" cy="822960"/>
          </a:xfrm>
          <a:prstGeom prst="rect">
            <a:avLst/>
          </a:prstGeom>
          <a:noFill/>
          <a:ln/>
        </p:spPr>
        <p:txBody>
          <a:bodyPr wrap="square" lIns="0" tIns="0" rIns="0" bIns="0" rtlCol="0" anchor="ctr"/>
          <a:lstStyle/>
          <a:p>
            <a:pPr marL="0" indent="0">
              <a:buNone/>
            </a:pPr>
            <a:r>
              <a:rPr lang="en-US" sz="1300" dirty="0">
                <a:solidFill>
                  <a:srgbClr val="A69D95"/>
                </a:solidFill>
                <a:latin typeface="Calibri" pitchFamily="34" charset="0"/>
                <a:ea typeface="Calibri" pitchFamily="34" charset="-122"/>
                <a:cs typeface="Calibri" pitchFamily="34" charset="-120"/>
              </a:rPr>
              <a:t>Yopi P. Oktiovan  ·  Hanze University of Applied Sciences, Groningen</a:t>
            </a:r>
            <a:endParaRPr lang="en-US" sz="1300" dirty="0"/>
          </a:p>
          <a:p>
            <a:pPr marL="0" indent="0">
              <a:buNone/>
            </a:pPr>
            <a:r>
              <a:rPr lang="en-US" sz="1300" dirty="0">
                <a:solidFill>
                  <a:srgbClr val="A69D95"/>
                </a:solidFill>
                <a:latin typeface="Calibri" pitchFamily="34" charset="0"/>
                <a:ea typeface="Calibri" pitchFamily="34" charset="-122"/>
                <a:cs typeface="Calibri" pitchFamily="34" charset="-120"/>
              </a:rPr>
              <a:t>Internal progress report — follow-on from IMC2026 paper 164</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02920" y="384048"/>
            <a:ext cx="384048" cy="384048"/>
          </a:xfrm>
          <a:prstGeom prst="ellipse">
            <a:avLst/>
          </a:prstGeom>
          <a:solidFill>
            <a:srgbClr val="B85042"/>
          </a:solidFill>
          <a:ln/>
        </p:spPr>
        <p:txBody>
          <a:bodyPr/>
          <a:lstStyle/>
          <a:p>
            <a:endParaRPr lang="en-NL"/>
          </a:p>
        </p:txBody>
      </p:sp>
      <p:sp>
        <p:nvSpPr>
          <p:cNvPr id="3" name="Text 1"/>
          <p:cNvSpPr txBox="1"/>
          <p:nvPr/>
        </p:nvSpPr>
        <p:spPr>
          <a:xfrm>
            <a:off x="502920" y="38404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51560" y="329184"/>
            <a:ext cx="10607040" cy="530352"/>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Where we started: the single-feed sinusoidal pulse</a:t>
            </a:r>
            <a:endParaRPr lang="en-US" sz="3000" dirty="0"/>
          </a:p>
        </p:txBody>
      </p:sp>
      <p:sp>
        <p:nvSpPr>
          <p:cNvPr id="5" name="Text 3"/>
          <p:cNvSpPr txBox="1"/>
          <p:nvPr/>
        </p:nvSpPr>
        <p:spPr>
          <a:xfrm>
            <a:off x="1051560" y="877824"/>
            <a:ext cx="10607040" cy="310896"/>
          </a:xfrm>
          <a:prstGeom prst="rect">
            <a:avLst/>
          </a:prstGeom>
          <a:noFill/>
          <a:ln/>
        </p:spPr>
        <p:txBody>
          <a:bodyPr wrap="square" lIns="0" tIns="0" rIns="0" bIns="0" rtlCol="0" anchor="ctr"/>
          <a:lstStyle/>
          <a:p>
            <a:pPr marL="0" indent="0">
              <a:buNone/>
            </a:pPr>
            <a:r>
              <a:rPr lang="en-US" sz="1400" i="1" dirty="0">
                <a:solidFill>
                  <a:srgbClr val="6B6B6B"/>
                </a:solidFill>
                <a:latin typeface="Calibri" pitchFamily="34" charset="0"/>
                <a:ea typeface="Calibri" pitchFamily="34" charset="-122"/>
                <a:cs typeface="Calibri" pitchFamily="34" charset="-120"/>
              </a:rPr>
              <a:t>Bora’s original proposition — replace the full record with one calibrated sinusoid</a:t>
            </a:r>
            <a:endParaRPr lang="en-US" sz="1400" dirty="0"/>
          </a:p>
        </p:txBody>
      </p:sp>
      <p:sp>
        <p:nvSpPr>
          <p:cNvPr id="7" name="Shape 5"/>
          <p:cNvSpPr/>
          <p:nvPr/>
        </p:nvSpPr>
        <p:spPr>
          <a:xfrm>
            <a:off x="1051560" y="1207008"/>
            <a:ext cx="5536617" cy="5388663"/>
          </a:xfrm>
          <a:prstGeom prst="roundRect">
            <a:avLst>
              <a:gd name="adj" fmla="val 2400"/>
            </a:avLst>
          </a:prstGeom>
          <a:solidFill>
            <a:srgbClr val="F3F0EC"/>
          </a:solidFill>
          <a:ln w="9525">
            <a:solidFill>
              <a:srgbClr val="DCD8D3"/>
            </a:solidFill>
            <a:prstDash val="solid"/>
          </a:ln>
        </p:spPr>
        <p:txBody>
          <a:bodyPr/>
          <a:lstStyle/>
          <a:p>
            <a:endParaRPr lang="en-NL"/>
          </a:p>
        </p:txBody>
      </p:sp>
      <p:sp>
        <p:nvSpPr>
          <p:cNvPr id="10" name="Shape 8"/>
          <p:cNvSpPr/>
          <p:nvPr/>
        </p:nvSpPr>
        <p:spPr>
          <a:xfrm>
            <a:off x="7406640" y="1508760"/>
            <a:ext cx="4206240" cy="2103120"/>
          </a:xfrm>
          <a:prstGeom prst="roundRect">
            <a:avLst>
              <a:gd name="adj" fmla="val 2609"/>
            </a:avLst>
          </a:prstGeom>
          <a:solidFill>
            <a:srgbClr val="2E2A27"/>
          </a:solidFill>
          <a:ln/>
        </p:spPr>
        <p:txBody>
          <a:bodyPr/>
          <a:lstStyle/>
          <a:p>
            <a:endParaRPr lang="en-NL"/>
          </a:p>
        </p:txBody>
      </p:sp>
      <p:sp>
        <p:nvSpPr>
          <p:cNvPr id="11" name="Text 9"/>
          <p:cNvSpPr txBox="1"/>
          <p:nvPr/>
        </p:nvSpPr>
        <p:spPr>
          <a:xfrm>
            <a:off x="7406640" y="1691640"/>
            <a:ext cx="4206240" cy="1005840"/>
          </a:xfrm>
          <a:prstGeom prst="rect">
            <a:avLst/>
          </a:prstGeom>
          <a:noFill/>
          <a:ln/>
        </p:spPr>
        <p:txBody>
          <a:bodyPr wrap="square" lIns="0" tIns="0" rIns="0" bIns="0" rtlCol="0" anchor="ctr"/>
          <a:lstStyle/>
          <a:p>
            <a:pPr marL="0" indent="0" algn="ctr">
              <a:buNone/>
            </a:pPr>
            <a:r>
              <a:rPr lang="en-US" sz="5600" b="1" dirty="0">
                <a:solidFill>
                  <a:srgbClr val="B85042"/>
                </a:solidFill>
                <a:latin typeface="Cambria" pitchFamily="34" charset="0"/>
                <a:ea typeface="Cambria" pitchFamily="34" charset="-122"/>
                <a:cs typeface="Cambria" pitchFamily="34" charset="-120"/>
              </a:rPr>
              <a:t>≈10×</a:t>
            </a:r>
            <a:endParaRPr lang="en-US" sz="5600" dirty="0"/>
          </a:p>
        </p:txBody>
      </p:sp>
      <p:sp>
        <p:nvSpPr>
          <p:cNvPr id="12" name="Text 10"/>
          <p:cNvSpPr txBox="1"/>
          <p:nvPr/>
        </p:nvSpPr>
        <p:spPr>
          <a:xfrm>
            <a:off x="7406640" y="2697480"/>
            <a:ext cx="4206240" cy="365760"/>
          </a:xfrm>
          <a:prstGeom prst="rect">
            <a:avLst/>
          </a:prstGeom>
          <a:noFill/>
          <a:ln/>
        </p:spPr>
        <p:txBody>
          <a:bodyPr wrap="square" lIns="0" tIns="0" rIns="0" bIns="0" rtlCol="0" anchor="ctr"/>
          <a:lstStyle/>
          <a:p>
            <a:pPr marL="0" indent="0" algn="ctr">
              <a:buNone/>
            </a:pPr>
            <a:r>
              <a:rPr lang="en-US" sz="1400" dirty="0">
                <a:solidFill>
                  <a:srgbClr val="CFC8C1"/>
                </a:solidFill>
                <a:latin typeface="Calibri" pitchFamily="34" charset="0"/>
                <a:ea typeface="Calibri" pitchFamily="34" charset="-122"/>
                <a:cs typeface="Calibri" pitchFamily="34" charset="-120"/>
              </a:rPr>
              <a:t>cheaper per loading step</a:t>
            </a:r>
            <a:endParaRPr lang="en-US" sz="1400" dirty="0"/>
          </a:p>
        </p:txBody>
      </p:sp>
      <p:sp>
        <p:nvSpPr>
          <p:cNvPr id="13" name="Shape 11"/>
          <p:cNvSpPr/>
          <p:nvPr/>
        </p:nvSpPr>
        <p:spPr>
          <a:xfrm>
            <a:off x="7406640" y="3886200"/>
            <a:ext cx="4206240" cy="2286000"/>
          </a:xfrm>
          <a:prstGeom prst="roundRect">
            <a:avLst>
              <a:gd name="adj" fmla="val 2400"/>
            </a:avLst>
          </a:prstGeom>
          <a:solidFill>
            <a:srgbClr val="F3F0EC"/>
          </a:solidFill>
          <a:ln w="9525">
            <a:solidFill>
              <a:srgbClr val="DCD8D3"/>
            </a:solidFill>
            <a:prstDash val="solid"/>
          </a:ln>
        </p:spPr>
        <p:txBody>
          <a:bodyPr/>
          <a:lstStyle/>
          <a:p>
            <a:endParaRPr lang="en-NL"/>
          </a:p>
        </p:txBody>
      </p:sp>
      <p:sp>
        <p:nvSpPr>
          <p:cNvPr id="14" name="Text 12"/>
          <p:cNvSpPr txBox="1"/>
          <p:nvPr/>
        </p:nvSpPr>
        <p:spPr>
          <a:xfrm>
            <a:off x="7726680" y="4069080"/>
            <a:ext cx="3566160" cy="320040"/>
          </a:xfrm>
          <a:prstGeom prst="rect">
            <a:avLst/>
          </a:prstGeom>
          <a:noFill/>
          <a:ln/>
        </p:spPr>
        <p:txBody>
          <a:bodyPr wrap="square" lIns="0" tIns="0" rIns="0" bIns="0" rtlCol="0" anchor="ctr"/>
          <a:lstStyle/>
          <a:p>
            <a:pPr marL="0" indent="0">
              <a:buNone/>
            </a:pPr>
            <a:r>
              <a:rPr lang="en-US" sz="1500" b="1" dirty="0">
                <a:solidFill>
                  <a:srgbClr val="B85042"/>
                </a:solidFill>
                <a:latin typeface="Calibri" pitchFamily="34" charset="0"/>
                <a:ea typeface="Calibri" pitchFamily="34" charset="-122"/>
                <a:cs typeface="Calibri" pitchFamily="34" charset="-120"/>
              </a:rPr>
              <a:t>Why it matters</a:t>
            </a:r>
            <a:endParaRPr lang="en-US" sz="1500" dirty="0"/>
          </a:p>
        </p:txBody>
      </p:sp>
      <p:sp>
        <p:nvSpPr>
          <p:cNvPr id="15" name="Text 13"/>
          <p:cNvSpPr txBox="1"/>
          <p:nvPr/>
        </p:nvSpPr>
        <p:spPr>
          <a:xfrm>
            <a:off x="7726680" y="4434840"/>
            <a:ext cx="3566160" cy="1554480"/>
          </a:xfrm>
          <a:prstGeom prst="rect">
            <a:avLst/>
          </a:prstGeom>
          <a:noFill/>
          <a:ln/>
        </p:spPr>
        <p:txBody>
          <a:bodyPr wrap="square" lIns="0" tIns="0" rIns="0" bIns="0" rtlCol="0" anchor="ctr"/>
          <a:lstStyle/>
          <a:p>
            <a:pPr marL="0" indent="0">
              <a:buNone/>
            </a:pPr>
            <a:r>
              <a:rPr lang="en-US" sz="1350" dirty="0">
                <a:solidFill>
                  <a:srgbClr val="1A1A1A"/>
                </a:solidFill>
                <a:latin typeface="Calibri" pitchFamily="34" charset="0"/>
                <a:ea typeface="Calibri" pitchFamily="34" charset="-122"/>
                <a:cs typeface="Calibri" pitchFamily="34" charset="-120"/>
              </a:rPr>
              <a:t>The cost saving still holds.</a:t>
            </a:r>
            <a:endParaRPr lang="en-US" sz="1350" dirty="0"/>
          </a:p>
          <a:p>
            <a:pPr marL="0" indent="0">
              <a:buNone/>
            </a:pPr>
            <a:endParaRPr lang="en-US" sz="1350" dirty="0"/>
          </a:p>
          <a:p>
            <a:pPr marL="0" indent="0">
              <a:buNone/>
            </a:pPr>
            <a:r>
              <a:rPr lang="en-US" sz="1350" dirty="0">
                <a:solidFill>
                  <a:srgbClr val="1A1A1A"/>
                </a:solidFill>
                <a:latin typeface="Calibri" pitchFamily="34" charset="0"/>
                <a:ea typeface="Calibri" pitchFamily="34" charset="-122"/>
                <a:cs typeface="Calibri" pitchFamily="34" charset="-120"/>
              </a:rPr>
              <a:t>Only the amplitude rule is in question.</a:t>
            </a:r>
            <a:endParaRPr lang="en-US" sz="1350" dirty="0"/>
          </a:p>
        </p:txBody>
      </p:sp>
      <p:pic>
        <p:nvPicPr>
          <p:cNvPr id="17" name="Picture 16">
            <a:extLst>
              <a:ext uri="{FF2B5EF4-FFF2-40B4-BE49-F238E27FC236}">
                <a16:creationId xmlns:a16="http://schemas.microsoft.com/office/drawing/2014/main" id="{8D934382-C02F-AAFD-51A2-8C3F6B023826}"/>
              </a:ext>
            </a:extLst>
          </p:cNvPr>
          <p:cNvPicPr>
            <a:picLocks noChangeAspect="1"/>
          </p:cNvPicPr>
          <p:nvPr/>
        </p:nvPicPr>
        <p:blipFill>
          <a:blip r:embed="rId3"/>
          <a:stretch>
            <a:fillRect/>
          </a:stretch>
        </p:blipFill>
        <p:spPr>
          <a:xfrm>
            <a:off x="1207734" y="1289205"/>
            <a:ext cx="5224269" cy="522426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ACAD9-1564-D861-3CE6-59C0FFDC734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3975278-AB38-12DE-EB4B-A23D8FCBD0EF}"/>
              </a:ext>
            </a:extLst>
          </p:cNvPr>
          <p:cNvSpPr/>
          <p:nvPr/>
        </p:nvSpPr>
        <p:spPr>
          <a:xfrm>
            <a:off x="502920" y="384048"/>
            <a:ext cx="384048" cy="384048"/>
          </a:xfrm>
          <a:prstGeom prst="ellipse">
            <a:avLst/>
          </a:prstGeom>
          <a:solidFill>
            <a:srgbClr val="B85042"/>
          </a:solidFill>
          <a:ln/>
        </p:spPr>
        <p:txBody>
          <a:bodyPr/>
          <a:lstStyle/>
          <a:p>
            <a:endParaRPr lang="en-NL"/>
          </a:p>
        </p:txBody>
      </p:sp>
      <p:sp>
        <p:nvSpPr>
          <p:cNvPr id="3" name="Text 1">
            <a:extLst>
              <a:ext uri="{FF2B5EF4-FFF2-40B4-BE49-F238E27FC236}">
                <a16:creationId xmlns:a16="http://schemas.microsoft.com/office/drawing/2014/main" id="{5585E936-0EB1-D4D3-B950-C9A2B20ECE0A}"/>
              </a:ext>
            </a:extLst>
          </p:cNvPr>
          <p:cNvSpPr txBox="1"/>
          <p:nvPr/>
        </p:nvSpPr>
        <p:spPr>
          <a:xfrm>
            <a:off x="502920" y="38404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4" name="Text 2">
            <a:extLst>
              <a:ext uri="{FF2B5EF4-FFF2-40B4-BE49-F238E27FC236}">
                <a16:creationId xmlns:a16="http://schemas.microsoft.com/office/drawing/2014/main" id="{606079F1-B94E-D7FC-BBEC-A2AA7B515440}"/>
              </a:ext>
            </a:extLst>
          </p:cNvPr>
          <p:cNvSpPr txBox="1"/>
          <p:nvPr/>
        </p:nvSpPr>
        <p:spPr>
          <a:xfrm>
            <a:off x="1051560" y="329184"/>
            <a:ext cx="10607040" cy="530352"/>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Where we’re going: adaptive scheme </a:t>
            </a:r>
            <a:endParaRPr lang="en-US" sz="3000" dirty="0"/>
          </a:p>
        </p:txBody>
      </p:sp>
      <p:sp>
        <p:nvSpPr>
          <p:cNvPr id="5" name="Text 3">
            <a:extLst>
              <a:ext uri="{FF2B5EF4-FFF2-40B4-BE49-F238E27FC236}">
                <a16:creationId xmlns:a16="http://schemas.microsoft.com/office/drawing/2014/main" id="{327B1AEC-3EAF-A2E9-3ECA-2BAFDAD35877}"/>
              </a:ext>
            </a:extLst>
          </p:cNvPr>
          <p:cNvSpPr txBox="1"/>
          <p:nvPr/>
        </p:nvSpPr>
        <p:spPr>
          <a:xfrm>
            <a:off x="1051560" y="877824"/>
            <a:ext cx="10607040" cy="310896"/>
          </a:xfrm>
          <a:prstGeom prst="rect">
            <a:avLst/>
          </a:prstGeom>
          <a:noFill/>
          <a:ln/>
        </p:spPr>
        <p:txBody>
          <a:bodyPr wrap="square" lIns="0" tIns="0" rIns="0" bIns="0" rtlCol="0" anchor="ctr"/>
          <a:lstStyle/>
          <a:p>
            <a:pPr marL="0" indent="0">
              <a:buNone/>
            </a:pPr>
            <a:r>
              <a:rPr lang="en-US" sz="1400" i="1" dirty="0">
                <a:solidFill>
                  <a:srgbClr val="6B6B6B"/>
                </a:solidFill>
                <a:latin typeface="Calibri" pitchFamily="34" charset="0"/>
                <a:ea typeface="Calibri" pitchFamily="34" charset="-122"/>
                <a:cs typeface="Calibri" pitchFamily="34" charset="-120"/>
              </a:rPr>
              <a:t>Bora’s original proposition — replace the full record with one calibrated sinusoid</a:t>
            </a:r>
            <a:endParaRPr lang="en-US" sz="1400" dirty="0"/>
          </a:p>
        </p:txBody>
      </p:sp>
      <p:sp>
        <p:nvSpPr>
          <p:cNvPr id="10" name="Shape 8">
            <a:extLst>
              <a:ext uri="{FF2B5EF4-FFF2-40B4-BE49-F238E27FC236}">
                <a16:creationId xmlns:a16="http://schemas.microsoft.com/office/drawing/2014/main" id="{3B358392-C221-8C6D-8DD2-082ABD7E916F}"/>
              </a:ext>
            </a:extLst>
          </p:cNvPr>
          <p:cNvSpPr/>
          <p:nvPr/>
        </p:nvSpPr>
        <p:spPr>
          <a:xfrm>
            <a:off x="7406640" y="1508760"/>
            <a:ext cx="4206240" cy="2103120"/>
          </a:xfrm>
          <a:prstGeom prst="roundRect">
            <a:avLst>
              <a:gd name="adj" fmla="val 2609"/>
            </a:avLst>
          </a:prstGeom>
          <a:solidFill>
            <a:srgbClr val="2E2A27"/>
          </a:solidFill>
          <a:ln/>
        </p:spPr>
        <p:txBody>
          <a:bodyPr/>
          <a:lstStyle/>
          <a:p>
            <a:endParaRPr lang="en-NL"/>
          </a:p>
        </p:txBody>
      </p:sp>
      <p:sp>
        <p:nvSpPr>
          <p:cNvPr id="11" name="Text 9">
            <a:extLst>
              <a:ext uri="{FF2B5EF4-FFF2-40B4-BE49-F238E27FC236}">
                <a16:creationId xmlns:a16="http://schemas.microsoft.com/office/drawing/2014/main" id="{57E98310-4578-4E03-C144-5107FDDE9CA7}"/>
              </a:ext>
            </a:extLst>
          </p:cNvPr>
          <p:cNvSpPr txBox="1"/>
          <p:nvPr/>
        </p:nvSpPr>
        <p:spPr>
          <a:xfrm>
            <a:off x="7406640" y="1691640"/>
            <a:ext cx="4206240" cy="1005840"/>
          </a:xfrm>
          <a:prstGeom prst="rect">
            <a:avLst/>
          </a:prstGeom>
          <a:noFill/>
          <a:ln/>
        </p:spPr>
        <p:txBody>
          <a:bodyPr wrap="square" lIns="0" tIns="0" rIns="0" bIns="0" rtlCol="0" anchor="ctr"/>
          <a:lstStyle/>
          <a:p>
            <a:pPr marL="0" indent="0" algn="ctr">
              <a:buNone/>
            </a:pPr>
            <a:r>
              <a:rPr lang="en-US" sz="5600" b="1" dirty="0">
                <a:solidFill>
                  <a:srgbClr val="B85042"/>
                </a:solidFill>
                <a:latin typeface="Cambria" pitchFamily="34" charset="0"/>
                <a:ea typeface="Cambria" pitchFamily="34" charset="-122"/>
                <a:cs typeface="Cambria" pitchFamily="34" charset="-120"/>
              </a:rPr>
              <a:t>≈10×</a:t>
            </a:r>
            <a:endParaRPr lang="en-US" sz="5600" dirty="0"/>
          </a:p>
        </p:txBody>
      </p:sp>
      <p:sp>
        <p:nvSpPr>
          <p:cNvPr id="12" name="Text 10">
            <a:extLst>
              <a:ext uri="{FF2B5EF4-FFF2-40B4-BE49-F238E27FC236}">
                <a16:creationId xmlns:a16="http://schemas.microsoft.com/office/drawing/2014/main" id="{E0F5E03E-0B44-2020-0C66-D8E9AF858958}"/>
              </a:ext>
            </a:extLst>
          </p:cNvPr>
          <p:cNvSpPr txBox="1"/>
          <p:nvPr/>
        </p:nvSpPr>
        <p:spPr>
          <a:xfrm>
            <a:off x="7406640" y="2697480"/>
            <a:ext cx="4206240" cy="365760"/>
          </a:xfrm>
          <a:prstGeom prst="rect">
            <a:avLst/>
          </a:prstGeom>
          <a:noFill/>
          <a:ln/>
        </p:spPr>
        <p:txBody>
          <a:bodyPr wrap="square" lIns="0" tIns="0" rIns="0" bIns="0" rtlCol="0" anchor="ctr"/>
          <a:lstStyle/>
          <a:p>
            <a:pPr marL="0" indent="0" algn="ctr">
              <a:buNone/>
            </a:pPr>
            <a:r>
              <a:rPr lang="en-US" sz="1400" dirty="0">
                <a:solidFill>
                  <a:srgbClr val="CFC8C1"/>
                </a:solidFill>
                <a:latin typeface="Calibri" pitchFamily="34" charset="0"/>
                <a:ea typeface="Calibri" pitchFamily="34" charset="-122"/>
                <a:cs typeface="Calibri" pitchFamily="34" charset="-120"/>
              </a:rPr>
              <a:t>cheaper per loading step</a:t>
            </a:r>
            <a:endParaRPr lang="en-US" sz="1400" dirty="0"/>
          </a:p>
        </p:txBody>
      </p:sp>
      <p:sp>
        <p:nvSpPr>
          <p:cNvPr id="13" name="Shape 11">
            <a:extLst>
              <a:ext uri="{FF2B5EF4-FFF2-40B4-BE49-F238E27FC236}">
                <a16:creationId xmlns:a16="http://schemas.microsoft.com/office/drawing/2014/main" id="{02C041AF-6ACD-8E2F-BF2B-65428DEEB0CF}"/>
              </a:ext>
            </a:extLst>
          </p:cNvPr>
          <p:cNvSpPr/>
          <p:nvPr/>
        </p:nvSpPr>
        <p:spPr>
          <a:xfrm>
            <a:off x="7406640" y="3886200"/>
            <a:ext cx="4206240" cy="2286000"/>
          </a:xfrm>
          <a:prstGeom prst="roundRect">
            <a:avLst>
              <a:gd name="adj" fmla="val 2400"/>
            </a:avLst>
          </a:prstGeom>
          <a:solidFill>
            <a:srgbClr val="F3F0EC"/>
          </a:solidFill>
          <a:ln w="9525">
            <a:solidFill>
              <a:srgbClr val="DCD8D3"/>
            </a:solidFill>
            <a:prstDash val="solid"/>
          </a:ln>
        </p:spPr>
        <p:txBody>
          <a:bodyPr/>
          <a:lstStyle/>
          <a:p>
            <a:endParaRPr lang="en-NL"/>
          </a:p>
        </p:txBody>
      </p:sp>
      <p:sp>
        <p:nvSpPr>
          <p:cNvPr id="14" name="Text 12">
            <a:extLst>
              <a:ext uri="{FF2B5EF4-FFF2-40B4-BE49-F238E27FC236}">
                <a16:creationId xmlns:a16="http://schemas.microsoft.com/office/drawing/2014/main" id="{23A9DCB6-F0EF-CD69-141E-98C3C5E1164B}"/>
              </a:ext>
            </a:extLst>
          </p:cNvPr>
          <p:cNvSpPr txBox="1"/>
          <p:nvPr/>
        </p:nvSpPr>
        <p:spPr>
          <a:xfrm>
            <a:off x="7726680" y="4069080"/>
            <a:ext cx="3566160" cy="320040"/>
          </a:xfrm>
          <a:prstGeom prst="rect">
            <a:avLst/>
          </a:prstGeom>
          <a:noFill/>
          <a:ln/>
        </p:spPr>
        <p:txBody>
          <a:bodyPr wrap="square" lIns="0" tIns="0" rIns="0" bIns="0" rtlCol="0" anchor="ctr"/>
          <a:lstStyle/>
          <a:p>
            <a:pPr marL="0" indent="0">
              <a:buNone/>
            </a:pPr>
            <a:r>
              <a:rPr lang="en-US" sz="1500" b="1" dirty="0">
                <a:solidFill>
                  <a:srgbClr val="B85042"/>
                </a:solidFill>
                <a:latin typeface="Calibri" pitchFamily="34" charset="0"/>
                <a:ea typeface="Calibri" pitchFamily="34" charset="-122"/>
                <a:cs typeface="Calibri" pitchFamily="34" charset="-120"/>
              </a:rPr>
              <a:t>Why it matters</a:t>
            </a:r>
            <a:endParaRPr lang="en-US" sz="1500" dirty="0"/>
          </a:p>
        </p:txBody>
      </p:sp>
      <p:sp>
        <p:nvSpPr>
          <p:cNvPr id="15" name="Text 13">
            <a:extLst>
              <a:ext uri="{FF2B5EF4-FFF2-40B4-BE49-F238E27FC236}">
                <a16:creationId xmlns:a16="http://schemas.microsoft.com/office/drawing/2014/main" id="{FBE44665-DAA9-A62B-58AA-A645458E9E11}"/>
              </a:ext>
            </a:extLst>
          </p:cNvPr>
          <p:cNvSpPr txBox="1"/>
          <p:nvPr/>
        </p:nvSpPr>
        <p:spPr>
          <a:xfrm>
            <a:off x="7726680" y="4434840"/>
            <a:ext cx="3566160" cy="1554480"/>
          </a:xfrm>
          <a:prstGeom prst="rect">
            <a:avLst/>
          </a:prstGeom>
          <a:noFill/>
          <a:ln/>
        </p:spPr>
        <p:txBody>
          <a:bodyPr wrap="square" lIns="0" tIns="0" rIns="0" bIns="0" rtlCol="0" anchor="ctr"/>
          <a:lstStyle/>
          <a:p>
            <a:pPr marL="0" indent="0">
              <a:buNone/>
            </a:pPr>
            <a:r>
              <a:rPr lang="en-US" sz="1350" dirty="0">
                <a:solidFill>
                  <a:srgbClr val="1A1A1A"/>
                </a:solidFill>
                <a:latin typeface="Calibri" pitchFamily="34" charset="0"/>
                <a:ea typeface="Calibri" pitchFamily="34" charset="-122"/>
                <a:cs typeface="Calibri" pitchFamily="34" charset="-120"/>
              </a:rPr>
              <a:t>The cost saving still holds.</a:t>
            </a:r>
            <a:endParaRPr lang="en-US" sz="1350" dirty="0"/>
          </a:p>
          <a:p>
            <a:pPr marL="0" indent="0">
              <a:buNone/>
            </a:pPr>
            <a:endParaRPr lang="en-US" sz="1350" dirty="0"/>
          </a:p>
          <a:p>
            <a:pPr marL="0" indent="0">
              <a:buNone/>
            </a:pPr>
            <a:r>
              <a:rPr lang="en-US" sz="1350" dirty="0">
                <a:solidFill>
                  <a:srgbClr val="1A1A1A"/>
                </a:solidFill>
                <a:latin typeface="Calibri" pitchFamily="34" charset="0"/>
                <a:ea typeface="Calibri" pitchFamily="34" charset="-122"/>
                <a:cs typeface="Calibri" pitchFamily="34" charset="-120"/>
              </a:rPr>
              <a:t>Only the amplitude rule is in question.</a:t>
            </a:r>
            <a:endParaRPr lang="en-US" sz="1350" dirty="0"/>
          </a:p>
        </p:txBody>
      </p:sp>
      <p:pic>
        <p:nvPicPr>
          <p:cNvPr id="6" name="Picture 5">
            <a:extLst>
              <a:ext uri="{FF2B5EF4-FFF2-40B4-BE49-F238E27FC236}">
                <a16:creationId xmlns:a16="http://schemas.microsoft.com/office/drawing/2014/main" id="{BE7E473C-50B4-8474-C71D-C9A3DA93B396}"/>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a:fillRect/>
          </a:stretch>
        </p:blipFill>
        <p:spPr bwMode="auto">
          <a:xfrm>
            <a:off x="1125198" y="1431076"/>
            <a:ext cx="5163175" cy="4868275"/>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0026215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02920" y="384048"/>
            <a:ext cx="384048" cy="384048"/>
          </a:xfrm>
          <a:prstGeom prst="ellipse">
            <a:avLst/>
          </a:prstGeom>
          <a:solidFill>
            <a:srgbClr val="B85042"/>
          </a:solidFill>
          <a:ln/>
        </p:spPr>
        <p:txBody>
          <a:bodyPr/>
          <a:lstStyle/>
          <a:p>
            <a:endParaRPr lang="en-NL"/>
          </a:p>
        </p:txBody>
      </p:sp>
      <p:sp>
        <p:nvSpPr>
          <p:cNvPr id="3" name="Text 1"/>
          <p:cNvSpPr txBox="1"/>
          <p:nvPr/>
        </p:nvSpPr>
        <p:spPr>
          <a:xfrm>
            <a:off x="502920" y="38404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4" name="Text 2"/>
          <p:cNvSpPr txBox="1"/>
          <p:nvPr/>
        </p:nvSpPr>
        <p:spPr>
          <a:xfrm>
            <a:off x="1051560" y="329184"/>
            <a:ext cx="10607040" cy="530352"/>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The model</a:t>
            </a:r>
            <a:endParaRPr lang="en-US" sz="3000" dirty="0"/>
          </a:p>
        </p:txBody>
      </p:sp>
      <p:sp>
        <p:nvSpPr>
          <p:cNvPr id="5" name="Text 3"/>
          <p:cNvSpPr txBox="1"/>
          <p:nvPr/>
        </p:nvSpPr>
        <p:spPr>
          <a:xfrm>
            <a:off x="1051560" y="877824"/>
            <a:ext cx="10607040" cy="310896"/>
          </a:xfrm>
          <a:prstGeom prst="rect">
            <a:avLst/>
          </a:prstGeom>
          <a:noFill/>
          <a:ln/>
        </p:spPr>
        <p:txBody>
          <a:bodyPr wrap="square" lIns="0" tIns="0" rIns="0" bIns="0" rtlCol="0" anchor="ctr"/>
          <a:lstStyle/>
          <a:p>
            <a:pPr marL="0" indent="0">
              <a:buNone/>
            </a:pPr>
            <a:r>
              <a:rPr lang="en-US" sz="1400" i="1" dirty="0">
                <a:solidFill>
                  <a:srgbClr val="6B6B6B"/>
                </a:solidFill>
                <a:latin typeface="Calibri" pitchFamily="34" charset="0"/>
                <a:ea typeface="Calibri" pitchFamily="34" charset="-122"/>
                <a:cs typeface="Calibri" pitchFamily="34" charset="-120"/>
              </a:rPr>
              <a:t>3DEC 9 — rigid blocks, all nonlinearity in the joints</a:t>
            </a:r>
            <a:endParaRPr lang="en-US" sz="1400" dirty="0"/>
          </a:p>
        </p:txBody>
      </p:sp>
      <p:pic>
        <p:nvPicPr>
          <p:cNvPr id="6" name="Image 0" descr="/tmp/work/deck/fig_model3d.png"/>
          <p:cNvPicPr>
            <a:picLocks noChangeAspect="1"/>
          </p:cNvPicPr>
          <p:nvPr/>
        </p:nvPicPr>
        <p:blipFill>
          <a:blip r:embed="rId3"/>
          <a:stretch>
            <a:fillRect/>
          </a:stretch>
        </p:blipFill>
        <p:spPr>
          <a:xfrm>
            <a:off x="640080" y="1463040"/>
            <a:ext cx="2633472" cy="4114800"/>
          </a:xfrm>
          <a:prstGeom prst="rect">
            <a:avLst/>
          </a:prstGeom>
        </p:spPr>
      </p:pic>
      <p:pic>
        <p:nvPicPr>
          <p:cNvPr id="7" name="Image 1" descr="/tmp/work/deck/fig_modelside.png"/>
          <p:cNvPicPr>
            <a:picLocks noChangeAspect="1"/>
          </p:cNvPicPr>
          <p:nvPr/>
        </p:nvPicPr>
        <p:blipFill>
          <a:blip r:embed="rId4"/>
          <a:stretch>
            <a:fillRect/>
          </a:stretch>
        </p:blipFill>
        <p:spPr>
          <a:xfrm>
            <a:off x="3474720" y="1463040"/>
            <a:ext cx="2340864" cy="4114800"/>
          </a:xfrm>
          <a:prstGeom prst="rect">
            <a:avLst/>
          </a:prstGeom>
        </p:spPr>
      </p:pic>
      <p:pic>
        <p:nvPicPr>
          <p:cNvPr id="8" name="Image 2" descr="/tmp/work/deck/fig_modelleg.png"/>
          <p:cNvPicPr>
            <a:picLocks noChangeAspect="1"/>
          </p:cNvPicPr>
          <p:nvPr/>
        </p:nvPicPr>
        <p:blipFill>
          <a:blip r:embed="rId5"/>
          <a:stretch>
            <a:fillRect/>
          </a:stretch>
        </p:blipFill>
        <p:spPr>
          <a:xfrm>
            <a:off x="2743200" y="5715000"/>
            <a:ext cx="1417320" cy="987552"/>
          </a:xfrm>
          <a:prstGeom prst="rect">
            <a:avLst/>
          </a:prstGeom>
        </p:spPr>
      </p:pic>
      <p:sp>
        <p:nvSpPr>
          <p:cNvPr id="9" name="Shape 4"/>
          <p:cNvSpPr/>
          <p:nvPr/>
        </p:nvSpPr>
        <p:spPr>
          <a:xfrm>
            <a:off x="6309360" y="1463040"/>
            <a:ext cx="5349240" cy="4114800"/>
          </a:xfrm>
          <a:prstGeom prst="roundRect">
            <a:avLst>
              <a:gd name="adj" fmla="val 1333"/>
            </a:avLst>
          </a:prstGeom>
          <a:solidFill>
            <a:srgbClr val="FFFFFF"/>
          </a:solidFill>
          <a:ln w="9525">
            <a:solidFill>
              <a:srgbClr val="DCD8D3"/>
            </a:solidFill>
            <a:prstDash val="solid"/>
          </a:ln>
        </p:spPr>
        <p:txBody>
          <a:bodyPr/>
          <a:lstStyle/>
          <a:p>
            <a:endParaRPr lang="en-NL"/>
          </a:p>
        </p:txBody>
      </p:sp>
      <p:sp>
        <p:nvSpPr>
          <p:cNvPr id="10" name="Text 5"/>
          <p:cNvSpPr txBox="1"/>
          <p:nvPr/>
        </p:nvSpPr>
        <p:spPr>
          <a:xfrm>
            <a:off x="6583680" y="1664208"/>
            <a:ext cx="1234440" cy="292608"/>
          </a:xfrm>
          <a:prstGeom prst="rect">
            <a:avLst/>
          </a:prstGeom>
          <a:noFill/>
          <a:ln/>
        </p:spPr>
        <p:txBody>
          <a:bodyPr wrap="square" lIns="0" tIns="0" rIns="0" bIns="0" rtlCol="0" anchor="ctr"/>
          <a:lstStyle/>
          <a:p>
            <a:pPr marL="0" indent="0">
              <a:buNone/>
            </a:pPr>
            <a:r>
              <a:rPr lang="en-US" sz="1250" b="1" dirty="0">
                <a:solidFill>
                  <a:srgbClr val="B85042"/>
                </a:solidFill>
                <a:latin typeface="Calibri" pitchFamily="34" charset="0"/>
                <a:ea typeface="Calibri" pitchFamily="34" charset="-122"/>
                <a:cs typeface="Calibri" pitchFamily="34" charset="-120"/>
              </a:rPr>
              <a:t>Blocks</a:t>
            </a:r>
            <a:endParaRPr lang="en-US" sz="1250" dirty="0"/>
          </a:p>
        </p:txBody>
      </p:sp>
      <p:sp>
        <p:nvSpPr>
          <p:cNvPr id="11" name="Text 6"/>
          <p:cNvSpPr txBox="1"/>
          <p:nvPr/>
        </p:nvSpPr>
        <p:spPr>
          <a:xfrm>
            <a:off x="7863840" y="1664208"/>
            <a:ext cx="3611880" cy="713232"/>
          </a:xfrm>
          <a:prstGeom prst="rect">
            <a:avLst/>
          </a:prstGeom>
          <a:noFill/>
          <a:ln/>
        </p:spPr>
        <p:txBody>
          <a:bodyPr wrap="square" lIns="0" tIns="0" rIns="0" bIns="0" rtlCol="0" anchor="ctr"/>
          <a:lstStyle/>
          <a:p>
            <a:pPr marL="0" indent="0">
              <a:buNone/>
            </a:pPr>
            <a:r>
              <a:rPr lang="en-US" sz="1150" dirty="0">
                <a:solidFill>
                  <a:srgbClr val="1A1A1A"/>
                </a:solidFill>
                <a:latin typeface="Calibri" pitchFamily="34" charset="0"/>
                <a:ea typeface="Calibri" pitchFamily="34" charset="-122"/>
                <a:cs typeface="Calibri" pitchFamily="34" charset="-120"/>
              </a:rPr>
              <a:t>Rigid. Wall 1.292 × 2.58 × 0.21 m, 1884 kg/m³. Timber joists at two levels; steel top beam and base.</a:t>
            </a:r>
            <a:endParaRPr lang="en-US" sz="1150" dirty="0"/>
          </a:p>
        </p:txBody>
      </p:sp>
      <p:sp>
        <p:nvSpPr>
          <p:cNvPr id="12" name="Text 7"/>
          <p:cNvSpPr txBox="1"/>
          <p:nvPr/>
        </p:nvSpPr>
        <p:spPr>
          <a:xfrm>
            <a:off x="6583680" y="2441448"/>
            <a:ext cx="1234440" cy="292608"/>
          </a:xfrm>
          <a:prstGeom prst="rect">
            <a:avLst/>
          </a:prstGeom>
          <a:noFill/>
          <a:ln/>
        </p:spPr>
        <p:txBody>
          <a:bodyPr wrap="square" lIns="0" tIns="0" rIns="0" bIns="0" rtlCol="0" anchor="ctr"/>
          <a:lstStyle/>
          <a:p>
            <a:pPr marL="0" indent="0">
              <a:buNone/>
            </a:pPr>
            <a:r>
              <a:rPr lang="en-US" sz="1250" b="1" dirty="0">
                <a:solidFill>
                  <a:srgbClr val="B85042"/>
                </a:solidFill>
                <a:latin typeface="Calibri" pitchFamily="34" charset="0"/>
                <a:ea typeface="Calibri" pitchFamily="34" charset="-122"/>
                <a:cs typeface="Calibri" pitchFamily="34" charset="-120"/>
              </a:rPr>
              <a:t>Joints</a:t>
            </a:r>
            <a:endParaRPr lang="en-US" sz="1250" dirty="0"/>
          </a:p>
        </p:txBody>
      </p:sp>
      <p:sp>
        <p:nvSpPr>
          <p:cNvPr id="13" name="Text 8"/>
          <p:cNvSpPr txBox="1"/>
          <p:nvPr/>
        </p:nvSpPr>
        <p:spPr>
          <a:xfrm>
            <a:off x="7863840" y="2441448"/>
            <a:ext cx="3611880" cy="713232"/>
          </a:xfrm>
          <a:prstGeom prst="rect">
            <a:avLst/>
          </a:prstGeom>
          <a:noFill/>
          <a:ln/>
        </p:spPr>
        <p:txBody>
          <a:bodyPr wrap="square" lIns="0" tIns="0" rIns="0" bIns="0" rtlCol="0" anchor="ctr"/>
          <a:lstStyle/>
          <a:p>
            <a:pPr marL="0" indent="0">
              <a:buNone/>
            </a:pPr>
            <a:r>
              <a:rPr lang="en-US" sz="1150" dirty="0">
                <a:solidFill>
                  <a:srgbClr val="1A1A1A"/>
                </a:solidFill>
                <a:latin typeface="Calibri" pitchFamily="34" charset="0"/>
                <a:ea typeface="Calibri" pitchFamily="34" charset="-122"/>
                <a:cs typeface="Calibri" pitchFamily="34" charset="-120"/>
              </a:rPr>
              <a:t>MASON cohesive-frictional contact model: ft 0.2, c 0.3, fc 20 MPa, φ 36.9°, kn = ks = 2.5 GPa/m.</a:t>
            </a:r>
            <a:endParaRPr lang="en-US" sz="1150" dirty="0"/>
          </a:p>
        </p:txBody>
      </p:sp>
      <p:sp>
        <p:nvSpPr>
          <p:cNvPr id="14" name="Text 9"/>
          <p:cNvSpPr txBox="1"/>
          <p:nvPr/>
        </p:nvSpPr>
        <p:spPr>
          <a:xfrm>
            <a:off x="6583680" y="3218688"/>
            <a:ext cx="1234440" cy="292608"/>
          </a:xfrm>
          <a:prstGeom prst="rect">
            <a:avLst/>
          </a:prstGeom>
          <a:noFill/>
          <a:ln/>
        </p:spPr>
        <p:txBody>
          <a:bodyPr wrap="square" lIns="0" tIns="0" rIns="0" bIns="0" rtlCol="0" anchor="ctr"/>
          <a:lstStyle/>
          <a:p>
            <a:pPr marL="0" indent="0">
              <a:buNone/>
            </a:pPr>
            <a:r>
              <a:rPr lang="en-US" sz="1250" b="1" dirty="0">
                <a:solidFill>
                  <a:srgbClr val="B85042"/>
                </a:solidFill>
                <a:latin typeface="Calibri" pitchFamily="34" charset="0"/>
                <a:ea typeface="Calibri" pitchFamily="34" charset="-122"/>
                <a:cs typeface="Calibri" pitchFamily="34" charset="-120"/>
              </a:rPr>
              <a:t>Top beam</a:t>
            </a:r>
            <a:endParaRPr lang="en-US" sz="1250" dirty="0"/>
          </a:p>
        </p:txBody>
      </p:sp>
      <p:sp>
        <p:nvSpPr>
          <p:cNvPr id="15" name="Text 10"/>
          <p:cNvSpPr txBox="1"/>
          <p:nvPr/>
        </p:nvSpPr>
        <p:spPr>
          <a:xfrm>
            <a:off x="7863840" y="3218688"/>
            <a:ext cx="3611880" cy="713232"/>
          </a:xfrm>
          <a:prstGeom prst="rect">
            <a:avLst/>
          </a:prstGeom>
          <a:noFill/>
          <a:ln/>
        </p:spPr>
        <p:txBody>
          <a:bodyPr wrap="square" lIns="0" tIns="0" rIns="0" bIns="0" rtlCol="0" anchor="ctr"/>
          <a:lstStyle/>
          <a:p>
            <a:pPr marL="0" indent="0">
              <a:buNone/>
            </a:pPr>
            <a:r>
              <a:rPr lang="en-US" sz="1150" dirty="0">
                <a:solidFill>
                  <a:srgbClr val="1A1A1A"/>
                </a:solidFill>
                <a:latin typeface="Calibri" pitchFamily="34" charset="0"/>
                <a:ea typeface="Calibri" pitchFamily="34" charset="-122"/>
                <a:cs typeface="Calibri" pitchFamily="34" charset="-120"/>
              </a:rPr>
              <a:t>Held horizontally, free to rotate. 10.35 kN spring load applied as a constant force.</a:t>
            </a:r>
            <a:endParaRPr lang="en-US" sz="1150" dirty="0"/>
          </a:p>
        </p:txBody>
      </p:sp>
      <p:sp>
        <p:nvSpPr>
          <p:cNvPr id="16" name="Text 11"/>
          <p:cNvSpPr txBox="1"/>
          <p:nvPr/>
        </p:nvSpPr>
        <p:spPr>
          <a:xfrm>
            <a:off x="6583680" y="3995928"/>
            <a:ext cx="1234440" cy="292608"/>
          </a:xfrm>
          <a:prstGeom prst="rect">
            <a:avLst/>
          </a:prstGeom>
          <a:noFill/>
          <a:ln/>
        </p:spPr>
        <p:txBody>
          <a:bodyPr wrap="square" lIns="0" tIns="0" rIns="0" bIns="0" rtlCol="0" anchor="ctr"/>
          <a:lstStyle/>
          <a:p>
            <a:pPr marL="0" indent="0">
              <a:buNone/>
            </a:pPr>
            <a:r>
              <a:rPr lang="en-US" sz="1250" b="1" dirty="0">
                <a:solidFill>
                  <a:srgbClr val="B85042"/>
                </a:solidFill>
                <a:latin typeface="Calibri" pitchFamily="34" charset="0"/>
                <a:ea typeface="Calibri" pitchFamily="34" charset="-122"/>
                <a:cs typeface="Calibri" pitchFamily="34" charset="-120"/>
              </a:rPr>
              <a:t>Loading</a:t>
            </a:r>
            <a:endParaRPr lang="en-US" sz="1250" dirty="0"/>
          </a:p>
        </p:txBody>
      </p:sp>
      <p:sp>
        <p:nvSpPr>
          <p:cNvPr id="17" name="Text 12"/>
          <p:cNvSpPr txBox="1"/>
          <p:nvPr/>
        </p:nvSpPr>
        <p:spPr>
          <a:xfrm>
            <a:off x="7863840" y="3995928"/>
            <a:ext cx="3611880" cy="713232"/>
          </a:xfrm>
          <a:prstGeom prst="rect">
            <a:avLst/>
          </a:prstGeom>
          <a:noFill/>
          <a:ln/>
        </p:spPr>
        <p:txBody>
          <a:bodyPr wrap="square" lIns="0" tIns="0" rIns="0" bIns="0" rtlCol="0" anchor="ctr"/>
          <a:lstStyle/>
          <a:p>
            <a:pPr marL="0" indent="0">
              <a:buNone/>
            </a:pPr>
            <a:r>
              <a:rPr lang="en-US" sz="1150" dirty="0">
                <a:solidFill>
                  <a:srgbClr val="1A1A1A"/>
                </a:solidFill>
                <a:latin typeface="Calibri" pitchFamily="34" charset="0"/>
                <a:ea typeface="Calibri" pitchFamily="34" charset="-122"/>
                <a:cs typeface="Calibri" pitchFamily="34" charset="-120"/>
              </a:rPr>
              <a:t>Base and top beam driven with the measured table motion, scaled per Table 2.</a:t>
            </a:r>
            <a:endParaRPr lang="en-US" sz="1150" dirty="0"/>
          </a:p>
        </p:txBody>
      </p:sp>
      <p:sp>
        <p:nvSpPr>
          <p:cNvPr id="18" name="Text 13"/>
          <p:cNvSpPr txBox="1"/>
          <p:nvPr/>
        </p:nvSpPr>
        <p:spPr>
          <a:xfrm>
            <a:off x="6583680" y="4773168"/>
            <a:ext cx="1234440" cy="292608"/>
          </a:xfrm>
          <a:prstGeom prst="rect">
            <a:avLst/>
          </a:prstGeom>
          <a:noFill/>
          <a:ln/>
        </p:spPr>
        <p:txBody>
          <a:bodyPr wrap="square" lIns="0" tIns="0" rIns="0" bIns="0" rtlCol="0" anchor="ctr"/>
          <a:lstStyle/>
          <a:p>
            <a:pPr marL="0" indent="0">
              <a:buNone/>
            </a:pPr>
            <a:r>
              <a:rPr lang="en-US" sz="1250" b="1" dirty="0">
                <a:solidFill>
                  <a:srgbClr val="B85042"/>
                </a:solidFill>
                <a:latin typeface="Calibri" pitchFamily="34" charset="0"/>
                <a:ea typeface="Calibri" pitchFamily="34" charset="-122"/>
                <a:cs typeface="Calibri" pitchFamily="34" charset="-120"/>
              </a:rPr>
              <a:t>This run</a:t>
            </a:r>
            <a:endParaRPr lang="en-US" sz="1250" dirty="0"/>
          </a:p>
        </p:txBody>
      </p:sp>
      <p:sp>
        <p:nvSpPr>
          <p:cNvPr id="19" name="Text 14"/>
          <p:cNvSpPr txBox="1"/>
          <p:nvPr/>
        </p:nvSpPr>
        <p:spPr>
          <a:xfrm>
            <a:off x="7863840" y="4773168"/>
            <a:ext cx="3611880" cy="713232"/>
          </a:xfrm>
          <a:prstGeom prst="rect">
            <a:avLst/>
          </a:prstGeom>
          <a:noFill/>
          <a:ln/>
        </p:spPr>
        <p:txBody>
          <a:bodyPr wrap="square" lIns="0" tIns="0" rIns="0" bIns="0" rtlCol="0" anchor="ctr"/>
          <a:lstStyle/>
          <a:p>
            <a:pPr marL="0" indent="0">
              <a:buNone/>
            </a:pPr>
            <a:r>
              <a:rPr lang="en-US" sz="1150" dirty="0">
                <a:solidFill>
                  <a:srgbClr val="1A1A1A"/>
                </a:solidFill>
                <a:latin typeface="Calibri" pitchFamily="34" charset="0"/>
                <a:ea typeface="Calibri" pitchFamily="34" charset="-122"/>
                <a:cs typeface="Calibri" pitchFamily="34" charset="-120"/>
              </a:rPr>
              <a:t>Small strain, no added damping — contact dissipation only.</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02920" y="384048"/>
            <a:ext cx="384048" cy="384048"/>
          </a:xfrm>
          <a:prstGeom prst="ellipse">
            <a:avLst/>
          </a:prstGeom>
          <a:solidFill>
            <a:srgbClr val="B85042"/>
          </a:solidFill>
          <a:ln/>
        </p:spPr>
        <p:txBody>
          <a:bodyPr/>
          <a:lstStyle/>
          <a:p>
            <a:endParaRPr lang="en-NL"/>
          </a:p>
        </p:txBody>
      </p:sp>
      <p:sp>
        <p:nvSpPr>
          <p:cNvPr id="3" name="Text 1"/>
          <p:cNvSpPr txBox="1"/>
          <p:nvPr/>
        </p:nvSpPr>
        <p:spPr>
          <a:xfrm>
            <a:off x="502920" y="38404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4" name="Text 2"/>
          <p:cNvSpPr txBox="1"/>
          <p:nvPr/>
        </p:nvSpPr>
        <p:spPr>
          <a:xfrm>
            <a:off x="1051560" y="329184"/>
            <a:ext cx="10607040" cy="530352"/>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The open problem: the last runs</a:t>
            </a:r>
            <a:endParaRPr lang="en-US" sz="3000" dirty="0"/>
          </a:p>
        </p:txBody>
      </p:sp>
      <p:sp>
        <p:nvSpPr>
          <p:cNvPr id="5" name="Text 3"/>
          <p:cNvSpPr txBox="1"/>
          <p:nvPr/>
        </p:nvSpPr>
        <p:spPr>
          <a:xfrm>
            <a:off x="1051560" y="877824"/>
            <a:ext cx="10607040" cy="310896"/>
          </a:xfrm>
          <a:prstGeom prst="rect">
            <a:avLst/>
          </a:prstGeom>
          <a:noFill/>
          <a:ln/>
        </p:spPr>
        <p:txBody>
          <a:bodyPr wrap="square" lIns="0" tIns="0" rIns="0" bIns="0" rtlCol="0" anchor="ctr"/>
          <a:lstStyle/>
          <a:p>
            <a:pPr marL="0" indent="0">
              <a:buNone/>
            </a:pPr>
            <a:r>
              <a:rPr lang="en-US" sz="1400" i="1" dirty="0">
                <a:solidFill>
                  <a:srgbClr val="6B6B6B"/>
                </a:solidFill>
                <a:latin typeface="Calibri" pitchFamily="34" charset="0"/>
                <a:ea typeface="Calibri" pitchFamily="34" charset="-122"/>
                <a:cs typeface="Calibri" pitchFamily="34" charset="-120"/>
              </a:rPr>
              <a:t>Everything up to run ~15 is fine. The last runs are not.</a:t>
            </a:r>
            <a:endParaRPr lang="en-US" sz="1400" dirty="0"/>
          </a:p>
        </p:txBody>
      </p:sp>
      <p:pic>
        <p:nvPicPr>
          <p:cNvPr id="6" name="Image 0" descr="/tmp/work/deck/fig_demand.png"/>
          <p:cNvPicPr>
            <a:picLocks noChangeAspect="1"/>
          </p:cNvPicPr>
          <p:nvPr/>
        </p:nvPicPr>
        <p:blipFill>
          <a:blip r:embed="rId3"/>
          <a:stretch>
            <a:fillRect/>
          </a:stretch>
        </p:blipFill>
        <p:spPr>
          <a:xfrm>
            <a:off x="548640" y="1463040"/>
            <a:ext cx="6858000" cy="3794760"/>
          </a:xfrm>
          <a:prstGeom prst="rect">
            <a:avLst/>
          </a:prstGeom>
        </p:spPr>
      </p:pic>
      <p:sp>
        <p:nvSpPr>
          <p:cNvPr id="7" name="Text 4"/>
          <p:cNvSpPr txBox="1"/>
          <p:nvPr/>
        </p:nvSpPr>
        <p:spPr>
          <a:xfrm>
            <a:off x="502920" y="5330952"/>
            <a:ext cx="11155680" cy="384048"/>
          </a:xfrm>
          <a:prstGeom prst="rect">
            <a:avLst/>
          </a:prstGeom>
          <a:noFill/>
          <a:ln/>
        </p:spPr>
        <p:txBody>
          <a:bodyPr wrap="square" lIns="0" tIns="0" rIns="0" bIns="0" rtlCol="0" anchor="ctr"/>
          <a:lstStyle/>
          <a:p>
            <a:pPr marL="0" indent="0">
              <a:buNone/>
            </a:pPr>
            <a:r>
              <a:rPr lang="en-US" sz="1100" i="1" dirty="0">
                <a:solidFill>
                  <a:srgbClr val="6B6B6B"/>
                </a:solidFill>
                <a:latin typeface="Calibri" pitchFamily="34" charset="0"/>
                <a:ea typeface="Calibri" pitchFamily="34" charset="-122"/>
                <a:cs typeface="Calibri" pitchFamily="34" charset="-120"/>
              </a:rPr>
              <a:t>IMC2026, symmetric adaptive pulse. Experiment and model separate from run ~16 onward.</a:t>
            </a:r>
            <a:endParaRPr lang="en-US" sz="1100" dirty="0"/>
          </a:p>
        </p:txBody>
      </p:sp>
      <p:sp>
        <p:nvSpPr>
          <p:cNvPr id="8" name="Text 5"/>
          <p:cNvSpPr txBox="1"/>
          <p:nvPr/>
        </p:nvSpPr>
        <p:spPr>
          <a:xfrm>
            <a:off x="502920" y="5577840"/>
            <a:ext cx="6949440" cy="685800"/>
          </a:xfrm>
          <a:prstGeom prst="rect">
            <a:avLst/>
          </a:prstGeom>
          <a:noFill/>
          <a:ln/>
        </p:spPr>
        <p:txBody>
          <a:bodyPr wrap="square" lIns="0" tIns="0" rIns="0" bIns="0" rtlCol="0" anchor="ctr"/>
          <a:lstStyle/>
          <a:p>
            <a:pPr marL="0" indent="0">
              <a:buNone/>
            </a:pPr>
            <a:r>
              <a:rPr lang="en-US" sz="1100" b="1" dirty="0">
                <a:solidFill>
                  <a:srgbClr val="B85042"/>
                </a:solidFill>
                <a:latin typeface="Calibri" pitchFamily="34" charset="0"/>
                <a:ea typeface="Calibri" pitchFamily="34" charset="-122"/>
                <a:cs typeface="Calibri" pitchFamily="34" charset="-120"/>
              </a:rPr>
              <a:t>CORRECTION: no wall collapsed.  </a:t>
            </a:r>
            <a:r>
              <a:rPr lang="en-US" sz="1100" dirty="0">
                <a:solidFill>
                  <a:srgbClr val="1A1A1A"/>
                </a:solidFill>
                <a:latin typeface="Calibri" pitchFamily="34" charset="0"/>
                <a:ea typeface="Calibri" pitchFamily="34" charset="-122"/>
                <a:cs typeface="Calibri" pitchFamily="34" charset="-120"/>
              </a:rPr>
              <a:t>All four tests stopped at the table limit (0.78 g, ±70 mm stroke). US-1 and US-2 only lose strength after their peak.</a:t>
            </a:r>
            <a:endParaRPr lang="en-US" sz="1100" dirty="0"/>
          </a:p>
        </p:txBody>
      </p:sp>
      <p:sp>
        <p:nvSpPr>
          <p:cNvPr id="9" name="Shape 6"/>
          <p:cNvSpPr/>
          <p:nvPr/>
        </p:nvSpPr>
        <p:spPr>
          <a:xfrm>
            <a:off x="7680960" y="1463040"/>
            <a:ext cx="3931920" cy="1051560"/>
          </a:xfrm>
          <a:prstGeom prst="roundRect">
            <a:avLst>
              <a:gd name="adj" fmla="val 5217"/>
            </a:avLst>
          </a:prstGeom>
          <a:solidFill>
            <a:srgbClr val="FFFFFF"/>
          </a:solidFill>
          <a:ln w="9525">
            <a:solidFill>
              <a:srgbClr val="DCD8D3"/>
            </a:solidFill>
            <a:prstDash val="solid"/>
          </a:ln>
        </p:spPr>
        <p:txBody>
          <a:bodyPr/>
          <a:lstStyle/>
          <a:p>
            <a:endParaRPr lang="en-NL"/>
          </a:p>
        </p:txBody>
      </p:sp>
      <p:sp>
        <p:nvSpPr>
          <p:cNvPr id="10" name="Text 7"/>
          <p:cNvSpPr txBox="1"/>
          <p:nvPr/>
        </p:nvSpPr>
        <p:spPr>
          <a:xfrm>
            <a:off x="7955280" y="1572768"/>
            <a:ext cx="3383280" cy="274320"/>
          </a:xfrm>
          <a:prstGeom prst="rect">
            <a:avLst/>
          </a:prstGeom>
          <a:noFill/>
          <a:ln/>
        </p:spPr>
        <p:txBody>
          <a:bodyPr wrap="square" lIns="0" tIns="0" rIns="0" bIns="0" rtlCol="0" anchor="ctr"/>
          <a:lstStyle/>
          <a:p>
            <a:pPr marL="0" indent="0">
              <a:buNone/>
            </a:pPr>
            <a:r>
              <a:rPr lang="en-US" sz="1300" b="1" dirty="0">
                <a:solidFill>
                  <a:srgbClr val="6B6B6B"/>
                </a:solidFill>
                <a:latin typeface="Calibri" pitchFamily="34" charset="0"/>
                <a:ea typeface="Calibri" pitchFamily="34" charset="-122"/>
                <a:cs typeface="Calibri" pitchFamily="34" charset="-120"/>
              </a:rPr>
              <a:t>Run 21</a:t>
            </a:r>
            <a:endParaRPr lang="en-US" sz="1300" dirty="0"/>
          </a:p>
        </p:txBody>
      </p:sp>
      <p:sp>
        <p:nvSpPr>
          <p:cNvPr id="11" name="Text 8"/>
          <p:cNvSpPr txBox="1"/>
          <p:nvPr/>
        </p:nvSpPr>
        <p:spPr>
          <a:xfrm>
            <a:off x="7955280" y="1847088"/>
            <a:ext cx="2103120" cy="292608"/>
          </a:xfrm>
          <a:prstGeom prst="rect">
            <a:avLst/>
          </a:prstGeom>
          <a:noFill/>
          <a:ln/>
        </p:spPr>
        <p:txBody>
          <a:bodyPr wrap="square" lIns="0" tIns="0" rIns="0" bIns="0" rtlCol="0" anchor="ctr"/>
          <a:lstStyle/>
          <a:p>
            <a:pPr marL="0" indent="0">
              <a:buNone/>
            </a:pPr>
            <a:r>
              <a:rPr lang="en-US" sz="1400" dirty="0">
                <a:solidFill>
                  <a:srgbClr val="1A1A1A"/>
                </a:solidFill>
                <a:latin typeface="Calibri" pitchFamily="34" charset="0"/>
                <a:ea typeface="Calibri" pitchFamily="34" charset="-122"/>
                <a:cs typeface="Calibri" pitchFamily="34" charset="-120"/>
              </a:rPr>
              <a:t>16.4 mm measured</a:t>
            </a:r>
            <a:endParaRPr lang="en-US" sz="1400" dirty="0"/>
          </a:p>
        </p:txBody>
      </p:sp>
      <p:sp>
        <p:nvSpPr>
          <p:cNvPr id="12" name="Text 9"/>
          <p:cNvSpPr txBox="1"/>
          <p:nvPr/>
        </p:nvSpPr>
        <p:spPr>
          <a:xfrm>
            <a:off x="7955280" y="2139696"/>
            <a:ext cx="3383280" cy="292608"/>
          </a:xfrm>
          <a:prstGeom prst="rect">
            <a:avLst/>
          </a:prstGeom>
          <a:noFill/>
          <a:ln/>
        </p:spPr>
        <p:txBody>
          <a:bodyPr wrap="square" lIns="0" tIns="0" rIns="0" bIns="0" rtlCol="0" anchor="ctr"/>
          <a:lstStyle/>
          <a:p>
            <a:pPr marL="0" indent="0">
              <a:buNone/>
            </a:pPr>
            <a:r>
              <a:rPr lang="en-US" sz="1500" b="1" dirty="0">
                <a:solidFill>
                  <a:srgbClr val="B85042"/>
                </a:solidFill>
                <a:latin typeface="Calibri" pitchFamily="34" charset="0"/>
                <a:ea typeface="Calibri" pitchFamily="34" charset="-122"/>
                <a:cs typeface="Calibri" pitchFamily="34" charset="-120"/>
              </a:rPr>
              <a:t>1.6 – 2.8× short</a:t>
            </a:r>
            <a:endParaRPr lang="en-US" sz="1500" dirty="0"/>
          </a:p>
        </p:txBody>
      </p:sp>
      <p:sp>
        <p:nvSpPr>
          <p:cNvPr id="13" name="Shape 10"/>
          <p:cNvSpPr/>
          <p:nvPr/>
        </p:nvSpPr>
        <p:spPr>
          <a:xfrm>
            <a:off x="7680960" y="2697480"/>
            <a:ext cx="3931920" cy="1051560"/>
          </a:xfrm>
          <a:prstGeom prst="roundRect">
            <a:avLst>
              <a:gd name="adj" fmla="val 5217"/>
            </a:avLst>
          </a:prstGeom>
          <a:solidFill>
            <a:srgbClr val="FFFFFF"/>
          </a:solidFill>
          <a:ln w="9525">
            <a:solidFill>
              <a:srgbClr val="DCD8D3"/>
            </a:solidFill>
            <a:prstDash val="solid"/>
          </a:ln>
        </p:spPr>
        <p:txBody>
          <a:bodyPr/>
          <a:lstStyle/>
          <a:p>
            <a:endParaRPr lang="en-NL"/>
          </a:p>
        </p:txBody>
      </p:sp>
      <p:sp>
        <p:nvSpPr>
          <p:cNvPr id="14" name="Text 11"/>
          <p:cNvSpPr txBox="1"/>
          <p:nvPr/>
        </p:nvSpPr>
        <p:spPr>
          <a:xfrm>
            <a:off x="7955280" y="2807208"/>
            <a:ext cx="3383280" cy="274320"/>
          </a:xfrm>
          <a:prstGeom prst="rect">
            <a:avLst/>
          </a:prstGeom>
          <a:noFill/>
          <a:ln/>
        </p:spPr>
        <p:txBody>
          <a:bodyPr wrap="square" lIns="0" tIns="0" rIns="0" bIns="0" rtlCol="0" anchor="ctr"/>
          <a:lstStyle/>
          <a:p>
            <a:pPr marL="0" indent="0">
              <a:buNone/>
            </a:pPr>
            <a:r>
              <a:rPr lang="en-US" sz="1300" b="1" dirty="0">
                <a:solidFill>
                  <a:srgbClr val="6B6B6B"/>
                </a:solidFill>
                <a:latin typeface="Calibri" pitchFamily="34" charset="0"/>
                <a:ea typeface="Calibri" pitchFamily="34" charset="-122"/>
                <a:cs typeface="Calibri" pitchFamily="34" charset="-120"/>
              </a:rPr>
              <a:t>Run 24</a:t>
            </a:r>
            <a:endParaRPr lang="en-US" sz="1300" dirty="0"/>
          </a:p>
        </p:txBody>
      </p:sp>
      <p:sp>
        <p:nvSpPr>
          <p:cNvPr id="15" name="Text 12"/>
          <p:cNvSpPr txBox="1"/>
          <p:nvPr/>
        </p:nvSpPr>
        <p:spPr>
          <a:xfrm>
            <a:off x="7955280" y="3081528"/>
            <a:ext cx="2103120" cy="292608"/>
          </a:xfrm>
          <a:prstGeom prst="rect">
            <a:avLst/>
          </a:prstGeom>
          <a:noFill/>
          <a:ln/>
        </p:spPr>
        <p:txBody>
          <a:bodyPr wrap="square" lIns="0" tIns="0" rIns="0" bIns="0" rtlCol="0" anchor="ctr"/>
          <a:lstStyle/>
          <a:p>
            <a:pPr marL="0" indent="0">
              <a:buNone/>
            </a:pPr>
            <a:r>
              <a:rPr lang="en-US" sz="1400" dirty="0">
                <a:solidFill>
                  <a:srgbClr val="1A1A1A"/>
                </a:solidFill>
                <a:latin typeface="Calibri" pitchFamily="34" charset="0"/>
                <a:ea typeface="Calibri" pitchFamily="34" charset="-122"/>
                <a:cs typeface="Calibri" pitchFamily="34" charset="-120"/>
              </a:rPr>
              <a:t>29.5 mm measured</a:t>
            </a:r>
            <a:endParaRPr lang="en-US" sz="1400" dirty="0"/>
          </a:p>
        </p:txBody>
      </p:sp>
      <p:sp>
        <p:nvSpPr>
          <p:cNvPr id="16" name="Text 13"/>
          <p:cNvSpPr txBox="1"/>
          <p:nvPr/>
        </p:nvSpPr>
        <p:spPr>
          <a:xfrm>
            <a:off x="7955280" y="3374136"/>
            <a:ext cx="3383280" cy="292608"/>
          </a:xfrm>
          <a:prstGeom prst="rect">
            <a:avLst/>
          </a:prstGeom>
          <a:noFill/>
          <a:ln/>
        </p:spPr>
        <p:txBody>
          <a:bodyPr wrap="square" lIns="0" tIns="0" rIns="0" bIns="0" rtlCol="0" anchor="ctr"/>
          <a:lstStyle/>
          <a:p>
            <a:pPr marL="0" indent="0">
              <a:buNone/>
            </a:pPr>
            <a:r>
              <a:rPr lang="en-US" sz="1500" b="1" dirty="0">
                <a:solidFill>
                  <a:srgbClr val="B85042"/>
                </a:solidFill>
                <a:latin typeface="Calibri" pitchFamily="34" charset="0"/>
                <a:ea typeface="Calibri" pitchFamily="34" charset="-122"/>
                <a:cs typeface="Calibri" pitchFamily="34" charset="-120"/>
              </a:rPr>
              <a:t>4.7 – 8.7× short</a:t>
            </a:r>
            <a:endParaRPr lang="en-US" sz="1500" dirty="0"/>
          </a:p>
        </p:txBody>
      </p:sp>
      <p:sp>
        <p:nvSpPr>
          <p:cNvPr id="17" name="Shape 14"/>
          <p:cNvSpPr/>
          <p:nvPr/>
        </p:nvSpPr>
        <p:spPr>
          <a:xfrm>
            <a:off x="7680960" y="3977640"/>
            <a:ext cx="3931920" cy="1691640"/>
          </a:xfrm>
          <a:prstGeom prst="roundRect">
            <a:avLst>
              <a:gd name="adj" fmla="val 3243"/>
            </a:avLst>
          </a:prstGeom>
          <a:solidFill>
            <a:srgbClr val="2E2A27"/>
          </a:solidFill>
          <a:ln w="9525">
            <a:solidFill>
              <a:srgbClr val="DCD8D3"/>
            </a:solidFill>
            <a:prstDash val="solid"/>
          </a:ln>
        </p:spPr>
        <p:txBody>
          <a:bodyPr/>
          <a:lstStyle/>
          <a:p>
            <a:endParaRPr lang="en-NL"/>
          </a:p>
        </p:txBody>
      </p:sp>
      <p:sp>
        <p:nvSpPr>
          <p:cNvPr id="18" name="Text 15"/>
          <p:cNvSpPr txBox="1"/>
          <p:nvPr/>
        </p:nvSpPr>
        <p:spPr>
          <a:xfrm>
            <a:off x="7955280" y="4133088"/>
            <a:ext cx="3383280" cy="274320"/>
          </a:xfrm>
          <a:prstGeom prst="rect">
            <a:avLst/>
          </a:prstGeom>
          <a:noFill/>
          <a:ln/>
        </p:spPr>
        <p:txBody>
          <a:bodyPr wrap="square" lIns="0" tIns="0" rIns="0" bIns="0" rtlCol="0" anchor="ctr"/>
          <a:lstStyle/>
          <a:p>
            <a:pPr marL="0" indent="0">
              <a:buNone/>
            </a:pPr>
            <a:r>
              <a:rPr lang="en-US" sz="1300" b="1" dirty="0">
                <a:solidFill>
                  <a:srgbClr val="B85042"/>
                </a:solidFill>
                <a:latin typeface="Calibri" pitchFamily="34" charset="0"/>
                <a:ea typeface="Calibri" pitchFamily="34" charset="-122"/>
                <a:cs typeface="Calibri" pitchFamily="34" charset="-120"/>
              </a:rPr>
              <a:t>Our standing explanation</a:t>
            </a:r>
            <a:endParaRPr lang="en-US" sz="1300" dirty="0"/>
          </a:p>
        </p:txBody>
      </p:sp>
      <p:sp>
        <p:nvSpPr>
          <p:cNvPr id="19" name="Text 16"/>
          <p:cNvSpPr txBox="1"/>
          <p:nvPr/>
        </p:nvSpPr>
        <p:spPr>
          <a:xfrm>
            <a:off x="7955280" y="4462272"/>
            <a:ext cx="3383280" cy="1097280"/>
          </a:xfrm>
          <a:prstGeom prst="rect">
            <a:avLst/>
          </a:prstGeom>
          <a:noFill/>
          <a:ln/>
        </p:spPr>
        <p:txBody>
          <a:bodyPr wrap="square" lIns="0" tIns="0" rIns="0" bIns="0" rtlCol="0" anchor="ctr"/>
          <a:lstStyle/>
          <a:p>
            <a:pPr marL="0" indent="0">
              <a:buNone/>
            </a:pPr>
            <a:r>
              <a:rPr lang="en-US" sz="1250" dirty="0">
                <a:solidFill>
                  <a:srgbClr val="CFC8C1"/>
                </a:solidFill>
                <a:latin typeface="Calibri" pitchFamily="34" charset="0"/>
                <a:ea typeface="Calibri" pitchFamily="34" charset="-122"/>
                <a:cs typeface="Calibri" pitchFamily="34" charset="-120"/>
              </a:rPr>
              <a:t>IMC2026: “3% Rayleigh suppresses rocking as the wall softens.”</a:t>
            </a:r>
            <a:endParaRPr lang="en-US" sz="1250" dirty="0"/>
          </a:p>
        </p:txBody>
      </p:sp>
      <p:sp>
        <p:nvSpPr>
          <p:cNvPr id="20" name="Text 17"/>
          <p:cNvSpPr txBox="1"/>
          <p:nvPr/>
        </p:nvSpPr>
        <p:spPr>
          <a:xfrm>
            <a:off x="7680960" y="5779008"/>
            <a:ext cx="3931920" cy="365760"/>
          </a:xfrm>
          <a:prstGeom prst="rect">
            <a:avLst/>
          </a:prstGeom>
          <a:noFill/>
          <a:ln/>
        </p:spPr>
        <p:txBody>
          <a:bodyPr wrap="square" lIns="0" tIns="0" rIns="0" bIns="0" rtlCol="0" anchor="ctr"/>
          <a:lstStyle/>
          <a:p>
            <a:pPr marL="0" indent="0">
              <a:buNone/>
            </a:pPr>
            <a:r>
              <a:rPr lang="en-US" sz="1050" i="1" dirty="0">
                <a:solidFill>
                  <a:srgbClr val="6B6B6B"/>
                </a:solidFill>
                <a:latin typeface="Calibri" pitchFamily="34" charset="0"/>
                <a:ea typeface="Calibri" pitchFamily="34" charset="-122"/>
                <a:cs typeface="Calibri" pitchFamily="34" charset="-120"/>
              </a:rPr>
              <a:t>Ranges span model variants.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02920" y="384048"/>
            <a:ext cx="384048" cy="384048"/>
          </a:xfrm>
          <a:prstGeom prst="ellipse">
            <a:avLst/>
          </a:prstGeom>
          <a:solidFill>
            <a:srgbClr val="B85042"/>
          </a:solidFill>
          <a:ln/>
        </p:spPr>
        <p:txBody>
          <a:bodyPr/>
          <a:lstStyle/>
          <a:p>
            <a:endParaRPr lang="en-NL"/>
          </a:p>
        </p:txBody>
      </p:sp>
      <p:sp>
        <p:nvSpPr>
          <p:cNvPr id="3" name="Text 1"/>
          <p:cNvSpPr txBox="1"/>
          <p:nvPr/>
        </p:nvSpPr>
        <p:spPr>
          <a:xfrm>
            <a:off x="502920" y="38404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4" name="Text 2"/>
          <p:cNvSpPr txBox="1"/>
          <p:nvPr/>
        </p:nvSpPr>
        <p:spPr>
          <a:xfrm>
            <a:off x="1051560" y="329184"/>
            <a:ext cx="10607040" cy="530352"/>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The model reproduces what it is told to do</a:t>
            </a:r>
            <a:endParaRPr lang="en-US" sz="3000" dirty="0"/>
          </a:p>
        </p:txBody>
      </p:sp>
      <p:sp>
        <p:nvSpPr>
          <p:cNvPr id="5" name="Text 3"/>
          <p:cNvSpPr txBox="1"/>
          <p:nvPr/>
        </p:nvSpPr>
        <p:spPr>
          <a:xfrm>
            <a:off x="1051560" y="877824"/>
            <a:ext cx="10607040" cy="310896"/>
          </a:xfrm>
          <a:prstGeom prst="rect">
            <a:avLst/>
          </a:prstGeom>
          <a:noFill/>
          <a:ln/>
        </p:spPr>
        <p:txBody>
          <a:bodyPr wrap="square" lIns="0" tIns="0" rIns="0" bIns="0" rtlCol="0" anchor="ctr"/>
          <a:lstStyle/>
          <a:p>
            <a:pPr marL="0" indent="0">
              <a:buNone/>
            </a:pPr>
            <a:r>
              <a:rPr lang="en-US" sz="1400" i="1" dirty="0">
                <a:solidFill>
                  <a:srgbClr val="6B6B6B"/>
                </a:solidFill>
                <a:latin typeface="Calibri" pitchFamily="34" charset="0"/>
                <a:ea typeface="Calibri" pitchFamily="34" charset="-122"/>
                <a:cs typeface="Calibri" pitchFamily="34" charset="-120"/>
              </a:rPr>
              <a:t>Peak response tracks the commanded spectral displacement — on two independent runs</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6675120" cy="1545336"/>
        </p:xfrm>
        <a:graphic>
          <a:graphicData uri="http://schemas.openxmlformats.org/drawingml/2006/table">
            <a:tbl>
              <a:tblPr/>
              <a:tblGrid>
                <a:gridCol w="237744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tblGrid>
              <a:tr h="411480">
                <a:tc>
                  <a:txBody>
                    <a:bodyPr/>
                    <a:lstStyle/>
                    <a:p>
                      <a:pPr marL="0" indent="0" algn="l">
                        <a:buNone/>
                      </a:pPr>
                      <a:endParaRPr lang="en-US" sz="1200" dirty="0">
                        <a:latin typeface="Calibri" charset="0"/>
                        <a:ea typeface="Calibri" charset="0"/>
                        <a:cs typeface="Calibri" charset="0"/>
                      </a:endParaRPr>
                    </a:p>
                  </a:txBody>
                  <a:tcPr anchor="ctr">
                    <a:lnL w="9525" cap="flat" cmpd="sng" algn="ctr">
                      <a:solidFill>
                        <a:srgbClr val="DCD8D3"/>
                      </a:solidFill>
                      <a:prstDash val="solid"/>
                      <a:round/>
                      <a:headEnd type="none" w="med" len="med"/>
                      <a:tailEnd type="none" w="med" len="med"/>
                    </a:lnL>
                    <a:lnR w="9525" cap="flat" cmpd="sng" algn="ctr">
                      <a:solidFill>
                        <a:srgbClr val="DCD8D3"/>
                      </a:solidFill>
                      <a:prstDash val="solid"/>
                      <a:round/>
                      <a:headEnd type="none" w="med" len="med"/>
                      <a:tailEnd type="none" w="med" len="med"/>
                    </a:lnR>
                    <a:lnT w="9525" cap="flat" cmpd="sng" algn="ctr">
                      <a:solidFill>
                        <a:srgbClr val="DCD8D3"/>
                      </a:solidFill>
                      <a:prstDash val="solid"/>
                      <a:round/>
                      <a:headEnd type="none" w="med" len="med"/>
                      <a:tailEnd type="none" w="med" len="med"/>
                    </a:lnT>
                    <a:lnB w="9525" cap="flat" cmpd="sng" algn="ctr">
                      <a:solidFill>
                        <a:srgbClr val="DCD8D3"/>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6B6B6B"/>
                          </a:solidFill>
                          <a:latin typeface="Calibri" pitchFamily="34" charset="0"/>
                          <a:ea typeface="Calibri" pitchFamily="34" charset="-122"/>
                          <a:cs typeface="Calibri" pitchFamily="34" charset="-120"/>
                        </a:rPr>
                        <a:t>Sd_target commanded</a:t>
                      </a:r>
                      <a:endParaRPr lang="en-US" sz="1200" dirty="0">
                        <a:latin typeface="Calibri" charset="0"/>
                        <a:ea typeface="Calibri" charset="0"/>
                        <a:cs typeface="Calibri" charset="0"/>
                      </a:endParaRPr>
                    </a:p>
                  </a:txBody>
                  <a:tcPr anchor="ctr">
                    <a:lnL w="9525" cap="flat" cmpd="sng" algn="ctr">
                      <a:solidFill>
                        <a:srgbClr val="DCD8D3"/>
                      </a:solidFill>
                      <a:prstDash val="solid"/>
                      <a:round/>
                      <a:headEnd type="none" w="med" len="med"/>
                      <a:tailEnd type="none" w="med" len="med"/>
                    </a:lnL>
                    <a:lnR w="9525" cap="flat" cmpd="sng" algn="ctr">
                      <a:solidFill>
                        <a:srgbClr val="DCD8D3"/>
                      </a:solidFill>
                      <a:prstDash val="solid"/>
                      <a:round/>
                      <a:headEnd type="none" w="med" len="med"/>
                      <a:tailEnd type="none" w="med" len="med"/>
                    </a:lnR>
                    <a:lnT w="9525" cap="flat" cmpd="sng" algn="ctr">
                      <a:solidFill>
                        <a:srgbClr val="DCD8D3"/>
                      </a:solidFill>
                      <a:prstDash val="solid"/>
                      <a:round/>
                      <a:headEnd type="none" w="med" len="med"/>
                      <a:tailEnd type="none" w="med" len="med"/>
                    </a:lnT>
                    <a:lnB w="9525" cap="flat" cmpd="sng" algn="ctr">
                      <a:solidFill>
                        <a:srgbClr val="DCD8D3"/>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6B6B6B"/>
                          </a:solidFill>
                          <a:latin typeface="Calibri" pitchFamily="34" charset="0"/>
                          <a:ea typeface="Calibri" pitchFamily="34" charset="-122"/>
                          <a:cs typeface="Calibri" pitchFamily="34" charset="-120"/>
                        </a:rPr>
                        <a:t>Model peak</a:t>
                      </a:r>
                      <a:endParaRPr lang="en-US" sz="1200" dirty="0">
                        <a:latin typeface="Calibri" charset="0"/>
                        <a:ea typeface="Calibri" charset="0"/>
                        <a:cs typeface="Calibri" charset="0"/>
                      </a:endParaRPr>
                    </a:p>
                  </a:txBody>
                  <a:tcPr anchor="ctr">
                    <a:lnL w="9525" cap="flat" cmpd="sng" algn="ctr">
                      <a:solidFill>
                        <a:srgbClr val="DCD8D3"/>
                      </a:solidFill>
                      <a:prstDash val="solid"/>
                      <a:round/>
                      <a:headEnd type="none" w="med" len="med"/>
                      <a:tailEnd type="none" w="med" len="med"/>
                    </a:lnL>
                    <a:lnR w="9525" cap="flat" cmpd="sng" algn="ctr">
                      <a:solidFill>
                        <a:srgbClr val="DCD8D3"/>
                      </a:solidFill>
                      <a:prstDash val="solid"/>
                      <a:round/>
                      <a:headEnd type="none" w="med" len="med"/>
                      <a:tailEnd type="none" w="med" len="med"/>
                    </a:lnR>
                    <a:lnT w="9525" cap="flat" cmpd="sng" algn="ctr">
                      <a:solidFill>
                        <a:srgbClr val="DCD8D3"/>
                      </a:solidFill>
                      <a:prstDash val="solid"/>
                      <a:round/>
                      <a:headEnd type="none" w="med" len="med"/>
                      <a:tailEnd type="none" w="med" len="med"/>
                    </a:lnT>
                    <a:lnB w="9525" cap="flat" cmpd="sng" algn="ctr">
                      <a:solidFill>
                        <a:srgbClr val="DCD8D3"/>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6B6B6B"/>
                          </a:solidFill>
                          <a:latin typeface="Calibri" pitchFamily="34" charset="0"/>
                          <a:ea typeface="Calibri" pitchFamily="34" charset="-122"/>
                          <a:cs typeface="Calibri" pitchFamily="34" charset="-120"/>
                        </a:rPr>
                        <a:t>Ratio</a:t>
                      </a:r>
                      <a:endParaRPr lang="en-US" sz="1200" dirty="0">
                        <a:latin typeface="Calibri" charset="0"/>
                        <a:ea typeface="Calibri" charset="0"/>
                        <a:cs typeface="Calibri" charset="0"/>
                      </a:endParaRPr>
                    </a:p>
                  </a:txBody>
                  <a:tcPr anchor="ctr">
                    <a:lnL w="9525" cap="flat" cmpd="sng" algn="ctr">
                      <a:solidFill>
                        <a:srgbClr val="DCD8D3"/>
                      </a:solidFill>
                      <a:prstDash val="solid"/>
                      <a:round/>
                      <a:headEnd type="none" w="med" len="med"/>
                      <a:tailEnd type="none" w="med" len="med"/>
                    </a:lnL>
                    <a:lnR w="9525" cap="flat" cmpd="sng" algn="ctr">
                      <a:solidFill>
                        <a:srgbClr val="DCD8D3"/>
                      </a:solidFill>
                      <a:prstDash val="solid"/>
                      <a:round/>
                      <a:headEnd type="none" w="med" len="med"/>
                      <a:tailEnd type="none" w="med" len="med"/>
                    </a:lnR>
                    <a:lnT w="9525" cap="flat" cmpd="sng" algn="ctr">
                      <a:solidFill>
                        <a:srgbClr val="DCD8D3"/>
                      </a:solidFill>
                      <a:prstDash val="solid"/>
                      <a:round/>
                      <a:headEnd type="none" w="med" len="med"/>
                      <a:tailEnd type="none" w="med" len="med"/>
                    </a:lnT>
                    <a:lnB w="9525" cap="flat" cmpd="sng" algn="ctr">
                      <a:solidFill>
                        <a:srgbClr val="DCD8D3"/>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66928">
                <a:tc>
                  <a:txBody>
                    <a:bodyPr/>
                    <a:lstStyle/>
                    <a:p>
                      <a:pPr marL="0" indent="0" algn="l">
                        <a:buNone/>
                      </a:pPr>
                      <a:r>
                        <a:rPr lang="en-US" sz="1600" dirty="0">
                          <a:solidFill>
                            <a:srgbClr val="1A1A1A"/>
                          </a:solidFill>
                          <a:latin typeface="Calibri" pitchFamily="34" charset="0"/>
                          <a:ea typeface="Calibri" pitchFamily="34" charset="-122"/>
                          <a:cs typeface="Calibri" pitchFamily="34" charset="-120"/>
                        </a:rPr>
                        <a:t>Run 21  (HU12 × 6.00)</a:t>
                      </a:r>
                      <a:endParaRPr lang="en-US" sz="1600" dirty="0">
                        <a:latin typeface="Calibri" charset="0"/>
                        <a:ea typeface="Calibri" charset="0"/>
                        <a:cs typeface="Calibri" charset="0"/>
                      </a:endParaRPr>
                    </a:p>
                  </a:txBody>
                  <a:tcPr anchor="ctr">
                    <a:lnL w="9525" cap="flat" cmpd="sng" algn="ctr">
                      <a:solidFill>
                        <a:srgbClr val="DCD8D3"/>
                      </a:solidFill>
                      <a:prstDash val="solid"/>
                      <a:round/>
                      <a:headEnd type="none" w="med" len="med"/>
                      <a:tailEnd type="none" w="med" len="med"/>
                    </a:lnL>
                    <a:lnR w="9525" cap="flat" cmpd="sng" algn="ctr">
                      <a:solidFill>
                        <a:srgbClr val="DCD8D3"/>
                      </a:solidFill>
                      <a:prstDash val="solid"/>
                      <a:round/>
                      <a:headEnd type="none" w="med" len="med"/>
                      <a:tailEnd type="none" w="med" len="med"/>
                    </a:lnR>
                    <a:lnT w="9525" cap="flat" cmpd="sng" algn="ctr">
                      <a:solidFill>
                        <a:srgbClr val="DCD8D3"/>
                      </a:solidFill>
                      <a:prstDash val="solid"/>
                      <a:round/>
                      <a:headEnd type="none" w="med" len="med"/>
                      <a:tailEnd type="none" w="med" len="med"/>
                    </a:lnT>
                    <a:lnB w="9525" cap="flat" cmpd="sng" algn="ctr">
                      <a:solidFill>
                        <a:srgbClr val="DCD8D3"/>
                      </a:solidFill>
                      <a:prstDash val="solid"/>
                      <a:round/>
                      <a:headEnd type="none" w="med" len="med"/>
                      <a:tailEnd type="none" w="med" len="med"/>
                    </a:lnB>
                    <a:solidFill>
                      <a:srgbClr val="F3F0EC"/>
                    </a:solidFill>
                  </a:tcPr>
                </a:tc>
                <a:tc>
                  <a:txBody>
                    <a:bodyPr/>
                    <a:lstStyle/>
                    <a:p>
                      <a:pPr marL="0" indent="0" algn="l">
                        <a:buNone/>
                      </a:pPr>
                      <a:r>
                        <a:rPr lang="en-US" sz="1600" dirty="0">
                          <a:solidFill>
                            <a:srgbClr val="1A1A1A"/>
                          </a:solidFill>
                          <a:latin typeface="Calibri" pitchFamily="34" charset="0"/>
                          <a:ea typeface="Calibri" pitchFamily="34" charset="-122"/>
                          <a:cs typeface="Calibri" pitchFamily="34" charset="-120"/>
                        </a:rPr>
                        <a:t>5.16 mm</a:t>
                      </a:r>
                      <a:endParaRPr lang="en-US" sz="1600" dirty="0">
                        <a:latin typeface="Calibri" charset="0"/>
                        <a:ea typeface="Calibri" charset="0"/>
                        <a:cs typeface="Calibri" charset="0"/>
                      </a:endParaRPr>
                    </a:p>
                  </a:txBody>
                  <a:tcPr anchor="ctr">
                    <a:lnL w="9525" cap="flat" cmpd="sng" algn="ctr">
                      <a:solidFill>
                        <a:srgbClr val="DCD8D3"/>
                      </a:solidFill>
                      <a:prstDash val="solid"/>
                      <a:round/>
                      <a:headEnd type="none" w="med" len="med"/>
                      <a:tailEnd type="none" w="med" len="med"/>
                    </a:lnL>
                    <a:lnR w="9525" cap="flat" cmpd="sng" algn="ctr">
                      <a:solidFill>
                        <a:srgbClr val="DCD8D3"/>
                      </a:solidFill>
                      <a:prstDash val="solid"/>
                      <a:round/>
                      <a:headEnd type="none" w="med" len="med"/>
                      <a:tailEnd type="none" w="med" len="med"/>
                    </a:lnR>
                    <a:lnT w="9525" cap="flat" cmpd="sng" algn="ctr">
                      <a:solidFill>
                        <a:srgbClr val="DCD8D3"/>
                      </a:solidFill>
                      <a:prstDash val="solid"/>
                      <a:round/>
                      <a:headEnd type="none" w="med" len="med"/>
                      <a:tailEnd type="none" w="med" len="med"/>
                    </a:lnT>
                    <a:lnB w="9525" cap="flat" cmpd="sng" algn="ctr">
                      <a:solidFill>
                        <a:srgbClr val="DCD8D3"/>
                      </a:solidFill>
                      <a:prstDash val="solid"/>
                      <a:round/>
                      <a:headEnd type="none" w="med" len="med"/>
                      <a:tailEnd type="none" w="med" len="med"/>
                    </a:lnB>
                    <a:solidFill>
                      <a:srgbClr val="F3F0EC"/>
                    </a:solidFill>
                  </a:tcPr>
                </a:tc>
                <a:tc>
                  <a:txBody>
                    <a:bodyPr/>
                    <a:lstStyle/>
                    <a:p>
                      <a:pPr marL="0" indent="0" algn="l">
                        <a:buNone/>
                      </a:pPr>
                      <a:r>
                        <a:rPr lang="en-US" sz="1600" dirty="0">
                          <a:solidFill>
                            <a:srgbClr val="1A1A1A"/>
                          </a:solidFill>
                          <a:latin typeface="Calibri" pitchFamily="34" charset="0"/>
                          <a:ea typeface="Calibri" pitchFamily="34" charset="-122"/>
                          <a:cs typeface="Calibri" pitchFamily="34" charset="-120"/>
                        </a:rPr>
                        <a:t>5.9 mm</a:t>
                      </a:r>
                      <a:endParaRPr lang="en-US" sz="1600" dirty="0">
                        <a:latin typeface="Calibri" charset="0"/>
                        <a:ea typeface="Calibri" charset="0"/>
                        <a:cs typeface="Calibri" charset="0"/>
                      </a:endParaRPr>
                    </a:p>
                  </a:txBody>
                  <a:tcPr anchor="ctr">
                    <a:lnL w="9525" cap="flat" cmpd="sng" algn="ctr">
                      <a:solidFill>
                        <a:srgbClr val="DCD8D3"/>
                      </a:solidFill>
                      <a:prstDash val="solid"/>
                      <a:round/>
                      <a:headEnd type="none" w="med" len="med"/>
                      <a:tailEnd type="none" w="med" len="med"/>
                    </a:lnL>
                    <a:lnR w="9525" cap="flat" cmpd="sng" algn="ctr">
                      <a:solidFill>
                        <a:srgbClr val="DCD8D3"/>
                      </a:solidFill>
                      <a:prstDash val="solid"/>
                      <a:round/>
                      <a:headEnd type="none" w="med" len="med"/>
                      <a:tailEnd type="none" w="med" len="med"/>
                    </a:lnR>
                    <a:lnT w="9525" cap="flat" cmpd="sng" algn="ctr">
                      <a:solidFill>
                        <a:srgbClr val="DCD8D3"/>
                      </a:solidFill>
                      <a:prstDash val="solid"/>
                      <a:round/>
                      <a:headEnd type="none" w="med" len="med"/>
                      <a:tailEnd type="none" w="med" len="med"/>
                    </a:lnT>
                    <a:lnB w="9525" cap="flat" cmpd="sng" algn="ctr">
                      <a:solidFill>
                        <a:srgbClr val="DCD8D3"/>
                      </a:solidFill>
                      <a:prstDash val="solid"/>
                      <a:round/>
                      <a:headEnd type="none" w="med" len="med"/>
                      <a:tailEnd type="none" w="med" len="med"/>
                    </a:lnB>
                    <a:solidFill>
                      <a:srgbClr val="F3F0EC"/>
                    </a:solidFill>
                  </a:tcPr>
                </a:tc>
                <a:tc>
                  <a:txBody>
                    <a:bodyPr/>
                    <a:lstStyle/>
                    <a:p>
                      <a:pPr marL="0" indent="0" algn="l">
                        <a:buNone/>
                      </a:pPr>
                      <a:r>
                        <a:rPr lang="en-US" sz="1600" dirty="0">
                          <a:solidFill>
                            <a:srgbClr val="1A1A1A"/>
                          </a:solidFill>
                          <a:latin typeface="Calibri" pitchFamily="34" charset="0"/>
                          <a:ea typeface="Calibri" pitchFamily="34" charset="-122"/>
                          <a:cs typeface="Calibri" pitchFamily="34" charset="-120"/>
                        </a:rPr>
                        <a:t>1.14</a:t>
                      </a:r>
                      <a:endParaRPr lang="en-US" sz="1600" dirty="0">
                        <a:latin typeface="Calibri" charset="0"/>
                        <a:ea typeface="Calibri" charset="0"/>
                        <a:cs typeface="Calibri" charset="0"/>
                      </a:endParaRPr>
                    </a:p>
                  </a:txBody>
                  <a:tcPr anchor="ctr">
                    <a:lnL w="9525" cap="flat" cmpd="sng" algn="ctr">
                      <a:solidFill>
                        <a:srgbClr val="DCD8D3"/>
                      </a:solidFill>
                      <a:prstDash val="solid"/>
                      <a:round/>
                      <a:headEnd type="none" w="med" len="med"/>
                      <a:tailEnd type="none" w="med" len="med"/>
                    </a:lnL>
                    <a:lnR w="9525" cap="flat" cmpd="sng" algn="ctr">
                      <a:solidFill>
                        <a:srgbClr val="DCD8D3"/>
                      </a:solidFill>
                      <a:prstDash val="solid"/>
                      <a:round/>
                      <a:headEnd type="none" w="med" len="med"/>
                      <a:tailEnd type="none" w="med" len="med"/>
                    </a:lnR>
                    <a:lnT w="9525" cap="flat" cmpd="sng" algn="ctr">
                      <a:solidFill>
                        <a:srgbClr val="DCD8D3"/>
                      </a:solidFill>
                      <a:prstDash val="solid"/>
                      <a:round/>
                      <a:headEnd type="none" w="med" len="med"/>
                      <a:tailEnd type="none" w="med" len="med"/>
                    </a:lnT>
                    <a:lnB w="9525" cap="flat" cmpd="sng" algn="ctr">
                      <a:solidFill>
                        <a:srgbClr val="DCD8D3"/>
                      </a:solidFill>
                      <a:prstDash val="solid"/>
                      <a:round/>
                      <a:headEnd type="none" w="med" len="med"/>
                      <a:tailEnd type="none" w="med" len="med"/>
                    </a:lnB>
                    <a:solidFill>
                      <a:srgbClr val="F3F0EC"/>
                    </a:solidFill>
                  </a:tcPr>
                </a:tc>
                <a:extLst>
                  <a:ext uri="{0D108BD9-81ED-4DB2-BD59-A6C34878D82A}">
                    <a16:rowId xmlns:a16="http://schemas.microsoft.com/office/drawing/2014/main" val="10001"/>
                  </a:ext>
                </a:extLst>
              </a:tr>
              <a:tr h="566928">
                <a:tc>
                  <a:txBody>
                    <a:bodyPr/>
                    <a:lstStyle/>
                    <a:p>
                      <a:pPr marL="0" indent="0" algn="l">
                        <a:buNone/>
                      </a:pPr>
                      <a:r>
                        <a:rPr lang="en-US" sz="1600" dirty="0">
                          <a:solidFill>
                            <a:srgbClr val="1A1A1A"/>
                          </a:solidFill>
                          <a:latin typeface="Calibri" pitchFamily="34" charset="0"/>
                          <a:ea typeface="Calibri" pitchFamily="34" charset="-122"/>
                          <a:cs typeface="Calibri" pitchFamily="34" charset="-120"/>
                        </a:rPr>
                        <a:t>Run 24  (FR76 × 1.75)</a:t>
                      </a:r>
                      <a:endParaRPr lang="en-US" sz="1600" dirty="0">
                        <a:latin typeface="Calibri" charset="0"/>
                        <a:ea typeface="Calibri" charset="0"/>
                        <a:cs typeface="Calibri" charset="0"/>
                      </a:endParaRPr>
                    </a:p>
                  </a:txBody>
                  <a:tcPr anchor="ctr">
                    <a:lnL w="9525" cap="flat" cmpd="sng" algn="ctr">
                      <a:solidFill>
                        <a:srgbClr val="DCD8D3"/>
                      </a:solidFill>
                      <a:prstDash val="solid"/>
                      <a:round/>
                      <a:headEnd type="none" w="med" len="med"/>
                      <a:tailEnd type="none" w="med" len="med"/>
                    </a:lnL>
                    <a:lnR w="9525" cap="flat" cmpd="sng" algn="ctr">
                      <a:solidFill>
                        <a:srgbClr val="DCD8D3"/>
                      </a:solidFill>
                      <a:prstDash val="solid"/>
                      <a:round/>
                      <a:headEnd type="none" w="med" len="med"/>
                      <a:tailEnd type="none" w="med" len="med"/>
                    </a:lnR>
                    <a:lnT w="9525" cap="flat" cmpd="sng" algn="ctr">
                      <a:solidFill>
                        <a:srgbClr val="DCD8D3"/>
                      </a:solidFill>
                      <a:prstDash val="solid"/>
                      <a:round/>
                      <a:headEnd type="none" w="med" len="med"/>
                      <a:tailEnd type="none" w="med" len="med"/>
                    </a:lnT>
                    <a:lnB w="9525" cap="flat" cmpd="sng" algn="ctr">
                      <a:solidFill>
                        <a:srgbClr val="DCD8D3"/>
                      </a:solidFill>
                      <a:prstDash val="solid"/>
                      <a:round/>
                      <a:headEnd type="none" w="med" len="med"/>
                      <a:tailEnd type="none" w="med" len="med"/>
                    </a:lnB>
                    <a:solidFill>
                      <a:srgbClr val="F3F0EC"/>
                    </a:solidFill>
                  </a:tcPr>
                </a:tc>
                <a:tc>
                  <a:txBody>
                    <a:bodyPr/>
                    <a:lstStyle/>
                    <a:p>
                      <a:pPr marL="0" indent="0" algn="l">
                        <a:buNone/>
                      </a:pPr>
                      <a:r>
                        <a:rPr lang="en-US" sz="1600" dirty="0">
                          <a:solidFill>
                            <a:srgbClr val="1A1A1A"/>
                          </a:solidFill>
                          <a:latin typeface="Calibri" pitchFamily="34" charset="0"/>
                          <a:ea typeface="Calibri" pitchFamily="34" charset="-122"/>
                          <a:cs typeface="Calibri" pitchFamily="34" charset="-120"/>
                        </a:rPr>
                        <a:t>3.01 mm</a:t>
                      </a:r>
                      <a:endParaRPr lang="en-US" sz="1600" dirty="0">
                        <a:latin typeface="Calibri" charset="0"/>
                        <a:ea typeface="Calibri" charset="0"/>
                        <a:cs typeface="Calibri" charset="0"/>
                      </a:endParaRPr>
                    </a:p>
                  </a:txBody>
                  <a:tcPr anchor="ctr">
                    <a:lnL w="9525" cap="flat" cmpd="sng" algn="ctr">
                      <a:solidFill>
                        <a:srgbClr val="DCD8D3"/>
                      </a:solidFill>
                      <a:prstDash val="solid"/>
                      <a:round/>
                      <a:headEnd type="none" w="med" len="med"/>
                      <a:tailEnd type="none" w="med" len="med"/>
                    </a:lnL>
                    <a:lnR w="9525" cap="flat" cmpd="sng" algn="ctr">
                      <a:solidFill>
                        <a:srgbClr val="DCD8D3"/>
                      </a:solidFill>
                      <a:prstDash val="solid"/>
                      <a:round/>
                      <a:headEnd type="none" w="med" len="med"/>
                      <a:tailEnd type="none" w="med" len="med"/>
                    </a:lnR>
                    <a:lnT w="9525" cap="flat" cmpd="sng" algn="ctr">
                      <a:solidFill>
                        <a:srgbClr val="DCD8D3"/>
                      </a:solidFill>
                      <a:prstDash val="solid"/>
                      <a:round/>
                      <a:headEnd type="none" w="med" len="med"/>
                      <a:tailEnd type="none" w="med" len="med"/>
                    </a:lnT>
                    <a:lnB w="9525" cap="flat" cmpd="sng" algn="ctr">
                      <a:solidFill>
                        <a:srgbClr val="DCD8D3"/>
                      </a:solidFill>
                      <a:prstDash val="solid"/>
                      <a:round/>
                      <a:headEnd type="none" w="med" len="med"/>
                      <a:tailEnd type="none" w="med" len="med"/>
                    </a:lnB>
                    <a:solidFill>
                      <a:srgbClr val="F3F0EC"/>
                    </a:solidFill>
                  </a:tcPr>
                </a:tc>
                <a:tc>
                  <a:txBody>
                    <a:bodyPr/>
                    <a:lstStyle/>
                    <a:p>
                      <a:pPr marL="0" indent="0" algn="l">
                        <a:buNone/>
                      </a:pPr>
                      <a:r>
                        <a:rPr lang="en-US" sz="1600" dirty="0">
                          <a:solidFill>
                            <a:srgbClr val="1A1A1A"/>
                          </a:solidFill>
                          <a:latin typeface="Calibri" pitchFamily="34" charset="0"/>
                          <a:ea typeface="Calibri" pitchFamily="34" charset="-122"/>
                          <a:cs typeface="Calibri" pitchFamily="34" charset="-120"/>
                        </a:rPr>
                        <a:t>3.4 mm</a:t>
                      </a:r>
                      <a:endParaRPr lang="en-US" sz="1600" dirty="0">
                        <a:latin typeface="Calibri" charset="0"/>
                        <a:ea typeface="Calibri" charset="0"/>
                        <a:cs typeface="Calibri" charset="0"/>
                      </a:endParaRPr>
                    </a:p>
                  </a:txBody>
                  <a:tcPr anchor="ctr">
                    <a:lnL w="9525" cap="flat" cmpd="sng" algn="ctr">
                      <a:solidFill>
                        <a:srgbClr val="DCD8D3"/>
                      </a:solidFill>
                      <a:prstDash val="solid"/>
                      <a:round/>
                      <a:headEnd type="none" w="med" len="med"/>
                      <a:tailEnd type="none" w="med" len="med"/>
                    </a:lnL>
                    <a:lnR w="9525" cap="flat" cmpd="sng" algn="ctr">
                      <a:solidFill>
                        <a:srgbClr val="DCD8D3"/>
                      </a:solidFill>
                      <a:prstDash val="solid"/>
                      <a:round/>
                      <a:headEnd type="none" w="med" len="med"/>
                      <a:tailEnd type="none" w="med" len="med"/>
                    </a:lnR>
                    <a:lnT w="9525" cap="flat" cmpd="sng" algn="ctr">
                      <a:solidFill>
                        <a:srgbClr val="DCD8D3"/>
                      </a:solidFill>
                      <a:prstDash val="solid"/>
                      <a:round/>
                      <a:headEnd type="none" w="med" len="med"/>
                      <a:tailEnd type="none" w="med" len="med"/>
                    </a:lnT>
                    <a:lnB w="9525" cap="flat" cmpd="sng" algn="ctr">
                      <a:solidFill>
                        <a:srgbClr val="DCD8D3"/>
                      </a:solidFill>
                      <a:prstDash val="solid"/>
                      <a:round/>
                      <a:headEnd type="none" w="med" len="med"/>
                      <a:tailEnd type="none" w="med" len="med"/>
                    </a:lnB>
                    <a:solidFill>
                      <a:srgbClr val="F3F0EC"/>
                    </a:solidFill>
                  </a:tcPr>
                </a:tc>
                <a:tc>
                  <a:txBody>
                    <a:bodyPr/>
                    <a:lstStyle/>
                    <a:p>
                      <a:pPr marL="0" indent="0" algn="l">
                        <a:buNone/>
                      </a:pPr>
                      <a:r>
                        <a:rPr lang="en-US" sz="1600" dirty="0">
                          <a:solidFill>
                            <a:srgbClr val="1A1A1A"/>
                          </a:solidFill>
                          <a:latin typeface="Calibri" pitchFamily="34" charset="0"/>
                          <a:ea typeface="Calibri" pitchFamily="34" charset="-122"/>
                          <a:cs typeface="Calibri" pitchFamily="34" charset="-120"/>
                        </a:rPr>
                        <a:t>1.13</a:t>
                      </a:r>
                      <a:endParaRPr lang="en-US" sz="1600" dirty="0">
                        <a:latin typeface="Calibri" charset="0"/>
                        <a:ea typeface="Calibri" charset="0"/>
                        <a:cs typeface="Calibri" charset="0"/>
                      </a:endParaRPr>
                    </a:p>
                  </a:txBody>
                  <a:tcPr anchor="ctr">
                    <a:lnL w="9525" cap="flat" cmpd="sng" algn="ctr">
                      <a:solidFill>
                        <a:srgbClr val="DCD8D3"/>
                      </a:solidFill>
                      <a:prstDash val="solid"/>
                      <a:round/>
                      <a:headEnd type="none" w="med" len="med"/>
                      <a:tailEnd type="none" w="med" len="med"/>
                    </a:lnL>
                    <a:lnR w="9525" cap="flat" cmpd="sng" algn="ctr">
                      <a:solidFill>
                        <a:srgbClr val="DCD8D3"/>
                      </a:solidFill>
                      <a:prstDash val="solid"/>
                      <a:round/>
                      <a:headEnd type="none" w="med" len="med"/>
                      <a:tailEnd type="none" w="med" len="med"/>
                    </a:lnR>
                    <a:lnT w="9525" cap="flat" cmpd="sng" algn="ctr">
                      <a:solidFill>
                        <a:srgbClr val="DCD8D3"/>
                      </a:solidFill>
                      <a:prstDash val="solid"/>
                      <a:round/>
                      <a:headEnd type="none" w="med" len="med"/>
                      <a:tailEnd type="none" w="med" len="med"/>
                    </a:lnT>
                    <a:lnB w="9525" cap="flat" cmpd="sng" algn="ctr">
                      <a:solidFill>
                        <a:srgbClr val="DCD8D3"/>
                      </a:solidFill>
                      <a:prstDash val="solid"/>
                      <a:round/>
                      <a:headEnd type="none" w="med" len="med"/>
                      <a:tailEnd type="none" w="med" len="med"/>
                    </a:lnB>
                    <a:solidFill>
                      <a:srgbClr val="F3F0EC"/>
                    </a:solidFill>
                  </a:tcPr>
                </a:tc>
                <a:extLst>
                  <a:ext uri="{0D108BD9-81ED-4DB2-BD59-A6C34878D82A}">
                    <a16:rowId xmlns:a16="http://schemas.microsoft.com/office/drawing/2014/main" val="10002"/>
                  </a:ext>
                </a:extLst>
              </a:tr>
            </a:tbl>
          </a:graphicData>
        </a:graphic>
      </p:graphicFrame>
      <p:sp>
        <p:nvSpPr>
          <p:cNvPr id="7" name="Shape 4"/>
          <p:cNvSpPr/>
          <p:nvPr/>
        </p:nvSpPr>
        <p:spPr>
          <a:xfrm>
            <a:off x="548640" y="3520440"/>
            <a:ext cx="6675120" cy="2103120"/>
          </a:xfrm>
          <a:prstGeom prst="roundRect">
            <a:avLst>
              <a:gd name="adj" fmla="val 2609"/>
            </a:avLst>
          </a:prstGeom>
          <a:solidFill>
            <a:srgbClr val="FFFFFF"/>
          </a:solidFill>
          <a:ln w="9525">
            <a:solidFill>
              <a:srgbClr val="DCD8D3"/>
            </a:solidFill>
            <a:prstDash val="solid"/>
          </a:ln>
        </p:spPr>
        <p:txBody>
          <a:bodyPr/>
          <a:lstStyle/>
          <a:p>
            <a:endParaRPr lang="en-NL"/>
          </a:p>
        </p:txBody>
      </p:sp>
      <p:sp>
        <p:nvSpPr>
          <p:cNvPr id="8" name="Text 5"/>
          <p:cNvSpPr txBox="1"/>
          <p:nvPr/>
        </p:nvSpPr>
        <p:spPr>
          <a:xfrm>
            <a:off x="868680" y="3675888"/>
            <a:ext cx="6035040" cy="320040"/>
          </a:xfrm>
          <a:prstGeom prst="rect">
            <a:avLst/>
          </a:prstGeom>
          <a:noFill/>
          <a:ln/>
        </p:spPr>
        <p:txBody>
          <a:bodyPr wrap="square" lIns="0" tIns="0" rIns="0" bIns="0" rtlCol="0" anchor="ctr"/>
          <a:lstStyle/>
          <a:p>
            <a:pPr marL="0" indent="0">
              <a:buNone/>
            </a:pPr>
            <a:r>
              <a:rPr lang="en-US" sz="1500" b="1" dirty="0">
                <a:solidFill>
                  <a:srgbClr val="B85042"/>
                </a:solidFill>
                <a:latin typeface="Calibri" pitchFamily="34" charset="0"/>
                <a:ea typeface="Calibri" pitchFamily="34" charset="-122"/>
                <a:cs typeface="Calibri" pitchFamily="34" charset="-120"/>
              </a:rPr>
              <a:t>What this rules out</a:t>
            </a:r>
            <a:endParaRPr lang="en-US" sz="1500" dirty="0"/>
          </a:p>
        </p:txBody>
      </p:sp>
      <p:sp>
        <p:nvSpPr>
          <p:cNvPr id="9" name="Text 6"/>
          <p:cNvSpPr txBox="1"/>
          <p:nvPr/>
        </p:nvSpPr>
        <p:spPr>
          <a:xfrm>
            <a:off x="868680" y="4069080"/>
            <a:ext cx="6035040" cy="1463040"/>
          </a:xfrm>
          <a:prstGeom prst="rect">
            <a:avLst/>
          </a:prstGeom>
          <a:noFill/>
          <a:ln/>
        </p:spPr>
        <p:txBody>
          <a:bodyPr wrap="square" rtlCol="0" anchor="ctr"/>
          <a:lstStyle/>
          <a:p>
            <a:pPr marL="342900" indent="-342900">
              <a:lnSpc>
                <a:spcPts val="2000"/>
              </a:lnSpc>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The model returns what it is handed, to within 15%</a:t>
            </a:r>
            <a:endParaRPr lang="en-US" sz="1350" dirty="0"/>
          </a:p>
          <a:p>
            <a:pPr marL="342900" indent="-342900">
              <a:lnSpc>
                <a:spcPts val="2000"/>
              </a:lnSpc>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Two records, two scale factors, same ratio to 1%</a:t>
            </a:r>
            <a:endParaRPr lang="en-US" sz="1350" dirty="0"/>
          </a:p>
          <a:p>
            <a:pPr marL="342900" indent="-342900">
              <a:lnSpc>
                <a:spcPts val="2000"/>
              </a:lnSpc>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So the shortfall is not the contact model, the blocks, or the damping</a:t>
            </a:r>
            <a:endParaRPr lang="en-US" sz="1350" dirty="0"/>
          </a:p>
        </p:txBody>
      </p:sp>
      <p:sp>
        <p:nvSpPr>
          <p:cNvPr id="10" name="Shape 7"/>
          <p:cNvSpPr/>
          <p:nvPr/>
        </p:nvSpPr>
        <p:spPr>
          <a:xfrm>
            <a:off x="7589520" y="1554480"/>
            <a:ext cx="4023360" cy="4069080"/>
          </a:xfrm>
          <a:prstGeom prst="roundRect">
            <a:avLst>
              <a:gd name="adj" fmla="val 1364"/>
            </a:avLst>
          </a:prstGeom>
          <a:solidFill>
            <a:srgbClr val="2E2A27"/>
          </a:solidFill>
          <a:ln w="9525">
            <a:solidFill>
              <a:srgbClr val="DCD8D3"/>
            </a:solidFill>
            <a:prstDash val="solid"/>
          </a:ln>
        </p:spPr>
        <p:txBody>
          <a:bodyPr/>
          <a:lstStyle/>
          <a:p>
            <a:endParaRPr lang="en-NL"/>
          </a:p>
        </p:txBody>
      </p:sp>
      <p:sp>
        <p:nvSpPr>
          <p:cNvPr id="11" name="Text 8"/>
          <p:cNvSpPr txBox="1"/>
          <p:nvPr/>
        </p:nvSpPr>
        <p:spPr>
          <a:xfrm>
            <a:off x="7909560" y="1783080"/>
            <a:ext cx="3383280" cy="320040"/>
          </a:xfrm>
          <a:prstGeom prst="rect">
            <a:avLst/>
          </a:prstGeom>
          <a:noFill/>
          <a:ln/>
        </p:spPr>
        <p:txBody>
          <a:bodyPr wrap="square" lIns="0" tIns="0" rIns="0" bIns="0" rtlCol="0" anchor="ctr"/>
          <a:lstStyle/>
          <a:p>
            <a:pPr marL="0" indent="0">
              <a:buNone/>
            </a:pPr>
            <a:r>
              <a:rPr lang="en-US" sz="1500" b="1" dirty="0">
                <a:solidFill>
                  <a:srgbClr val="B85042"/>
                </a:solidFill>
                <a:latin typeface="Calibri" pitchFamily="34" charset="0"/>
                <a:ea typeface="Calibri" pitchFamily="34" charset="-122"/>
                <a:cs typeface="Calibri" pitchFamily="34" charset="-120"/>
              </a:rPr>
              <a:t>The consequence</a:t>
            </a:r>
            <a:endParaRPr lang="en-US" sz="1500" dirty="0"/>
          </a:p>
        </p:txBody>
      </p:sp>
      <p:sp>
        <p:nvSpPr>
          <p:cNvPr id="12" name="Text 9"/>
          <p:cNvSpPr txBox="1"/>
          <p:nvPr/>
        </p:nvSpPr>
        <p:spPr>
          <a:xfrm>
            <a:off x="7909560" y="2240280"/>
            <a:ext cx="3383280" cy="3108960"/>
          </a:xfrm>
          <a:prstGeom prst="rect">
            <a:avLst/>
          </a:prstGeom>
          <a:noFill/>
          <a:ln/>
        </p:spPr>
        <p:txBody>
          <a:bodyPr wrap="square" lIns="0" tIns="0" rIns="0" bIns="0" rtlCol="0" anchor="ctr"/>
          <a:lstStyle/>
          <a:p>
            <a:pPr marL="0" indent="0">
              <a:buNone/>
            </a:pPr>
            <a:r>
              <a:rPr lang="en-US" sz="1400" dirty="0">
                <a:solidFill>
                  <a:srgbClr val="CFC8C1"/>
                </a:solidFill>
                <a:latin typeface="Calibri" pitchFamily="34" charset="0"/>
                <a:ea typeface="Calibri" pitchFamily="34" charset="-122"/>
                <a:cs typeface="Calibri" pitchFamily="34" charset="-120"/>
              </a:rPr>
              <a:t>The IDA is not measuring the wall.</a:t>
            </a:r>
            <a:endParaRPr lang="en-US" sz="1400" dirty="0"/>
          </a:p>
          <a:p>
            <a:pPr marL="0" indent="0">
              <a:buNone/>
            </a:pPr>
            <a:endParaRPr lang="en-US" sz="1400" dirty="0"/>
          </a:p>
          <a:p>
            <a:pPr marL="0" indent="0">
              <a:buNone/>
            </a:pPr>
            <a:r>
              <a:rPr lang="en-US" sz="1400" dirty="0">
                <a:solidFill>
                  <a:srgbClr val="CFC8C1"/>
                </a:solidFill>
                <a:latin typeface="Calibri" pitchFamily="34" charset="0"/>
                <a:ea typeface="Calibri" pitchFamily="34" charset="-122"/>
                <a:cs typeface="Calibri" pitchFamily="34" charset="-120"/>
              </a:rPr>
              <a:t>It is redrawing the input spectrum.</a:t>
            </a:r>
            <a:endParaRPr lang="en-US" sz="1400" dirty="0"/>
          </a:p>
        </p:txBody>
      </p:sp>
      <p:sp>
        <p:nvSpPr>
          <p:cNvPr id="13" name="Text 10"/>
          <p:cNvSpPr txBox="1"/>
          <p:nvPr/>
        </p:nvSpPr>
        <p:spPr>
          <a:xfrm>
            <a:off x="502920" y="5852160"/>
            <a:ext cx="11155680" cy="384048"/>
          </a:xfrm>
          <a:prstGeom prst="rect">
            <a:avLst/>
          </a:prstGeom>
          <a:noFill/>
          <a:ln/>
        </p:spPr>
        <p:txBody>
          <a:bodyPr wrap="square" lIns="0" tIns="0" rIns="0" bIns="0" rtlCol="0" anchor="ctr"/>
          <a:lstStyle/>
          <a:p>
            <a:pPr marL="0" indent="0">
              <a:buNone/>
            </a:pPr>
            <a:r>
              <a:rPr lang="en-US" sz="1100" i="1" dirty="0">
                <a:solidFill>
                  <a:srgbClr val="6B6B6B"/>
                </a:solidFill>
                <a:latin typeface="Calibri" pitchFamily="34" charset="0"/>
                <a:ea typeface="Calibri" pitchFamily="34" charset="-122"/>
                <a:cs typeface="Calibri" pitchFamily="34" charset="-120"/>
              </a:rPr>
              <a:t>Run 21 verified to 1.5% on PTA. Run 24 carries the FR76 input uncertainty.</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384048"/>
            <a:ext cx="384048" cy="384048"/>
          </a:xfrm>
          <a:prstGeom prst="ellipse">
            <a:avLst/>
          </a:prstGeom>
          <a:solidFill>
            <a:srgbClr val="B85042"/>
          </a:solidFill>
          <a:ln/>
        </p:spPr>
        <p:txBody>
          <a:bodyPr/>
          <a:lstStyle/>
          <a:p>
            <a:endParaRPr lang="en-NL"/>
          </a:p>
        </p:txBody>
      </p:sp>
      <p:sp>
        <p:nvSpPr>
          <p:cNvPr id="3" name="Text 1"/>
          <p:cNvSpPr txBox="1"/>
          <p:nvPr/>
        </p:nvSpPr>
        <p:spPr>
          <a:xfrm>
            <a:off x="502920" y="38404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4" name="Text 2"/>
          <p:cNvSpPr txBox="1"/>
          <p:nvPr/>
        </p:nvSpPr>
        <p:spPr>
          <a:xfrm>
            <a:off x="1051560" y="329184"/>
            <a:ext cx="10607040" cy="530352"/>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The loading protocol: 25 runs, three records</a:t>
            </a:r>
            <a:endParaRPr lang="en-US" sz="3000" dirty="0"/>
          </a:p>
        </p:txBody>
      </p:sp>
      <p:sp>
        <p:nvSpPr>
          <p:cNvPr id="5" name="Text 3"/>
          <p:cNvSpPr txBox="1"/>
          <p:nvPr/>
        </p:nvSpPr>
        <p:spPr>
          <a:xfrm>
            <a:off x="1051560" y="877824"/>
            <a:ext cx="10607040" cy="310896"/>
          </a:xfrm>
          <a:prstGeom prst="rect">
            <a:avLst/>
          </a:prstGeom>
          <a:noFill/>
          <a:ln/>
        </p:spPr>
        <p:txBody>
          <a:bodyPr wrap="square" lIns="0" tIns="0" rIns="0" bIns="0" rtlCol="0" anchor="ctr"/>
          <a:lstStyle/>
          <a:p>
            <a:pPr marL="0" indent="0">
              <a:buNone/>
            </a:pPr>
            <a:r>
              <a:rPr lang="en-US" sz="1400" i="1" dirty="0">
                <a:solidFill>
                  <a:srgbClr val="6B6B6B"/>
                </a:solidFill>
                <a:latin typeface="Calibri" pitchFamily="34" charset="0"/>
                <a:ea typeface="Calibri" pitchFamily="34" charset="-122"/>
                <a:cs typeface="Calibri" pitchFamily="34" charset="-120"/>
              </a:rPr>
              <a:t>Table 2 of Moshfeghi et al. (2024) — the sequence every strategy must reproduce</a:t>
            </a:r>
            <a:endParaRPr lang="en-US" sz="1400" dirty="0"/>
          </a:p>
        </p:txBody>
      </p:sp>
      <p:pic>
        <p:nvPicPr>
          <p:cNvPr id="6" name="Image 0" descr="/tmp/work/deck/fig_protocol.png"/>
          <p:cNvPicPr>
            <a:picLocks noChangeAspect="1"/>
          </p:cNvPicPr>
          <p:nvPr/>
        </p:nvPicPr>
        <p:blipFill>
          <a:blip r:embed="rId3"/>
          <a:stretch>
            <a:fillRect/>
          </a:stretch>
        </p:blipFill>
        <p:spPr>
          <a:xfrm>
            <a:off x="502920" y="1371600"/>
            <a:ext cx="11155680" cy="3785616"/>
          </a:xfrm>
          <a:prstGeom prst="rect">
            <a:avLst/>
          </a:prstGeom>
        </p:spPr>
      </p:pic>
      <p:sp>
        <p:nvSpPr>
          <p:cNvPr id="7" name="Shape 4"/>
          <p:cNvSpPr/>
          <p:nvPr/>
        </p:nvSpPr>
        <p:spPr>
          <a:xfrm>
            <a:off x="502920" y="5321808"/>
            <a:ext cx="11155680" cy="914400"/>
          </a:xfrm>
          <a:prstGeom prst="roundRect">
            <a:avLst>
              <a:gd name="adj" fmla="val 6000"/>
            </a:avLst>
          </a:prstGeom>
          <a:solidFill>
            <a:srgbClr val="F3F0EC"/>
          </a:solidFill>
          <a:ln w="9525">
            <a:solidFill>
              <a:srgbClr val="DCD8D3"/>
            </a:solidFill>
            <a:prstDash val="solid"/>
          </a:ln>
        </p:spPr>
        <p:txBody>
          <a:bodyPr/>
          <a:lstStyle/>
          <a:p>
            <a:endParaRPr lang="en-NL"/>
          </a:p>
        </p:txBody>
      </p:sp>
      <p:sp>
        <p:nvSpPr>
          <p:cNvPr id="8" name="Text 5"/>
          <p:cNvSpPr txBox="1"/>
          <p:nvPr/>
        </p:nvSpPr>
        <p:spPr>
          <a:xfrm>
            <a:off x="822960" y="5458968"/>
            <a:ext cx="10515600" cy="658368"/>
          </a:xfrm>
          <a:prstGeom prst="rect">
            <a:avLst/>
          </a:prstGeom>
          <a:noFill/>
          <a:ln/>
        </p:spPr>
        <p:txBody>
          <a:bodyPr wrap="square" lIns="0" tIns="0" rIns="0" bIns="0"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Intensity is not the multiplier — it is the record.   </a:t>
            </a:r>
            <a:r>
              <a:rPr lang="en-US" sz="1300" dirty="0">
                <a:solidFill>
                  <a:srgbClr val="1A1A1A"/>
                </a:solidFill>
                <a:latin typeface="Calibri" pitchFamily="34" charset="0"/>
                <a:ea typeface="Calibri" pitchFamily="34" charset="-122"/>
                <a:cs typeface="Calibri" pitchFamily="34" charset="-120"/>
              </a:rPr>
              <a:t>HU12 needs 6× to reach 17 mm; FR76 at 1–2× then produces 29.5 mm. Any loading scheme has to survive the record switch at run 22, which is exactly where ours failed.</a:t>
            </a:r>
            <a:endParaRPr lang="en-US" sz="1300" dirty="0"/>
          </a:p>
        </p:txBody>
      </p:sp>
      <p:sp>
        <p:nvSpPr>
          <p:cNvPr id="9" name="Text 6"/>
          <p:cNvSpPr txBox="1"/>
          <p:nvPr/>
        </p:nvSpPr>
        <p:spPr>
          <a:xfrm>
            <a:off x="502920" y="6355080"/>
            <a:ext cx="11155680" cy="384048"/>
          </a:xfrm>
          <a:prstGeom prst="rect">
            <a:avLst/>
          </a:prstGeom>
          <a:noFill/>
          <a:ln/>
        </p:spPr>
        <p:txBody>
          <a:bodyPr wrap="square" lIns="0" tIns="0" rIns="0" bIns="0" rtlCol="0" anchor="ctr"/>
          <a:lstStyle/>
          <a:p>
            <a:pPr marL="0" indent="0">
              <a:buNone/>
            </a:pPr>
            <a:r>
              <a:rPr lang="en-US" sz="1100" i="1" dirty="0">
                <a:solidFill>
                  <a:srgbClr val="6B6B6B"/>
                </a:solidFill>
                <a:latin typeface="Calibri" pitchFamily="34" charset="0"/>
                <a:ea typeface="Calibri" pitchFamily="34" charset="-122"/>
                <a:cs typeface="Calibri" pitchFamily="34" charset="-120"/>
              </a:rPr>
              <a:t>Commanded scale factors from the full-record driver, mirroring Table 2. Flag for Ihsan: the lab file EC_100 is run 11, commanded at 0.5× in the driver — the EC40 naming and normalisation disagree.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02920" y="384048"/>
            <a:ext cx="384048" cy="384048"/>
          </a:xfrm>
          <a:prstGeom prst="ellipse">
            <a:avLst/>
          </a:prstGeom>
          <a:solidFill>
            <a:srgbClr val="B85042"/>
          </a:solidFill>
          <a:ln/>
        </p:spPr>
        <p:txBody>
          <a:bodyPr/>
          <a:lstStyle/>
          <a:p>
            <a:endParaRPr lang="en-NL"/>
          </a:p>
        </p:txBody>
      </p:sp>
      <p:sp>
        <p:nvSpPr>
          <p:cNvPr id="3" name="Text 1"/>
          <p:cNvSpPr txBox="1"/>
          <p:nvPr/>
        </p:nvSpPr>
        <p:spPr>
          <a:xfrm>
            <a:off x="502920" y="38404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4" name="Text 2"/>
          <p:cNvSpPr txBox="1"/>
          <p:nvPr/>
        </p:nvSpPr>
        <p:spPr>
          <a:xfrm>
            <a:off x="1051560" y="329184"/>
            <a:ext cx="10607040" cy="530352"/>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What the records actually offer, period by period</a:t>
            </a:r>
            <a:endParaRPr lang="en-US" sz="3000" dirty="0"/>
          </a:p>
        </p:txBody>
      </p:sp>
      <p:sp>
        <p:nvSpPr>
          <p:cNvPr id="5" name="Text 3"/>
          <p:cNvSpPr txBox="1"/>
          <p:nvPr/>
        </p:nvSpPr>
        <p:spPr>
          <a:xfrm>
            <a:off x="1051560" y="877824"/>
            <a:ext cx="10607040" cy="310896"/>
          </a:xfrm>
          <a:prstGeom prst="rect">
            <a:avLst/>
          </a:prstGeom>
          <a:noFill/>
          <a:ln/>
        </p:spPr>
        <p:txBody>
          <a:bodyPr wrap="square" lIns="0" tIns="0" rIns="0" bIns="0" rtlCol="0" anchor="ctr"/>
          <a:lstStyle/>
          <a:p>
            <a:pPr marL="0" indent="0">
              <a:buNone/>
            </a:pPr>
            <a:r>
              <a:rPr lang="en-US" sz="1400" i="1" dirty="0">
                <a:solidFill>
                  <a:srgbClr val="6B6B6B"/>
                </a:solidFill>
                <a:latin typeface="Calibri" pitchFamily="34" charset="0"/>
                <a:ea typeface="Calibri" pitchFamily="34" charset="-122"/>
                <a:cs typeface="Calibri" pitchFamily="34" charset="-120"/>
              </a:rPr>
              <a:t>Exact 5%-damped displacement spectra — the quantity the pulse is calibrated against</a:t>
            </a:r>
            <a:endParaRPr lang="en-US" sz="1400" dirty="0"/>
          </a:p>
        </p:txBody>
      </p:sp>
      <p:pic>
        <p:nvPicPr>
          <p:cNvPr id="6" name="Image 0" descr="/tmp/work/deck/fig_spectra.png"/>
          <p:cNvPicPr>
            <a:picLocks noChangeAspect="1"/>
          </p:cNvPicPr>
          <p:nvPr/>
        </p:nvPicPr>
        <p:blipFill>
          <a:blip r:embed="rId3"/>
          <a:stretch>
            <a:fillRect/>
          </a:stretch>
        </p:blipFill>
        <p:spPr>
          <a:xfrm>
            <a:off x="502920" y="1417320"/>
            <a:ext cx="11155680" cy="4041648"/>
          </a:xfrm>
          <a:prstGeom prst="rect">
            <a:avLst/>
          </a:prstGeom>
        </p:spPr>
      </p:pic>
      <p:sp>
        <p:nvSpPr>
          <p:cNvPr id="7" name="Shape 4"/>
          <p:cNvSpPr/>
          <p:nvPr/>
        </p:nvSpPr>
        <p:spPr>
          <a:xfrm>
            <a:off x="502920" y="5532120"/>
            <a:ext cx="11155680" cy="868680"/>
          </a:xfrm>
          <a:prstGeom prst="roundRect">
            <a:avLst>
              <a:gd name="adj" fmla="val 6316"/>
            </a:avLst>
          </a:prstGeom>
          <a:solidFill>
            <a:srgbClr val="F3F0EC"/>
          </a:solidFill>
          <a:ln w="9525">
            <a:solidFill>
              <a:srgbClr val="DCD8D3"/>
            </a:solidFill>
            <a:prstDash val="solid"/>
          </a:ln>
        </p:spPr>
        <p:txBody>
          <a:bodyPr/>
          <a:lstStyle/>
          <a:p>
            <a:endParaRPr lang="en-NL"/>
          </a:p>
        </p:txBody>
      </p:sp>
      <p:sp>
        <p:nvSpPr>
          <p:cNvPr id="8" name="Text 5"/>
          <p:cNvSpPr txBox="1"/>
          <p:nvPr/>
        </p:nvSpPr>
        <p:spPr>
          <a:xfrm>
            <a:off x="822960" y="5669280"/>
            <a:ext cx="10515600" cy="640080"/>
          </a:xfrm>
          <a:prstGeom prst="rect">
            <a:avLst/>
          </a:prstGeom>
          <a:noFill/>
          <a:ln/>
        </p:spPr>
        <p:txBody>
          <a:bodyPr wrap="square" lIns="0" tIns="0" rIns="0" bIns="0"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The spectral growth predicts the gap, record by record.   </a:t>
            </a:r>
            <a:r>
              <a:rPr lang="en-US" sz="1300" dirty="0">
                <a:solidFill>
                  <a:srgbClr val="1A1A1A"/>
                </a:solidFill>
                <a:latin typeface="Calibri" pitchFamily="34" charset="0"/>
                <a:ea typeface="Calibri" pitchFamily="34" charset="-122"/>
                <a:cs typeface="Calibri" pitchFamily="34" charset="-120"/>
              </a:rPr>
              <a:t>Matching at 0.30 s instead of 0.107 s multiplies the demand by ×2.7 (HU12), ×7.5 (EC40), ×10.5 (FR76). The shortfalls are 1.6–2.8× on HU12 and 4.7–8.7× on FR76.</a:t>
            </a:r>
            <a:endParaRPr lang="en-US" sz="1300" dirty="0"/>
          </a:p>
        </p:txBody>
      </p:sp>
      <p:sp>
        <p:nvSpPr>
          <p:cNvPr id="9" name="Text 6"/>
          <p:cNvSpPr txBox="1"/>
          <p:nvPr/>
        </p:nvSpPr>
        <p:spPr>
          <a:xfrm>
            <a:off x="502920" y="6446520"/>
            <a:ext cx="11155680" cy="384048"/>
          </a:xfrm>
          <a:prstGeom prst="rect">
            <a:avLst/>
          </a:prstGeom>
          <a:noFill/>
          <a:ln/>
        </p:spPr>
        <p:txBody>
          <a:bodyPr wrap="square" lIns="0" tIns="0" rIns="0" bIns="0" rtlCol="0" anchor="ctr"/>
          <a:lstStyle/>
          <a:p>
            <a:pPr marL="0" indent="0">
              <a:buNone/>
            </a:pPr>
            <a:r>
              <a:rPr lang="en-US" sz="1100" i="1" dirty="0">
                <a:solidFill>
                  <a:srgbClr val="6B6B6B"/>
                </a:solidFill>
                <a:latin typeface="Calibri" pitchFamily="34" charset="0"/>
                <a:ea typeface="Calibri" pitchFamily="34" charset="-122"/>
                <a:cs typeface="Calibri" pitchFamily="34" charset="-120"/>
              </a:rPr>
              <a:t>5%-damped spectra of the achieved table motions (Moshfeghi et al. 2024). Shaded band: where the measured response puts the wall.</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02920" y="384048"/>
            <a:ext cx="384048" cy="384048"/>
          </a:xfrm>
          <a:prstGeom prst="ellipse">
            <a:avLst/>
          </a:prstGeom>
          <a:solidFill>
            <a:srgbClr val="B85042"/>
          </a:solidFill>
          <a:ln/>
        </p:spPr>
        <p:txBody>
          <a:bodyPr/>
          <a:lstStyle/>
          <a:p>
            <a:endParaRPr lang="en-NL"/>
          </a:p>
        </p:txBody>
      </p:sp>
      <p:sp>
        <p:nvSpPr>
          <p:cNvPr id="3" name="Text 1"/>
          <p:cNvSpPr txBox="1"/>
          <p:nvPr/>
        </p:nvSpPr>
        <p:spPr>
          <a:xfrm>
            <a:off x="502920" y="38404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4" name="Text 2"/>
          <p:cNvSpPr txBox="1"/>
          <p:nvPr/>
        </p:nvSpPr>
        <p:spPr>
          <a:xfrm>
            <a:off x="1051560" y="329184"/>
            <a:ext cx="10607040" cy="530352"/>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Why FR76 breaks the single-pulse scheme</a:t>
            </a:r>
            <a:endParaRPr lang="en-US" sz="3000" dirty="0"/>
          </a:p>
        </p:txBody>
      </p:sp>
      <p:sp>
        <p:nvSpPr>
          <p:cNvPr id="5" name="Text 3"/>
          <p:cNvSpPr txBox="1"/>
          <p:nvPr/>
        </p:nvSpPr>
        <p:spPr>
          <a:xfrm>
            <a:off x="1051560" y="877824"/>
            <a:ext cx="10607040" cy="310896"/>
          </a:xfrm>
          <a:prstGeom prst="rect">
            <a:avLst/>
          </a:prstGeom>
          <a:noFill/>
          <a:ln/>
        </p:spPr>
        <p:txBody>
          <a:bodyPr wrap="square" lIns="0" tIns="0" rIns="0" bIns="0" rtlCol="0" anchor="ctr"/>
          <a:lstStyle/>
          <a:p>
            <a:pPr marL="0" indent="0">
              <a:buNone/>
            </a:pPr>
            <a:r>
              <a:rPr lang="en-US" sz="1400" i="1" dirty="0">
                <a:solidFill>
                  <a:srgbClr val="6B6B6B"/>
                </a:solidFill>
                <a:latin typeface="Calibri" pitchFamily="34" charset="0"/>
                <a:ea typeface="Calibri" pitchFamily="34" charset="-122"/>
                <a:cs typeface="Calibri" pitchFamily="34" charset="-120"/>
              </a:rPr>
              <a:t>Three reasons, all of them properties of the record rather than the wall</a:t>
            </a:r>
            <a:endParaRPr lang="en-US" sz="1400" dirty="0"/>
          </a:p>
        </p:txBody>
      </p:sp>
      <p:sp>
        <p:nvSpPr>
          <p:cNvPr id="6" name="Shape 4"/>
          <p:cNvSpPr/>
          <p:nvPr/>
        </p:nvSpPr>
        <p:spPr>
          <a:xfrm>
            <a:off x="548640" y="1481328"/>
            <a:ext cx="6675120" cy="1225296"/>
          </a:xfrm>
          <a:prstGeom prst="roundRect">
            <a:avLst>
              <a:gd name="adj" fmla="val 4478"/>
            </a:avLst>
          </a:prstGeom>
          <a:solidFill>
            <a:srgbClr val="FFFFFF"/>
          </a:solidFill>
          <a:ln w="9525">
            <a:solidFill>
              <a:srgbClr val="DCD8D3"/>
            </a:solidFill>
            <a:prstDash val="solid"/>
          </a:ln>
        </p:spPr>
        <p:txBody>
          <a:bodyPr/>
          <a:lstStyle/>
          <a:p>
            <a:endParaRPr lang="en-NL"/>
          </a:p>
        </p:txBody>
      </p:sp>
      <p:sp>
        <p:nvSpPr>
          <p:cNvPr id="7" name="Text 5"/>
          <p:cNvSpPr txBox="1"/>
          <p:nvPr/>
        </p:nvSpPr>
        <p:spPr>
          <a:xfrm>
            <a:off x="841248" y="1600200"/>
            <a:ext cx="6126480" cy="292608"/>
          </a:xfrm>
          <a:prstGeom prst="rect">
            <a:avLst/>
          </a:prstGeom>
          <a:noFill/>
          <a:ln/>
        </p:spPr>
        <p:txBody>
          <a:bodyPr wrap="square" lIns="0" tIns="0" rIns="0" bIns="0" rtlCol="0" anchor="ctr"/>
          <a:lstStyle/>
          <a:p>
            <a:pPr marL="0" indent="0">
              <a:buNone/>
            </a:pPr>
            <a:r>
              <a:rPr lang="en-US" sz="1500" b="1" dirty="0">
                <a:solidFill>
                  <a:srgbClr val="B85042"/>
                </a:solidFill>
                <a:latin typeface="Calibri" pitchFamily="34" charset="0"/>
                <a:ea typeface="Calibri" pitchFamily="34" charset="-122"/>
                <a:cs typeface="Calibri" pitchFamily="34" charset="-120"/>
              </a:rPr>
              <a:t>Peaked, not broadband</a:t>
            </a:r>
            <a:endParaRPr lang="en-US" sz="1500" dirty="0"/>
          </a:p>
        </p:txBody>
      </p:sp>
      <p:sp>
        <p:nvSpPr>
          <p:cNvPr id="8" name="Text 6"/>
          <p:cNvSpPr txBox="1"/>
          <p:nvPr/>
        </p:nvSpPr>
        <p:spPr>
          <a:xfrm>
            <a:off x="841248" y="1920240"/>
            <a:ext cx="6126480" cy="713232"/>
          </a:xfrm>
          <a:prstGeom prst="rect">
            <a:avLst/>
          </a:prstGeom>
          <a:noFill/>
          <a:ln/>
        </p:spPr>
        <p:txBody>
          <a:bodyPr wrap="square" lIns="0" tIns="0" rIns="0" bIns="0" rtlCol="0" anchor="ctr"/>
          <a:lstStyle/>
          <a:p>
            <a:pPr marL="0" indent="0">
              <a:buNone/>
            </a:pPr>
            <a:r>
              <a:rPr lang="en-US" sz="1250" dirty="0">
                <a:solidFill>
                  <a:srgbClr val="1A1A1A"/>
                </a:solidFill>
                <a:latin typeface="Calibri" pitchFamily="34" charset="0"/>
                <a:ea typeface="Calibri" pitchFamily="34" charset="-122"/>
                <a:cs typeface="Calibri" pitchFamily="34" charset="-120"/>
              </a:rPr>
              <a:t>23.1 mm at 0.265 s, 48.5 mm at 0.520 s. One pulse sits on one peak. A softening wall passes through both.</a:t>
            </a:r>
            <a:endParaRPr lang="en-US" sz="1250" dirty="0"/>
          </a:p>
        </p:txBody>
      </p:sp>
      <p:sp>
        <p:nvSpPr>
          <p:cNvPr id="9" name="Shape 7"/>
          <p:cNvSpPr/>
          <p:nvPr/>
        </p:nvSpPr>
        <p:spPr>
          <a:xfrm>
            <a:off x="548640" y="2834640"/>
            <a:ext cx="6675120" cy="1225296"/>
          </a:xfrm>
          <a:prstGeom prst="roundRect">
            <a:avLst>
              <a:gd name="adj" fmla="val 4478"/>
            </a:avLst>
          </a:prstGeom>
          <a:solidFill>
            <a:srgbClr val="FFFFFF"/>
          </a:solidFill>
          <a:ln w="9525">
            <a:solidFill>
              <a:srgbClr val="DCD8D3"/>
            </a:solidFill>
            <a:prstDash val="solid"/>
          </a:ln>
        </p:spPr>
        <p:txBody>
          <a:bodyPr/>
          <a:lstStyle/>
          <a:p>
            <a:endParaRPr lang="en-NL"/>
          </a:p>
        </p:txBody>
      </p:sp>
      <p:sp>
        <p:nvSpPr>
          <p:cNvPr id="10" name="Text 8"/>
          <p:cNvSpPr txBox="1"/>
          <p:nvPr/>
        </p:nvSpPr>
        <p:spPr>
          <a:xfrm>
            <a:off x="841248" y="2953512"/>
            <a:ext cx="6126480" cy="292608"/>
          </a:xfrm>
          <a:prstGeom prst="rect">
            <a:avLst/>
          </a:prstGeom>
          <a:noFill/>
          <a:ln/>
        </p:spPr>
        <p:txBody>
          <a:bodyPr wrap="square" lIns="0" tIns="0" rIns="0" bIns="0" rtlCol="0" anchor="ctr"/>
          <a:lstStyle/>
          <a:p>
            <a:pPr marL="0" indent="0">
              <a:buNone/>
            </a:pPr>
            <a:r>
              <a:rPr lang="en-US" sz="1500" b="1" dirty="0">
                <a:solidFill>
                  <a:srgbClr val="B85042"/>
                </a:solidFill>
                <a:latin typeface="Calibri" pitchFamily="34" charset="0"/>
                <a:ea typeface="Calibri" pitchFamily="34" charset="-122"/>
                <a:cs typeface="Calibri" pitchFamily="34" charset="-120"/>
              </a:rPr>
              <a:t>The trough inverts the adaptive feedback</a:t>
            </a:r>
            <a:endParaRPr lang="en-US" sz="1500" dirty="0"/>
          </a:p>
        </p:txBody>
      </p:sp>
      <p:sp>
        <p:nvSpPr>
          <p:cNvPr id="11" name="Text 9"/>
          <p:cNvSpPr txBox="1"/>
          <p:nvPr/>
        </p:nvSpPr>
        <p:spPr>
          <a:xfrm>
            <a:off x="841248" y="3273552"/>
            <a:ext cx="6126480" cy="713232"/>
          </a:xfrm>
          <a:prstGeom prst="rect">
            <a:avLst/>
          </a:prstGeom>
          <a:noFill/>
          <a:ln/>
        </p:spPr>
        <p:txBody>
          <a:bodyPr wrap="square" lIns="0" tIns="0" rIns="0" bIns="0" rtlCol="0" anchor="ctr"/>
          <a:lstStyle/>
          <a:p>
            <a:pPr marL="0" indent="0">
              <a:buNone/>
            </a:pPr>
            <a:r>
              <a:rPr lang="en-US" sz="1250" dirty="0">
                <a:solidFill>
                  <a:srgbClr val="1A1A1A"/>
                </a:solidFill>
                <a:latin typeface="Calibri" pitchFamily="34" charset="0"/>
                <a:ea typeface="Calibri" pitchFamily="34" charset="-122"/>
                <a:cs typeface="Calibri" pitchFamily="34" charset="-120"/>
              </a:rPr>
              <a:t>Sd falls 23% from 0.265 to 0.305 s (HU12 −7%, EC40 −6%). Softening then means less demand, so the ladder stalls.</a:t>
            </a:r>
            <a:endParaRPr lang="en-US" sz="1250" dirty="0"/>
          </a:p>
        </p:txBody>
      </p:sp>
      <p:sp>
        <p:nvSpPr>
          <p:cNvPr id="12" name="Shape 10"/>
          <p:cNvSpPr/>
          <p:nvPr/>
        </p:nvSpPr>
        <p:spPr>
          <a:xfrm>
            <a:off x="548640" y="4187952"/>
            <a:ext cx="6675120" cy="1225296"/>
          </a:xfrm>
          <a:prstGeom prst="roundRect">
            <a:avLst>
              <a:gd name="adj" fmla="val 4478"/>
            </a:avLst>
          </a:prstGeom>
          <a:solidFill>
            <a:srgbClr val="FFFFFF"/>
          </a:solidFill>
          <a:ln w="9525">
            <a:solidFill>
              <a:srgbClr val="DCD8D3"/>
            </a:solidFill>
            <a:prstDash val="solid"/>
          </a:ln>
        </p:spPr>
        <p:txBody>
          <a:bodyPr/>
          <a:lstStyle/>
          <a:p>
            <a:endParaRPr lang="en-NL"/>
          </a:p>
        </p:txBody>
      </p:sp>
      <p:sp>
        <p:nvSpPr>
          <p:cNvPr id="13" name="Text 11"/>
          <p:cNvSpPr txBox="1"/>
          <p:nvPr/>
        </p:nvSpPr>
        <p:spPr>
          <a:xfrm>
            <a:off x="841248" y="4306824"/>
            <a:ext cx="6126480" cy="292608"/>
          </a:xfrm>
          <a:prstGeom prst="rect">
            <a:avLst/>
          </a:prstGeom>
          <a:noFill/>
          <a:ln/>
        </p:spPr>
        <p:txBody>
          <a:bodyPr wrap="square" lIns="0" tIns="0" rIns="0" bIns="0" rtlCol="0" anchor="ctr"/>
          <a:lstStyle/>
          <a:p>
            <a:pPr marL="0" indent="0">
              <a:buNone/>
            </a:pPr>
            <a:r>
              <a:rPr lang="en-US" sz="1500" b="1" dirty="0">
                <a:solidFill>
                  <a:srgbClr val="B85042"/>
                </a:solidFill>
                <a:latin typeface="Calibri" pitchFamily="34" charset="0"/>
                <a:ea typeface="Calibri" pitchFamily="34" charset="-122"/>
                <a:cs typeface="Calibri" pitchFamily="34" charset="-120"/>
              </a:rPr>
              <a:t>Steepest gradient, so the period choice hurts most</a:t>
            </a:r>
            <a:endParaRPr lang="en-US" sz="1500" dirty="0"/>
          </a:p>
        </p:txBody>
      </p:sp>
      <p:sp>
        <p:nvSpPr>
          <p:cNvPr id="14" name="Text 12"/>
          <p:cNvSpPr txBox="1"/>
          <p:nvPr/>
        </p:nvSpPr>
        <p:spPr>
          <a:xfrm>
            <a:off x="841248" y="4626864"/>
            <a:ext cx="6126480" cy="713232"/>
          </a:xfrm>
          <a:prstGeom prst="rect">
            <a:avLst/>
          </a:prstGeom>
          <a:noFill/>
          <a:ln/>
        </p:spPr>
        <p:txBody>
          <a:bodyPr wrap="square" lIns="0" tIns="0" rIns="0" bIns="0" rtlCol="0" anchor="ctr"/>
          <a:lstStyle/>
          <a:p>
            <a:pPr marL="0" indent="0">
              <a:buNone/>
            </a:pPr>
            <a:r>
              <a:rPr lang="en-US" sz="1250" dirty="0">
                <a:solidFill>
                  <a:srgbClr val="1A1A1A"/>
                </a:solidFill>
                <a:latin typeface="Calibri" pitchFamily="34" charset="0"/>
                <a:ea typeface="Calibri" pitchFamily="34" charset="-122"/>
                <a:cs typeface="Calibri" pitchFamily="34" charset="-120"/>
              </a:rPr>
              <a:t>Slope 2.28 for FR76, 1.95 EC40, 0.97 HU12. A 10% period error costs 25% demand on FR76.</a:t>
            </a:r>
            <a:endParaRPr lang="en-US" sz="1250" dirty="0"/>
          </a:p>
        </p:txBody>
      </p:sp>
      <p:sp>
        <p:nvSpPr>
          <p:cNvPr id="15" name="Shape 13"/>
          <p:cNvSpPr/>
          <p:nvPr/>
        </p:nvSpPr>
        <p:spPr>
          <a:xfrm>
            <a:off x="7589520" y="1481328"/>
            <a:ext cx="4023360" cy="3968496"/>
          </a:xfrm>
          <a:prstGeom prst="roundRect">
            <a:avLst>
              <a:gd name="adj" fmla="val 1382"/>
            </a:avLst>
          </a:prstGeom>
          <a:solidFill>
            <a:srgbClr val="2E2A27"/>
          </a:solidFill>
          <a:ln w="9525">
            <a:solidFill>
              <a:srgbClr val="DCD8D3"/>
            </a:solidFill>
            <a:prstDash val="solid"/>
          </a:ln>
        </p:spPr>
        <p:txBody>
          <a:bodyPr/>
          <a:lstStyle/>
          <a:p>
            <a:endParaRPr lang="en-NL"/>
          </a:p>
        </p:txBody>
      </p:sp>
      <p:sp>
        <p:nvSpPr>
          <p:cNvPr id="16" name="Text 14"/>
          <p:cNvSpPr txBox="1"/>
          <p:nvPr/>
        </p:nvSpPr>
        <p:spPr>
          <a:xfrm>
            <a:off x="7882128" y="1664208"/>
            <a:ext cx="3474720" cy="310896"/>
          </a:xfrm>
          <a:prstGeom prst="rect">
            <a:avLst/>
          </a:prstGeom>
          <a:noFill/>
          <a:ln/>
        </p:spPr>
        <p:txBody>
          <a:bodyPr wrap="square" lIns="0" tIns="0" rIns="0" bIns="0" rtlCol="0" anchor="ctr"/>
          <a:lstStyle/>
          <a:p>
            <a:pPr marL="0" indent="0">
              <a:buNone/>
            </a:pPr>
            <a:r>
              <a:rPr lang="en-US" sz="1500" b="1" dirty="0">
                <a:solidFill>
                  <a:srgbClr val="B85042"/>
                </a:solidFill>
                <a:latin typeface="Calibri" pitchFamily="34" charset="0"/>
                <a:ea typeface="Calibri" pitchFamily="34" charset="-122"/>
                <a:cs typeface="Calibri" pitchFamily="34" charset="-120"/>
              </a:rPr>
              <a:t>What that means</a:t>
            </a:r>
            <a:endParaRPr lang="en-US" sz="1500" dirty="0"/>
          </a:p>
        </p:txBody>
      </p:sp>
      <p:sp>
        <p:nvSpPr>
          <p:cNvPr id="17" name="Text 15"/>
          <p:cNvSpPr txBox="1"/>
          <p:nvPr/>
        </p:nvSpPr>
        <p:spPr>
          <a:xfrm>
            <a:off x="7882128" y="2057400"/>
            <a:ext cx="3474720" cy="3200400"/>
          </a:xfrm>
          <a:prstGeom prst="rect">
            <a:avLst/>
          </a:prstGeom>
          <a:noFill/>
          <a:ln/>
        </p:spPr>
        <p:txBody>
          <a:bodyPr wrap="square" lIns="0" tIns="0" rIns="0" bIns="0" rtlCol="0" anchor="ctr"/>
          <a:lstStyle/>
          <a:p>
            <a:pPr marL="0" indent="0">
              <a:buNone/>
            </a:pPr>
            <a:r>
              <a:rPr lang="en-US" sz="1250" dirty="0">
                <a:solidFill>
                  <a:srgbClr val="CFC8C1"/>
                </a:solidFill>
                <a:latin typeface="Calibri" pitchFamily="34" charset="0"/>
                <a:ea typeface="Calibri" pitchFamily="34" charset="-122"/>
                <a:cs typeface="Calibri" pitchFamily="34" charset="-120"/>
              </a:rPr>
              <a:t>HU12 is flat — 1.6 to 4.5 mm across 0.15–0.7 s. On a flat spectrum the matching period hardly matters.</a:t>
            </a:r>
            <a:endParaRPr lang="en-US" sz="1250" dirty="0"/>
          </a:p>
          <a:p>
            <a:pPr marL="0" indent="0">
              <a:buNone/>
            </a:pPr>
            <a:endParaRPr lang="en-US" sz="1250" dirty="0"/>
          </a:p>
          <a:p>
            <a:pPr marL="0" indent="0">
              <a:buNone/>
            </a:pPr>
            <a:r>
              <a:rPr lang="en-US" sz="1250" dirty="0">
                <a:solidFill>
                  <a:srgbClr val="CFC8C1"/>
                </a:solidFill>
                <a:latin typeface="Calibri" pitchFamily="34" charset="0"/>
                <a:ea typeface="Calibri" pitchFamily="34" charset="-122"/>
                <a:cs typeface="Calibri" pitchFamily="34" charset="-120"/>
              </a:rPr>
              <a:t>17 of the first 21 runs are HU12.</a:t>
            </a:r>
            <a:endParaRPr lang="en-US" sz="1250" dirty="0"/>
          </a:p>
          <a:p>
            <a:pPr marL="0" indent="0">
              <a:buNone/>
            </a:pPr>
            <a:endParaRPr lang="en-US" sz="1250" dirty="0"/>
          </a:p>
          <a:p>
            <a:pPr marL="0" indent="0">
              <a:buNone/>
            </a:pPr>
            <a:r>
              <a:rPr lang="en-US" sz="1250" dirty="0">
                <a:solidFill>
                  <a:srgbClr val="CFC8C1"/>
                </a:solidFill>
                <a:latin typeface="Calibri" pitchFamily="34" charset="0"/>
                <a:ea typeface="Calibri" pitchFamily="34" charset="-122"/>
                <a:cs typeface="Calibri" pitchFamily="34" charset="-120"/>
              </a:rPr>
              <a:t>The FR76 runs are the first real test.</a:t>
            </a:r>
            <a:endParaRPr lang="en-US" sz="1250" dirty="0"/>
          </a:p>
        </p:txBody>
      </p:sp>
      <p:sp>
        <p:nvSpPr>
          <p:cNvPr id="18" name="Shape 16"/>
          <p:cNvSpPr/>
          <p:nvPr/>
        </p:nvSpPr>
        <p:spPr>
          <a:xfrm>
            <a:off x="548640" y="5559552"/>
            <a:ext cx="11064240" cy="841248"/>
          </a:xfrm>
          <a:prstGeom prst="roundRect">
            <a:avLst>
              <a:gd name="adj" fmla="val 6522"/>
            </a:avLst>
          </a:prstGeom>
          <a:solidFill>
            <a:srgbClr val="F3F0EC"/>
          </a:solidFill>
          <a:ln w="9525">
            <a:solidFill>
              <a:srgbClr val="DCD8D3"/>
            </a:solidFill>
            <a:prstDash val="solid"/>
          </a:ln>
        </p:spPr>
        <p:txBody>
          <a:bodyPr/>
          <a:lstStyle/>
          <a:p>
            <a:endParaRPr lang="en-NL"/>
          </a:p>
        </p:txBody>
      </p:sp>
      <p:sp>
        <p:nvSpPr>
          <p:cNvPr id="19" name="Text 17"/>
          <p:cNvSpPr txBox="1"/>
          <p:nvPr/>
        </p:nvSpPr>
        <p:spPr>
          <a:xfrm>
            <a:off x="841248" y="5705856"/>
            <a:ext cx="10515600" cy="594360"/>
          </a:xfrm>
          <a:prstGeom prst="rect">
            <a:avLst/>
          </a:prstGeom>
          <a:noFill/>
          <a:ln/>
        </p:spPr>
        <p:txBody>
          <a:bodyPr wrap="square" lIns="0" tIns="0" rIns="0" bIns="0" rtlCol="0" anchor="ctr"/>
          <a:lstStyle/>
          <a:p>
            <a:pPr marL="0" indent="0">
              <a:buNone/>
            </a:pPr>
            <a:r>
              <a:rPr lang="en-US" sz="1250" b="1" dirty="0">
                <a:solidFill>
                  <a:srgbClr val="1A1A1A"/>
                </a:solidFill>
                <a:latin typeface="Calibri" pitchFamily="34" charset="0"/>
                <a:ea typeface="Calibri" pitchFamily="34" charset="-122"/>
                <a:cs typeface="Calibri" pitchFamily="34" charset="-120"/>
              </a:rPr>
              <a:t>This does not sink the pulse. It sinks a one-frequency pulse matched at one period.  </a:t>
            </a:r>
            <a:r>
              <a:rPr lang="en-US" sz="1250" dirty="0">
                <a:solidFill>
                  <a:srgbClr val="1A1A1A"/>
                </a:solidFill>
                <a:latin typeface="Calibri" pitchFamily="34" charset="0"/>
                <a:ea typeface="Calibri" pitchFamily="34" charset="-122"/>
                <a:cs typeface="Calibri" pitchFamily="34" charset="-120"/>
              </a:rPr>
              <a:t>Three ways out: a swept-frequency chirp; a two-component pulse at both peaks; or the real record for FR76.</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02920" y="384048"/>
            <a:ext cx="384048" cy="384048"/>
          </a:xfrm>
          <a:prstGeom prst="ellipse">
            <a:avLst/>
          </a:prstGeom>
          <a:solidFill>
            <a:srgbClr val="B85042"/>
          </a:solidFill>
          <a:ln/>
        </p:spPr>
        <p:txBody>
          <a:bodyPr/>
          <a:lstStyle/>
          <a:p>
            <a:endParaRPr lang="en-NL"/>
          </a:p>
        </p:txBody>
      </p:sp>
      <p:sp>
        <p:nvSpPr>
          <p:cNvPr id="3" name="Text 1"/>
          <p:cNvSpPr txBox="1"/>
          <p:nvPr/>
        </p:nvSpPr>
        <p:spPr>
          <a:xfrm>
            <a:off x="502920" y="38404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4" name="Text 2"/>
          <p:cNvSpPr txBox="1"/>
          <p:nvPr/>
        </p:nvSpPr>
        <p:spPr>
          <a:xfrm>
            <a:off x="1051560" y="329184"/>
            <a:ext cx="10607040" cy="530352"/>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Where the demand is lost: the matching period</a:t>
            </a:r>
            <a:endParaRPr lang="en-US" sz="3000" dirty="0"/>
          </a:p>
        </p:txBody>
      </p:sp>
      <p:sp>
        <p:nvSpPr>
          <p:cNvPr id="5" name="Text 3"/>
          <p:cNvSpPr txBox="1"/>
          <p:nvPr/>
        </p:nvSpPr>
        <p:spPr>
          <a:xfrm>
            <a:off x="1051560" y="877824"/>
            <a:ext cx="10607040" cy="310896"/>
          </a:xfrm>
          <a:prstGeom prst="rect">
            <a:avLst/>
          </a:prstGeom>
          <a:noFill/>
          <a:ln/>
        </p:spPr>
        <p:txBody>
          <a:bodyPr wrap="square" lIns="0" tIns="0" rIns="0" bIns="0" rtlCol="0" anchor="ctr"/>
          <a:lstStyle/>
          <a:p>
            <a:pPr marL="0" indent="0">
              <a:buNone/>
            </a:pPr>
            <a:r>
              <a:rPr lang="en-US" sz="1400" i="1" dirty="0">
                <a:solidFill>
                  <a:srgbClr val="6B6B6B"/>
                </a:solidFill>
                <a:latin typeface="Calibri" pitchFamily="34" charset="0"/>
                <a:ea typeface="Calibri" pitchFamily="34" charset="-122"/>
                <a:cs typeface="Calibri" pitchFamily="34" charset="-120"/>
              </a:rPr>
              <a:t>Sd read at the free-vibration period never reaches the measured displacement</a:t>
            </a:r>
            <a:endParaRPr lang="en-US" sz="1400" dirty="0"/>
          </a:p>
        </p:txBody>
      </p:sp>
      <p:graphicFrame>
        <p:nvGraphicFramePr>
          <p:cNvPr id="6" name="Chart 0"/>
          <p:cNvGraphicFramePr/>
          <p:nvPr/>
        </p:nvGraphicFramePr>
        <p:xfrm>
          <a:off x="548640" y="1554480"/>
          <a:ext cx="704088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7863840" y="1554480"/>
            <a:ext cx="3749040" cy="3931920"/>
          </a:xfrm>
          <a:prstGeom prst="roundRect">
            <a:avLst>
              <a:gd name="adj" fmla="val 1463"/>
            </a:avLst>
          </a:prstGeom>
          <a:solidFill>
            <a:srgbClr val="F3F0EC"/>
          </a:solidFill>
          <a:ln w="9525">
            <a:solidFill>
              <a:srgbClr val="DCD8D3"/>
            </a:solidFill>
            <a:prstDash val="solid"/>
          </a:ln>
        </p:spPr>
        <p:txBody>
          <a:bodyPr/>
          <a:lstStyle/>
          <a:p>
            <a:endParaRPr lang="en-NL"/>
          </a:p>
        </p:txBody>
      </p:sp>
      <p:sp>
        <p:nvSpPr>
          <p:cNvPr id="8" name="Text 5"/>
          <p:cNvSpPr txBox="1"/>
          <p:nvPr/>
        </p:nvSpPr>
        <p:spPr>
          <a:xfrm>
            <a:off x="8183880" y="1737360"/>
            <a:ext cx="3108960" cy="320040"/>
          </a:xfrm>
          <a:prstGeom prst="rect">
            <a:avLst/>
          </a:prstGeom>
          <a:noFill/>
          <a:ln/>
        </p:spPr>
        <p:txBody>
          <a:bodyPr wrap="square" lIns="0" tIns="0" rIns="0" bIns="0" rtlCol="0" anchor="ctr"/>
          <a:lstStyle/>
          <a:p>
            <a:pPr marL="0" indent="0">
              <a:buNone/>
            </a:pPr>
            <a:r>
              <a:rPr lang="en-US" sz="1500" b="1" dirty="0">
                <a:solidFill>
                  <a:srgbClr val="B85042"/>
                </a:solidFill>
                <a:latin typeface="Calibri" pitchFamily="34" charset="0"/>
                <a:ea typeface="Calibri" pitchFamily="34" charset="-122"/>
                <a:cs typeface="Calibri" pitchFamily="34" charset="-120"/>
              </a:rPr>
              <a:t>Reading it</a:t>
            </a:r>
            <a:endParaRPr lang="en-US" sz="1500" dirty="0"/>
          </a:p>
        </p:txBody>
      </p:sp>
      <p:sp>
        <p:nvSpPr>
          <p:cNvPr id="9" name="Text 6"/>
          <p:cNvSpPr txBox="1"/>
          <p:nvPr/>
        </p:nvSpPr>
        <p:spPr>
          <a:xfrm>
            <a:off x="8183880" y="2148840"/>
            <a:ext cx="3108960" cy="3108960"/>
          </a:xfrm>
          <a:prstGeom prst="rect">
            <a:avLst/>
          </a:prstGeom>
          <a:noFill/>
          <a:ln/>
        </p:spPr>
        <p:txBody>
          <a:bodyPr wrap="square" rtlCol="0" anchor="ctr"/>
          <a:lstStyle/>
          <a:p>
            <a:pPr marL="342900" indent="-342900">
              <a:lnSpc>
                <a:spcPts val="2000"/>
              </a:lnSpc>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Sd at that period never passes 4.6 mm</a:t>
            </a:r>
            <a:endParaRPr lang="en-US" sz="1250" dirty="0"/>
          </a:p>
          <a:p>
            <a:pPr marL="342900" indent="-342900">
              <a:lnSpc>
                <a:spcPts val="2000"/>
              </a:lnSpc>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Measured demand reaches 29.5 mm</a:t>
            </a:r>
            <a:endParaRPr lang="en-US" sz="1250" dirty="0"/>
          </a:p>
          <a:p>
            <a:pPr marL="342900" indent="-342900">
              <a:lnSpc>
                <a:spcPts val="2000"/>
              </a:lnSpc>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The period that fits is 1.1× to 3.4× longer</a:t>
            </a:r>
            <a:endParaRPr lang="en-US" sz="1250" dirty="0"/>
          </a:p>
          <a:p>
            <a:pPr marL="342900" indent="-342900">
              <a:lnSpc>
                <a:spcPts val="2000"/>
              </a:lnSpc>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Fig 14’s period is measured after shaking, at tiny amplitude. It tracks damage, not the period the wall moves at.</a:t>
            </a:r>
            <a:endParaRPr lang="en-US" sz="1250" dirty="0"/>
          </a:p>
        </p:txBody>
      </p:sp>
      <p:sp>
        <p:nvSpPr>
          <p:cNvPr id="10" name="Text 7"/>
          <p:cNvSpPr txBox="1"/>
          <p:nvPr/>
        </p:nvSpPr>
        <p:spPr>
          <a:xfrm>
            <a:off x="502920" y="5715000"/>
            <a:ext cx="11155680" cy="384048"/>
          </a:xfrm>
          <a:prstGeom prst="rect">
            <a:avLst/>
          </a:prstGeom>
          <a:noFill/>
          <a:ln/>
        </p:spPr>
        <p:txBody>
          <a:bodyPr wrap="square" lIns="0" tIns="0" rIns="0" bIns="0" rtlCol="0" anchor="ctr"/>
          <a:lstStyle/>
          <a:p>
            <a:pPr marL="0" indent="0">
              <a:buNone/>
            </a:pPr>
            <a:r>
              <a:rPr lang="en-US" sz="1100" i="1" dirty="0">
                <a:solidFill>
                  <a:srgbClr val="6B6B6B"/>
                </a:solidFill>
                <a:latin typeface="Calibri" pitchFamily="34" charset="0"/>
                <a:ea typeface="Calibri" pitchFamily="34" charset="-122"/>
                <a:cs typeface="Calibri" pitchFamily="34" charset="-120"/>
              </a:rPr>
              <a:t>EC40 and FR76 use Table 2 PTA, an average over four specimens, lower than US-1 received. HU12 matches to 1.5%.</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02920" y="384048"/>
            <a:ext cx="384048" cy="384048"/>
          </a:xfrm>
          <a:prstGeom prst="ellipse">
            <a:avLst/>
          </a:prstGeom>
          <a:solidFill>
            <a:srgbClr val="B85042"/>
          </a:solidFill>
          <a:ln/>
        </p:spPr>
        <p:txBody>
          <a:bodyPr/>
          <a:lstStyle/>
          <a:p>
            <a:endParaRPr lang="en-NL"/>
          </a:p>
        </p:txBody>
      </p:sp>
      <p:sp>
        <p:nvSpPr>
          <p:cNvPr id="3" name="Text 1"/>
          <p:cNvSpPr txBox="1"/>
          <p:nvPr/>
        </p:nvSpPr>
        <p:spPr>
          <a:xfrm>
            <a:off x="502920" y="38404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4" name="Text 2"/>
          <p:cNvSpPr txBox="1"/>
          <p:nvPr/>
        </p:nvSpPr>
        <p:spPr>
          <a:xfrm>
            <a:off x="1051560" y="329184"/>
            <a:ext cx="10607040" cy="530352"/>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The rocking period, and why the formula is wrong here</a:t>
            </a:r>
            <a:endParaRPr lang="en-US" sz="3000" dirty="0"/>
          </a:p>
        </p:txBody>
      </p:sp>
      <p:sp>
        <p:nvSpPr>
          <p:cNvPr id="5" name="Text 3"/>
          <p:cNvSpPr txBox="1"/>
          <p:nvPr/>
        </p:nvSpPr>
        <p:spPr>
          <a:xfrm>
            <a:off x="1051560" y="877824"/>
            <a:ext cx="10607040" cy="310896"/>
          </a:xfrm>
          <a:prstGeom prst="rect">
            <a:avLst/>
          </a:prstGeom>
          <a:noFill/>
          <a:ln/>
        </p:spPr>
        <p:txBody>
          <a:bodyPr wrap="square" lIns="0" tIns="0" rIns="0" bIns="0" rtlCol="0" anchor="ctr"/>
          <a:lstStyle/>
          <a:p>
            <a:pPr marL="0" indent="0">
              <a:buNone/>
            </a:pPr>
            <a:r>
              <a:rPr lang="en-US" sz="1400" i="1" dirty="0">
                <a:solidFill>
                  <a:srgbClr val="6B6B6B"/>
                </a:solidFill>
                <a:latin typeface="Calibri" pitchFamily="34" charset="0"/>
                <a:ea typeface="Calibri" pitchFamily="34" charset="-122"/>
                <a:cs typeface="Calibri" pitchFamily="34" charset="-120"/>
              </a:rPr>
              <a:t>The idea is right. The way we compute the period is not.</a:t>
            </a:r>
            <a:endParaRPr lang="en-US" sz="1400" dirty="0"/>
          </a:p>
        </p:txBody>
      </p:sp>
      <p:pic>
        <p:nvPicPr>
          <p:cNvPr id="6" name="Image 0" descr="/tmp/work/deck/fig_rocking.png"/>
          <p:cNvPicPr>
            <a:picLocks noChangeAspect="1"/>
          </p:cNvPicPr>
          <p:nvPr/>
        </p:nvPicPr>
        <p:blipFill>
          <a:blip r:embed="rId3"/>
          <a:stretch>
            <a:fillRect/>
          </a:stretch>
        </p:blipFill>
        <p:spPr>
          <a:xfrm>
            <a:off x="502920" y="1417320"/>
            <a:ext cx="11155680" cy="4114800"/>
          </a:xfrm>
          <a:prstGeom prst="rect">
            <a:avLst/>
          </a:prstGeom>
        </p:spPr>
      </p:pic>
      <p:sp>
        <p:nvSpPr>
          <p:cNvPr id="7" name="Shape 4"/>
          <p:cNvSpPr/>
          <p:nvPr/>
        </p:nvSpPr>
        <p:spPr>
          <a:xfrm>
            <a:off x="502920" y="5623560"/>
            <a:ext cx="11155680" cy="777240"/>
          </a:xfrm>
          <a:prstGeom prst="roundRect">
            <a:avLst>
              <a:gd name="adj" fmla="val 7059"/>
            </a:avLst>
          </a:prstGeom>
          <a:solidFill>
            <a:srgbClr val="F3F0EC"/>
          </a:solidFill>
          <a:ln w="9525">
            <a:solidFill>
              <a:srgbClr val="DCD8D3"/>
            </a:solidFill>
            <a:prstDash val="solid"/>
          </a:ln>
        </p:spPr>
        <p:txBody>
          <a:bodyPr/>
          <a:lstStyle/>
          <a:p>
            <a:endParaRPr lang="en-NL"/>
          </a:p>
        </p:txBody>
      </p:sp>
      <p:sp>
        <p:nvSpPr>
          <p:cNvPr id="8" name="Text 5"/>
          <p:cNvSpPr txBox="1"/>
          <p:nvPr/>
        </p:nvSpPr>
        <p:spPr>
          <a:xfrm>
            <a:off x="822960" y="5760720"/>
            <a:ext cx="10515600" cy="548640"/>
          </a:xfrm>
          <a:prstGeom prst="rect">
            <a:avLst/>
          </a:prstGeom>
          <a:noFill/>
          <a:ln/>
        </p:spPr>
        <p:txBody>
          <a:bodyPr wrap="square" lIns="0" tIns="0" rIns="0" bIns="0"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Housner is a free-standing block.  </a:t>
            </a:r>
            <a:r>
              <a:rPr lang="en-US" sz="1300" dirty="0">
                <a:solidFill>
                  <a:srgbClr val="1A1A1A"/>
                </a:solidFill>
                <a:latin typeface="Calibri" pitchFamily="34" charset="0"/>
                <a:ea typeface="Calibri" pitchFamily="34" charset="-122"/>
                <a:cs typeface="Calibri" pitchFamily="34" charset="-120"/>
              </a:rPr>
              <a:t>Ours is held at the top, pressed by springs and tied to joists. It gives 0.68 s where the measurements say 0.26–0.35 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02920" y="384048"/>
            <a:ext cx="384048" cy="384048"/>
          </a:xfrm>
          <a:prstGeom prst="ellipse">
            <a:avLst/>
          </a:prstGeom>
          <a:solidFill>
            <a:srgbClr val="B85042"/>
          </a:solidFill>
          <a:ln/>
        </p:spPr>
        <p:txBody>
          <a:bodyPr/>
          <a:lstStyle/>
          <a:p>
            <a:endParaRPr lang="en-NL"/>
          </a:p>
        </p:txBody>
      </p:sp>
      <p:sp>
        <p:nvSpPr>
          <p:cNvPr id="3" name="Text 1"/>
          <p:cNvSpPr txBox="1"/>
          <p:nvPr/>
        </p:nvSpPr>
        <p:spPr>
          <a:xfrm>
            <a:off x="502920" y="38404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11</a:t>
            </a:r>
            <a:endParaRPr lang="en-US" sz="1400" dirty="0"/>
          </a:p>
        </p:txBody>
      </p:sp>
      <p:sp>
        <p:nvSpPr>
          <p:cNvPr id="4" name="Text 2"/>
          <p:cNvSpPr txBox="1"/>
          <p:nvPr/>
        </p:nvSpPr>
        <p:spPr>
          <a:xfrm>
            <a:off x="1051560" y="329184"/>
            <a:ext cx="10607040" cy="530352"/>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The rocking-period run: the result, and what it cost</a:t>
            </a:r>
            <a:endParaRPr lang="en-US" sz="3000" dirty="0"/>
          </a:p>
        </p:txBody>
      </p:sp>
      <p:sp>
        <p:nvSpPr>
          <p:cNvPr id="5" name="Text 3"/>
          <p:cNvSpPr txBox="1"/>
          <p:nvPr/>
        </p:nvSpPr>
        <p:spPr>
          <a:xfrm>
            <a:off x="1051560" y="877824"/>
            <a:ext cx="10607040" cy="310896"/>
          </a:xfrm>
          <a:prstGeom prst="rect">
            <a:avLst/>
          </a:prstGeom>
          <a:noFill/>
          <a:ln/>
        </p:spPr>
        <p:txBody>
          <a:bodyPr wrap="square" lIns="0" tIns="0" rIns="0" bIns="0" rtlCol="0" anchor="ctr"/>
          <a:lstStyle/>
          <a:p>
            <a:pPr marL="0" indent="0">
              <a:buNone/>
            </a:pPr>
            <a:r>
              <a:rPr lang="en-US" sz="1400" i="1" dirty="0">
                <a:solidFill>
                  <a:srgbClr val="6B6B6B"/>
                </a:solidFill>
                <a:latin typeface="Calibri" pitchFamily="34" charset="0"/>
                <a:ea typeface="Calibri" pitchFamily="34" charset="-122"/>
                <a:cs typeface="Calibri" pitchFamily="34" charset="-120"/>
              </a:rPr>
              <a:t>It reaches the measurement. Look at the intensity it needed.</a:t>
            </a:r>
            <a:endParaRPr lang="en-US" sz="1400" dirty="0"/>
          </a:p>
        </p:txBody>
      </p:sp>
      <p:pic>
        <p:nvPicPr>
          <p:cNvPr id="6" name="Image 0" descr="/tmp/work/deck/fig_rp_disp.png"/>
          <p:cNvPicPr>
            <a:picLocks noChangeAspect="1"/>
          </p:cNvPicPr>
          <p:nvPr/>
        </p:nvPicPr>
        <p:blipFill>
          <a:blip r:embed="rId3"/>
          <a:stretch>
            <a:fillRect/>
          </a:stretch>
        </p:blipFill>
        <p:spPr>
          <a:xfrm>
            <a:off x="502920" y="1417320"/>
            <a:ext cx="6949440" cy="3730752"/>
          </a:xfrm>
          <a:prstGeom prst="rect">
            <a:avLst/>
          </a:prstGeom>
        </p:spPr>
      </p:pic>
      <p:sp>
        <p:nvSpPr>
          <p:cNvPr id="7" name="Shape 4"/>
          <p:cNvSpPr/>
          <p:nvPr/>
        </p:nvSpPr>
        <p:spPr>
          <a:xfrm>
            <a:off x="7635240" y="1417320"/>
            <a:ext cx="4023360" cy="3730752"/>
          </a:xfrm>
          <a:prstGeom prst="roundRect">
            <a:avLst>
              <a:gd name="adj" fmla="val 1471"/>
            </a:avLst>
          </a:prstGeom>
          <a:solidFill>
            <a:srgbClr val="2E2A27"/>
          </a:solidFill>
          <a:ln w="9525">
            <a:solidFill>
              <a:srgbClr val="DCD8D3"/>
            </a:solidFill>
            <a:prstDash val="solid"/>
          </a:ln>
        </p:spPr>
        <p:txBody>
          <a:bodyPr/>
          <a:lstStyle/>
          <a:p>
            <a:endParaRPr lang="en-NL"/>
          </a:p>
        </p:txBody>
      </p:sp>
      <p:sp>
        <p:nvSpPr>
          <p:cNvPr id="8" name="Text 5"/>
          <p:cNvSpPr txBox="1"/>
          <p:nvPr/>
        </p:nvSpPr>
        <p:spPr>
          <a:xfrm>
            <a:off x="7909560" y="1600200"/>
            <a:ext cx="3474720" cy="310896"/>
          </a:xfrm>
          <a:prstGeom prst="rect">
            <a:avLst/>
          </a:prstGeom>
          <a:noFill/>
          <a:ln/>
        </p:spPr>
        <p:txBody>
          <a:bodyPr wrap="square" lIns="0" tIns="0" rIns="0" bIns="0" rtlCol="0" anchor="ctr"/>
          <a:lstStyle/>
          <a:p>
            <a:pPr marL="0" indent="0">
              <a:buNone/>
            </a:pPr>
            <a:r>
              <a:rPr lang="en-US" sz="1500" b="1" dirty="0">
                <a:solidFill>
                  <a:srgbClr val="B85042"/>
                </a:solidFill>
                <a:latin typeface="Calibri" pitchFamily="34" charset="0"/>
                <a:ea typeface="Calibri" pitchFamily="34" charset="-122"/>
                <a:cs typeface="Calibri" pitchFamily="34" charset="-120"/>
              </a:rPr>
              <a:t>What it was driven at</a:t>
            </a:r>
            <a:endParaRPr lang="en-US" sz="1500" dirty="0"/>
          </a:p>
        </p:txBody>
      </p:sp>
      <p:sp>
        <p:nvSpPr>
          <p:cNvPr id="9" name="Text 6"/>
          <p:cNvSpPr txBox="1"/>
          <p:nvPr/>
        </p:nvSpPr>
        <p:spPr>
          <a:xfrm>
            <a:off x="7909560" y="2029968"/>
            <a:ext cx="731520" cy="310896"/>
          </a:xfrm>
          <a:prstGeom prst="rect">
            <a:avLst/>
          </a:prstGeom>
          <a:noFill/>
          <a:ln/>
        </p:spPr>
        <p:txBody>
          <a:bodyPr wrap="square" lIns="0" tIns="0" rIns="0" bIns="0" rtlCol="0" anchor="ctr"/>
          <a:lstStyle/>
          <a:p>
            <a:pPr marL="0" indent="0">
              <a:buNone/>
            </a:pPr>
            <a:r>
              <a:rPr lang="en-US" sz="1100" dirty="0">
                <a:solidFill>
                  <a:srgbClr val="6B6B6B"/>
                </a:solidFill>
                <a:latin typeface="Calibri" pitchFamily="34" charset="0"/>
                <a:ea typeface="Calibri" pitchFamily="34" charset="-122"/>
                <a:cs typeface="Calibri" pitchFamily="34" charset="-120"/>
              </a:rPr>
              <a:t>run</a:t>
            </a:r>
            <a:endParaRPr lang="en-US" sz="1100" dirty="0"/>
          </a:p>
        </p:txBody>
      </p:sp>
      <p:sp>
        <p:nvSpPr>
          <p:cNvPr id="10" name="Text 7"/>
          <p:cNvSpPr txBox="1"/>
          <p:nvPr/>
        </p:nvSpPr>
        <p:spPr>
          <a:xfrm>
            <a:off x="8686800" y="2029968"/>
            <a:ext cx="1554480" cy="310896"/>
          </a:xfrm>
          <a:prstGeom prst="rect">
            <a:avLst/>
          </a:prstGeom>
          <a:noFill/>
          <a:ln/>
        </p:spPr>
        <p:txBody>
          <a:bodyPr wrap="square" lIns="0" tIns="0" rIns="0" bIns="0" rtlCol="0" anchor="ctr"/>
          <a:lstStyle/>
          <a:p>
            <a:pPr marL="0" indent="0">
              <a:buNone/>
            </a:pPr>
            <a:r>
              <a:rPr lang="en-US" sz="1100" dirty="0">
                <a:solidFill>
                  <a:srgbClr val="6B6B6B"/>
                </a:solidFill>
                <a:latin typeface="Calibri" pitchFamily="34" charset="0"/>
                <a:ea typeface="Calibri" pitchFamily="34" charset="-122"/>
                <a:cs typeface="Calibri" pitchFamily="34" charset="-120"/>
              </a:rPr>
              <a:t>commanded</a:t>
            </a:r>
            <a:endParaRPr lang="en-US" sz="1100" dirty="0"/>
          </a:p>
        </p:txBody>
      </p:sp>
      <p:sp>
        <p:nvSpPr>
          <p:cNvPr id="11" name="Text 8"/>
          <p:cNvSpPr txBox="1"/>
          <p:nvPr/>
        </p:nvSpPr>
        <p:spPr>
          <a:xfrm>
            <a:off x="10241280" y="2029968"/>
            <a:ext cx="1280160" cy="310896"/>
          </a:xfrm>
          <a:prstGeom prst="rect">
            <a:avLst/>
          </a:prstGeom>
          <a:noFill/>
          <a:ln/>
        </p:spPr>
        <p:txBody>
          <a:bodyPr wrap="square" lIns="0" tIns="0" rIns="0" bIns="0" rtlCol="0" anchor="ctr"/>
          <a:lstStyle/>
          <a:p>
            <a:pPr marL="0" indent="0">
              <a:buNone/>
            </a:pPr>
            <a:r>
              <a:rPr lang="en-US" sz="1100" dirty="0">
                <a:solidFill>
                  <a:srgbClr val="6B6B6B"/>
                </a:solidFill>
                <a:latin typeface="Calibri" pitchFamily="34" charset="0"/>
                <a:ea typeface="Calibri" pitchFamily="34" charset="-122"/>
                <a:cs typeface="Calibri" pitchFamily="34" charset="-120"/>
              </a:rPr>
              <a:t>table</a:t>
            </a:r>
            <a:endParaRPr lang="en-US" sz="1100" dirty="0"/>
          </a:p>
        </p:txBody>
      </p:sp>
      <p:sp>
        <p:nvSpPr>
          <p:cNvPr id="12" name="Text 9"/>
          <p:cNvSpPr txBox="1"/>
          <p:nvPr/>
        </p:nvSpPr>
        <p:spPr>
          <a:xfrm>
            <a:off x="7909560" y="2514600"/>
            <a:ext cx="731520" cy="310896"/>
          </a:xfrm>
          <a:prstGeom prst="rect">
            <a:avLst/>
          </a:prstGeom>
          <a:noFill/>
          <a:ln/>
        </p:spPr>
        <p:txBody>
          <a:bodyPr wrap="square" lIns="0" tIns="0" rIns="0" bIns="0" rtlCol="0" anchor="ctr"/>
          <a:lstStyle/>
          <a:p>
            <a:pPr marL="0" indent="0">
              <a:buNone/>
            </a:pPr>
            <a:r>
              <a:rPr lang="en-US" sz="1300" b="1" dirty="0">
                <a:solidFill>
                  <a:srgbClr val="CFC8C1"/>
                </a:solidFill>
                <a:latin typeface="Calibri" pitchFamily="34" charset="0"/>
                <a:ea typeface="Calibri" pitchFamily="34" charset="-122"/>
                <a:cs typeface="Calibri" pitchFamily="34" charset="-120"/>
              </a:rPr>
              <a:t>21</a:t>
            </a:r>
            <a:endParaRPr lang="en-US" sz="1300" dirty="0"/>
          </a:p>
        </p:txBody>
      </p:sp>
      <p:sp>
        <p:nvSpPr>
          <p:cNvPr id="13" name="Text 10"/>
          <p:cNvSpPr txBox="1"/>
          <p:nvPr/>
        </p:nvSpPr>
        <p:spPr>
          <a:xfrm>
            <a:off x="8686800" y="2514600"/>
            <a:ext cx="1554480" cy="310896"/>
          </a:xfrm>
          <a:prstGeom prst="rect">
            <a:avLst/>
          </a:prstGeom>
          <a:noFill/>
          <a:ln/>
        </p:spPr>
        <p:txBody>
          <a:bodyPr wrap="square" lIns="0" tIns="0" rIns="0" bIns="0" rtlCol="0" anchor="ctr"/>
          <a:lstStyle/>
          <a:p>
            <a:pPr marL="0" indent="0">
              <a:buNone/>
            </a:pPr>
            <a:r>
              <a:rPr lang="en-US" sz="1300" b="1" dirty="0">
                <a:solidFill>
                  <a:srgbClr val="CFC8C1"/>
                </a:solidFill>
                <a:latin typeface="Calibri" pitchFamily="34" charset="0"/>
                <a:ea typeface="Calibri" pitchFamily="34" charset="-122"/>
                <a:cs typeface="Calibri" pitchFamily="34" charset="-120"/>
              </a:rPr>
              <a:t>0.82 g</a:t>
            </a:r>
            <a:endParaRPr lang="en-US" sz="1300" dirty="0"/>
          </a:p>
        </p:txBody>
      </p:sp>
      <p:sp>
        <p:nvSpPr>
          <p:cNvPr id="14" name="Text 11"/>
          <p:cNvSpPr txBox="1"/>
          <p:nvPr/>
        </p:nvSpPr>
        <p:spPr>
          <a:xfrm>
            <a:off x="10241280" y="2514600"/>
            <a:ext cx="1280160" cy="310896"/>
          </a:xfrm>
          <a:prstGeom prst="rect">
            <a:avLst/>
          </a:prstGeom>
          <a:noFill/>
          <a:ln/>
        </p:spPr>
        <p:txBody>
          <a:bodyPr wrap="square" lIns="0" tIns="0" rIns="0" bIns="0" rtlCol="0" anchor="ctr"/>
          <a:lstStyle/>
          <a:p>
            <a:pPr marL="0" indent="0">
              <a:buNone/>
            </a:pPr>
            <a:r>
              <a:rPr lang="en-US" sz="1300" dirty="0">
                <a:solidFill>
                  <a:srgbClr val="A69D95"/>
                </a:solidFill>
                <a:latin typeface="Calibri" pitchFamily="34" charset="0"/>
                <a:ea typeface="Calibri" pitchFamily="34" charset="-122"/>
                <a:cs typeface="Calibri" pitchFamily="34" charset="-120"/>
              </a:rPr>
              <a:t>0.78 g</a:t>
            </a:r>
            <a:endParaRPr lang="en-US" sz="1300" dirty="0"/>
          </a:p>
        </p:txBody>
      </p:sp>
      <p:sp>
        <p:nvSpPr>
          <p:cNvPr id="15" name="Text 12"/>
          <p:cNvSpPr txBox="1"/>
          <p:nvPr/>
        </p:nvSpPr>
        <p:spPr>
          <a:xfrm>
            <a:off x="7909560" y="2999232"/>
            <a:ext cx="731520" cy="310896"/>
          </a:xfrm>
          <a:prstGeom prst="rect">
            <a:avLst/>
          </a:prstGeom>
          <a:noFill/>
          <a:ln/>
        </p:spPr>
        <p:txBody>
          <a:bodyPr wrap="square" lIns="0" tIns="0" rIns="0" bIns="0" rtlCol="0" anchor="ctr"/>
          <a:lstStyle/>
          <a:p>
            <a:pPr marL="0" indent="0">
              <a:buNone/>
            </a:pPr>
            <a:r>
              <a:rPr lang="en-US" sz="1300" b="1" dirty="0">
                <a:solidFill>
                  <a:srgbClr val="CFC8C1"/>
                </a:solidFill>
                <a:latin typeface="Calibri" pitchFamily="34" charset="0"/>
                <a:ea typeface="Calibri" pitchFamily="34" charset="-122"/>
                <a:cs typeface="Calibri" pitchFamily="34" charset="-120"/>
              </a:rPr>
              <a:t>22</a:t>
            </a:r>
            <a:endParaRPr lang="en-US" sz="1300" dirty="0"/>
          </a:p>
        </p:txBody>
      </p:sp>
      <p:sp>
        <p:nvSpPr>
          <p:cNvPr id="16" name="Text 13"/>
          <p:cNvSpPr txBox="1"/>
          <p:nvPr/>
        </p:nvSpPr>
        <p:spPr>
          <a:xfrm>
            <a:off x="8686800" y="2999232"/>
            <a:ext cx="1554480" cy="310896"/>
          </a:xfrm>
          <a:prstGeom prst="rect">
            <a:avLst/>
          </a:prstGeom>
          <a:noFill/>
          <a:ln/>
        </p:spPr>
        <p:txBody>
          <a:bodyPr wrap="square" lIns="0" tIns="0" rIns="0" bIns="0" rtlCol="0" anchor="ctr"/>
          <a:lstStyle/>
          <a:p>
            <a:pPr marL="0" indent="0">
              <a:buNone/>
            </a:pPr>
            <a:r>
              <a:rPr lang="en-US" sz="1300" b="1" dirty="0">
                <a:solidFill>
                  <a:srgbClr val="B85042"/>
                </a:solidFill>
                <a:latin typeface="Calibri" pitchFamily="34" charset="0"/>
                <a:ea typeface="Calibri" pitchFamily="34" charset="-122"/>
                <a:cs typeface="Calibri" pitchFamily="34" charset="-120"/>
              </a:rPr>
              <a:t>0.87 g</a:t>
            </a:r>
            <a:endParaRPr lang="en-US" sz="1300" dirty="0"/>
          </a:p>
        </p:txBody>
      </p:sp>
      <p:sp>
        <p:nvSpPr>
          <p:cNvPr id="17" name="Text 14"/>
          <p:cNvSpPr txBox="1"/>
          <p:nvPr/>
        </p:nvSpPr>
        <p:spPr>
          <a:xfrm>
            <a:off x="10241280" y="2999232"/>
            <a:ext cx="1280160" cy="310896"/>
          </a:xfrm>
          <a:prstGeom prst="rect">
            <a:avLst/>
          </a:prstGeom>
          <a:noFill/>
          <a:ln/>
        </p:spPr>
        <p:txBody>
          <a:bodyPr wrap="square" lIns="0" tIns="0" rIns="0" bIns="0" rtlCol="0" anchor="ctr"/>
          <a:lstStyle/>
          <a:p>
            <a:pPr marL="0" indent="0">
              <a:buNone/>
            </a:pPr>
            <a:r>
              <a:rPr lang="en-US" sz="1300" dirty="0">
                <a:solidFill>
                  <a:srgbClr val="A69D95"/>
                </a:solidFill>
                <a:latin typeface="Calibri" pitchFamily="34" charset="0"/>
                <a:ea typeface="Calibri" pitchFamily="34" charset="-122"/>
                <a:cs typeface="Calibri" pitchFamily="34" charset="-120"/>
              </a:rPr>
              <a:t>0.27 g</a:t>
            </a:r>
            <a:endParaRPr lang="en-US" sz="1300" dirty="0"/>
          </a:p>
        </p:txBody>
      </p:sp>
      <p:sp>
        <p:nvSpPr>
          <p:cNvPr id="18" name="Text 15"/>
          <p:cNvSpPr txBox="1"/>
          <p:nvPr/>
        </p:nvSpPr>
        <p:spPr>
          <a:xfrm>
            <a:off x="7909560" y="3483864"/>
            <a:ext cx="731520" cy="310896"/>
          </a:xfrm>
          <a:prstGeom prst="rect">
            <a:avLst/>
          </a:prstGeom>
          <a:noFill/>
          <a:ln/>
        </p:spPr>
        <p:txBody>
          <a:bodyPr wrap="square" lIns="0" tIns="0" rIns="0" bIns="0" rtlCol="0" anchor="ctr"/>
          <a:lstStyle/>
          <a:p>
            <a:pPr marL="0" indent="0">
              <a:buNone/>
            </a:pPr>
            <a:r>
              <a:rPr lang="en-US" sz="1300" b="1" dirty="0">
                <a:solidFill>
                  <a:srgbClr val="CFC8C1"/>
                </a:solidFill>
                <a:latin typeface="Calibri" pitchFamily="34" charset="0"/>
                <a:ea typeface="Calibri" pitchFamily="34" charset="-122"/>
                <a:cs typeface="Calibri" pitchFamily="34" charset="-120"/>
              </a:rPr>
              <a:t>23</a:t>
            </a:r>
            <a:endParaRPr lang="en-US" sz="1300" dirty="0"/>
          </a:p>
        </p:txBody>
      </p:sp>
      <p:sp>
        <p:nvSpPr>
          <p:cNvPr id="19" name="Text 16"/>
          <p:cNvSpPr txBox="1"/>
          <p:nvPr/>
        </p:nvSpPr>
        <p:spPr>
          <a:xfrm>
            <a:off x="8686800" y="3483864"/>
            <a:ext cx="1554480" cy="310896"/>
          </a:xfrm>
          <a:prstGeom prst="rect">
            <a:avLst/>
          </a:prstGeom>
          <a:noFill/>
          <a:ln/>
        </p:spPr>
        <p:txBody>
          <a:bodyPr wrap="square" lIns="0" tIns="0" rIns="0" bIns="0" rtlCol="0" anchor="ctr"/>
          <a:lstStyle/>
          <a:p>
            <a:pPr marL="0" indent="0">
              <a:buNone/>
            </a:pPr>
            <a:r>
              <a:rPr lang="en-US" sz="1300" b="1" dirty="0">
                <a:solidFill>
                  <a:srgbClr val="B85042"/>
                </a:solidFill>
                <a:latin typeface="Calibri" pitchFamily="34" charset="0"/>
                <a:ea typeface="Calibri" pitchFamily="34" charset="-122"/>
                <a:cs typeface="Calibri" pitchFamily="34" charset="-120"/>
              </a:rPr>
              <a:t>1.20 g</a:t>
            </a:r>
            <a:endParaRPr lang="en-US" sz="1300" dirty="0"/>
          </a:p>
        </p:txBody>
      </p:sp>
      <p:sp>
        <p:nvSpPr>
          <p:cNvPr id="20" name="Text 17"/>
          <p:cNvSpPr txBox="1"/>
          <p:nvPr/>
        </p:nvSpPr>
        <p:spPr>
          <a:xfrm>
            <a:off x="10241280" y="3483864"/>
            <a:ext cx="1280160" cy="310896"/>
          </a:xfrm>
          <a:prstGeom prst="rect">
            <a:avLst/>
          </a:prstGeom>
          <a:noFill/>
          <a:ln/>
        </p:spPr>
        <p:txBody>
          <a:bodyPr wrap="square" lIns="0" tIns="0" rIns="0" bIns="0" rtlCol="0" anchor="ctr"/>
          <a:lstStyle/>
          <a:p>
            <a:pPr marL="0" indent="0">
              <a:buNone/>
            </a:pPr>
            <a:r>
              <a:rPr lang="en-US" sz="1300" dirty="0">
                <a:solidFill>
                  <a:srgbClr val="A69D95"/>
                </a:solidFill>
                <a:latin typeface="Calibri" pitchFamily="34" charset="0"/>
                <a:ea typeface="Calibri" pitchFamily="34" charset="-122"/>
                <a:cs typeface="Calibri" pitchFamily="34" charset="-120"/>
              </a:rPr>
              <a:t>0.42 g</a:t>
            </a:r>
            <a:endParaRPr lang="en-US" sz="1300" dirty="0"/>
          </a:p>
        </p:txBody>
      </p:sp>
      <p:sp>
        <p:nvSpPr>
          <p:cNvPr id="21" name="Text 18"/>
          <p:cNvSpPr txBox="1"/>
          <p:nvPr/>
        </p:nvSpPr>
        <p:spPr>
          <a:xfrm>
            <a:off x="7909560" y="3968496"/>
            <a:ext cx="731520" cy="310896"/>
          </a:xfrm>
          <a:prstGeom prst="rect">
            <a:avLst/>
          </a:prstGeom>
          <a:noFill/>
          <a:ln/>
        </p:spPr>
        <p:txBody>
          <a:bodyPr wrap="square" lIns="0" tIns="0" rIns="0" bIns="0" rtlCol="0" anchor="ctr"/>
          <a:lstStyle/>
          <a:p>
            <a:pPr marL="0" indent="0">
              <a:buNone/>
            </a:pPr>
            <a:r>
              <a:rPr lang="en-US" sz="1300" b="1" dirty="0">
                <a:solidFill>
                  <a:srgbClr val="CFC8C1"/>
                </a:solidFill>
                <a:latin typeface="Calibri" pitchFamily="34" charset="0"/>
                <a:ea typeface="Calibri" pitchFamily="34" charset="-122"/>
                <a:cs typeface="Calibri" pitchFamily="34" charset="-120"/>
              </a:rPr>
              <a:t>24</a:t>
            </a:r>
            <a:endParaRPr lang="en-US" sz="1300" dirty="0"/>
          </a:p>
        </p:txBody>
      </p:sp>
      <p:sp>
        <p:nvSpPr>
          <p:cNvPr id="22" name="Text 19"/>
          <p:cNvSpPr txBox="1"/>
          <p:nvPr/>
        </p:nvSpPr>
        <p:spPr>
          <a:xfrm>
            <a:off x="8686800" y="3968496"/>
            <a:ext cx="1554480" cy="310896"/>
          </a:xfrm>
          <a:prstGeom prst="rect">
            <a:avLst/>
          </a:prstGeom>
          <a:noFill/>
          <a:ln/>
        </p:spPr>
        <p:txBody>
          <a:bodyPr wrap="square" lIns="0" tIns="0" rIns="0" bIns="0" rtlCol="0" anchor="ctr"/>
          <a:lstStyle/>
          <a:p>
            <a:pPr marL="0" indent="0">
              <a:buNone/>
            </a:pPr>
            <a:r>
              <a:rPr lang="en-US" sz="1300" b="1" dirty="0">
                <a:solidFill>
                  <a:srgbClr val="B85042"/>
                </a:solidFill>
                <a:latin typeface="Calibri" pitchFamily="34" charset="0"/>
                <a:ea typeface="Calibri" pitchFamily="34" charset="-122"/>
                <a:cs typeface="Calibri" pitchFamily="34" charset="-120"/>
              </a:rPr>
              <a:t>1.67 g</a:t>
            </a:r>
            <a:endParaRPr lang="en-US" sz="1300" dirty="0"/>
          </a:p>
        </p:txBody>
      </p:sp>
      <p:sp>
        <p:nvSpPr>
          <p:cNvPr id="23" name="Text 20"/>
          <p:cNvSpPr txBox="1"/>
          <p:nvPr/>
        </p:nvSpPr>
        <p:spPr>
          <a:xfrm>
            <a:off x="10241280" y="3968496"/>
            <a:ext cx="1280160" cy="310896"/>
          </a:xfrm>
          <a:prstGeom prst="rect">
            <a:avLst/>
          </a:prstGeom>
          <a:noFill/>
          <a:ln/>
        </p:spPr>
        <p:txBody>
          <a:bodyPr wrap="square" lIns="0" tIns="0" rIns="0" bIns="0" rtlCol="0" anchor="ctr"/>
          <a:lstStyle/>
          <a:p>
            <a:pPr marL="0" indent="0">
              <a:buNone/>
            </a:pPr>
            <a:r>
              <a:rPr lang="en-US" sz="1300" dirty="0">
                <a:solidFill>
                  <a:srgbClr val="A69D95"/>
                </a:solidFill>
                <a:latin typeface="Calibri" pitchFamily="34" charset="0"/>
                <a:ea typeface="Calibri" pitchFamily="34" charset="-122"/>
                <a:cs typeface="Calibri" pitchFamily="34" charset="-120"/>
              </a:rPr>
              <a:t>0.48 g</a:t>
            </a:r>
            <a:endParaRPr lang="en-US" sz="1300" dirty="0"/>
          </a:p>
        </p:txBody>
      </p:sp>
      <p:sp>
        <p:nvSpPr>
          <p:cNvPr id="24" name="Text 21"/>
          <p:cNvSpPr txBox="1"/>
          <p:nvPr/>
        </p:nvSpPr>
        <p:spPr>
          <a:xfrm>
            <a:off x="7909560" y="4453128"/>
            <a:ext cx="731520" cy="310896"/>
          </a:xfrm>
          <a:prstGeom prst="rect">
            <a:avLst/>
          </a:prstGeom>
          <a:noFill/>
          <a:ln/>
        </p:spPr>
        <p:txBody>
          <a:bodyPr wrap="square" lIns="0" tIns="0" rIns="0" bIns="0" rtlCol="0" anchor="ctr"/>
          <a:lstStyle/>
          <a:p>
            <a:pPr marL="0" indent="0">
              <a:buNone/>
            </a:pPr>
            <a:r>
              <a:rPr lang="en-US" sz="1300" b="1" dirty="0">
                <a:solidFill>
                  <a:srgbClr val="CFC8C1"/>
                </a:solidFill>
                <a:latin typeface="Calibri" pitchFamily="34" charset="0"/>
                <a:ea typeface="Calibri" pitchFamily="34" charset="-122"/>
                <a:cs typeface="Calibri" pitchFamily="34" charset="-120"/>
              </a:rPr>
              <a:t>25</a:t>
            </a:r>
            <a:endParaRPr lang="en-US" sz="1300" dirty="0"/>
          </a:p>
        </p:txBody>
      </p:sp>
      <p:sp>
        <p:nvSpPr>
          <p:cNvPr id="25" name="Text 22"/>
          <p:cNvSpPr txBox="1"/>
          <p:nvPr/>
        </p:nvSpPr>
        <p:spPr>
          <a:xfrm>
            <a:off x="8686800" y="4453128"/>
            <a:ext cx="1554480" cy="310896"/>
          </a:xfrm>
          <a:prstGeom prst="rect">
            <a:avLst/>
          </a:prstGeom>
          <a:noFill/>
          <a:ln/>
        </p:spPr>
        <p:txBody>
          <a:bodyPr wrap="square" lIns="0" tIns="0" rIns="0" bIns="0" rtlCol="0" anchor="ctr"/>
          <a:lstStyle/>
          <a:p>
            <a:pPr marL="0" indent="0">
              <a:buNone/>
            </a:pPr>
            <a:r>
              <a:rPr lang="en-US" sz="1300" b="1" dirty="0">
                <a:solidFill>
                  <a:srgbClr val="B85042"/>
                </a:solidFill>
                <a:latin typeface="Calibri" pitchFamily="34" charset="0"/>
                <a:ea typeface="Calibri" pitchFamily="34" charset="-122"/>
                <a:cs typeface="Calibri" pitchFamily="34" charset="-120"/>
              </a:rPr>
              <a:t>2.80 g</a:t>
            </a:r>
            <a:endParaRPr lang="en-US" sz="1300" dirty="0"/>
          </a:p>
        </p:txBody>
      </p:sp>
      <p:sp>
        <p:nvSpPr>
          <p:cNvPr id="26" name="Text 23"/>
          <p:cNvSpPr txBox="1"/>
          <p:nvPr/>
        </p:nvSpPr>
        <p:spPr>
          <a:xfrm>
            <a:off x="10241280" y="4453128"/>
            <a:ext cx="1280160" cy="310896"/>
          </a:xfrm>
          <a:prstGeom prst="rect">
            <a:avLst/>
          </a:prstGeom>
          <a:noFill/>
          <a:ln/>
        </p:spPr>
        <p:txBody>
          <a:bodyPr wrap="square" lIns="0" tIns="0" rIns="0" bIns="0" rtlCol="0" anchor="ctr"/>
          <a:lstStyle/>
          <a:p>
            <a:pPr marL="0" indent="0">
              <a:buNone/>
            </a:pPr>
            <a:r>
              <a:rPr lang="en-US" sz="1300" dirty="0">
                <a:solidFill>
                  <a:srgbClr val="A69D95"/>
                </a:solidFill>
                <a:latin typeface="Calibri" pitchFamily="34" charset="0"/>
                <a:ea typeface="Calibri" pitchFamily="34" charset="-122"/>
                <a:cs typeface="Calibri" pitchFamily="34" charset="-120"/>
              </a:rPr>
              <a:t>0.76 g</a:t>
            </a:r>
            <a:endParaRPr lang="en-US" sz="1300" dirty="0"/>
          </a:p>
        </p:txBody>
      </p:sp>
      <p:sp>
        <p:nvSpPr>
          <p:cNvPr id="27" name="Shape 24"/>
          <p:cNvSpPr/>
          <p:nvPr/>
        </p:nvSpPr>
        <p:spPr>
          <a:xfrm>
            <a:off x="502920" y="5349240"/>
            <a:ext cx="11155680" cy="960120"/>
          </a:xfrm>
          <a:prstGeom prst="roundRect">
            <a:avLst>
              <a:gd name="adj" fmla="val 5714"/>
            </a:avLst>
          </a:prstGeom>
          <a:solidFill>
            <a:srgbClr val="F3F0EC"/>
          </a:solidFill>
          <a:ln w="9525">
            <a:solidFill>
              <a:srgbClr val="DCD8D3"/>
            </a:solidFill>
            <a:prstDash val="solid"/>
          </a:ln>
        </p:spPr>
        <p:txBody>
          <a:bodyPr/>
          <a:lstStyle/>
          <a:p>
            <a:endParaRPr lang="en-NL"/>
          </a:p>
        </p:txBody>
      </p:sp>
      <p:sp>
        <p:nvSpPr>
          <p:cNvPr id="28" name="Text 25"/>
          <p:cNvSpPr txBox="1"/>
          <p:nvPr/>
        </p:nvSpPr>
        <p:spPr>
          <a:xfrm>
            <a:off x="822960" y="5504688"/>
            <a:ext cx="10515600" cy="685800"/>
          </a:xfrm>
          <a:prstGeom prst="rect">
            <a:avLst/>
          </a:prstGeom>
          <a:noFill/>
          <a:ln/>
        </p:spPr>
        <p:txBody>
          <a:bodyPr wrap="square" lIns="0" tIns="0" rIns="0" bIns="0" rtlCol="0" anchor="ctr"/>
          <a:lstStyle/>
          <a:p>
            <a:pPr marL="0" indent="0">
              <a:buNone/>
            </a:pPr>
            <a:r>
              <a:rPr lang="en-US" sz="1250" b="1" dirty="0">
                <a:solidFill>
                  <a:srgbClr val="1A1A1A"/>
                </a:solidFill>
                <a:latin typeface="Calibri" pitchFamily="34" charset="0"/>
                <a:ea typeface="Calibri" pitchFamily="34" charset="-122"/>
                <a:cs typeface="Calibri" pitchFamily="34" charset="-120"/>
              </a:rPr>
              <a:t>The run 24 match was bought at 3.5× the table’s acceleration.  </a:t>
            </a:r>
            <a:r>
              <a:rPr lang="en-US" sz="1250" dirty="0">
                <a:solidFill>
                  <a:srgbClr val="1A1A1A"/>
                </a:solidFill>
                <a:latin typeface="Calibri" pitchFamily="34" charset="0"/>
                <a:ea typeface="Calibri" pitchFamily="34" charset="-122"/>
                <a:cs typeface="Calibri" pitchFamily="34" charset="-120"/>
              </a:rPr>
              <a:t>Cycles also saturated at the code limit of 10.0 on runs 22–25, against 0.6–0.7 earlier. Shaping the pulse at the rocking period instead delivers the same demand at 0.30 / 0.44 / 0.52 / 0.57 g.</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02920" y="384048"/>
            <a:ext cx="384048" cy="384048"/>
          </a:xfrm>
          <a:prstGeom prst="ellipse">
            <a:avLst/>
          </a:prstGeom>
          <a:solidFill>
            <a:srgbClr val="B85042"/>
          </a:solidFill>
          <a:ln/>
        </p:spPr>
        <p:txBody>
          <a:bodyPr/>
          <a:lstStyle/>
          <a:p>
            <a:endParaRPr lang="en-NL"/>
          </a:p>
        </p:txBody>
      </p:sp>
      <p:sp>
        <p:nvSpPr>
          <p:cNvPr id="3" name="Text 1"/>
          <p:cNvSpPr txBox="1"/>
          <p:nvPr/>
        </p:nvSpPr>
        <p:spPr>
          <a:xfrm>
            <a:off x="502920" y="38404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12</a:t>
            </a:r>
            <a:endParaRPr lang="en-US" sz="1400" dirty="0"/>
          </a:p>
        </p:txBody>
      </p:sp>
      <p:sp>
        <p:nvSpPr>
          <p:cNvPr id="4" name="Text 2"/>
          <p:cNvSpPr txBox="1"/>
          <p:nvPr/>
        </p:nvSpPr>
        <p:spPr>
          <a:xfrm>
            <a:off x="1051560" y="329184"/>
            <a:ext cx="10607040" cy="530352"/>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Why the demand had to be 65 mm</a:t>
            </a:r>
            <a:endParaRPr lang="en-US" sz="3000" dirty="0"/>
          </a:p>
        </p:txBody>
      </p:sp>
      <p:sp>
        <p:nvSpPr>
          <p:cNvPr id="5" name="Text 3"/>
          <p:cNvSpPr txBox="1"/>
          <p:nvPr/>
        </p:nvSpPr>
        <p:spPr>
          <a:xfrm>
            <a:off x="1051560" y="877824"/>
            <a:ext cx="10607040" cy="310896"/>
          </a:xfrm>
          <a:prstGeom prst="rect">
            <a:avLst/>
          </a:prstGeom>
          <a:noFill/>
          <a:ln/>
        </p:spPr>
        <p:txBody>
          <a:bodyPr wrap="square" lIns="0" tIns="0" rIns="0" bIns="0" rtlCol="0" anchor="ctr"/>
          <a:lstStyle/>
          <a:p>
            <a:pPr marL="0" indent="0">
              <a:buNone/>
            </a:pPr>
            <a:r>
              <a:rPr lang="en-US" sz="1400" i="1" dirty="0">
                <a:solidFill>
                  <a:srgbClr val="6B6B6B"/>
                </a:solidFill>
                <a:latin typeface="Calibri" pitchFamily="34" charset="0"/>
                <a:ea typeface="Calibri" pitchFamily="34" charset="-122"/>
                <a:cs typeface="Calibri" pitchFamily="34" charset="-120"/>
              </a:rPr>
              <a:t>The target and the pulse were set at two different periods</a:t>
            </a:r>
            <a:endParaRPr lang="en-US" sz="1400" dirty="0"/>
          </a:p>
        </p:txBody>
      </p:sp>
      <p:sp>
        <p:nvSpPr>
          <p:cNvPr id="6" name="Shape 4"/>
          <p:cNvSpPr/>
          <p:nvPr/>
        </p:nvSpPr>
        <p:spPr>
          <a:xfrm>
            <a:off x="548640" y="1463040"/>
            <a:ext cx="3520440" cy="3749040"/>
          </a:xfrm>
          <a:prstGeom prst="roundRect">
            <a:avLst>
              <a:gd name="adj" fmla="val 1558"/>
            </a:avLst>
          </a:prstGeom>
          <a:solidFill>
            <a:srgbClr val="FFFFFF"/>
          </a:solidFill>
          <a:ln w="9525">
            <a:solidFill>
              <a:srgbClr val="DCD8D3"/>
            </a:solidFill>
            <a:prstDash val="solid"/>
          </a:ln>
        </p:spPr>
        <p:txBody>
          <a:bodyPr/>
          <a:lstStyle/>
          <a:p>
            <a:endParaRPr lang="en-NL"/>
          </a:p>
        </p:txBody>
      </p:sp>
      <p:sp>
        <p:nvSpPr>
          <p:cNvPr id="7" name="Text 5"/>
          <p:cNvSpPr txBox="1"/>
          <p:nvPr/>
        </p:nvSpPr>
        <p:spPr>
          <a:xfrm>
            <a:off x="841248" y="1645920"/>
            <a:ext cx="2926080" cy="384048"/>
          </a:xfrm>
          <a:prstGeom prst="rect">
            <a:avLst/>
          </a:prstGeom>
          <a:noFill/>
          <a:ln/>
        </p:spPr>
        <p:txBody>
          <a:bodyPr wrap="square" lIns="0" tIns="0" rIns="0" bIns="0" rtlCol="0" anchor="ctr"/>
          <a:lstStyle/>
          <a:p>
            <a:pPr marL="0" indent="0">
              <a:buNone/>
            </a:pPr>
            <a:r>
              <a:rPr lang="en-US" sz="2000" b="1" dirty="0">
                <a:solidFill>
                  <a:srgbClr val="B85042"/>
                </a:solidFill>
                <a:latin typeface="Cambria" pitchFamily="34" charset="0"/>
                <a:ea typeface="Cambria" pitchFamily="34" charset="-122"/>
                <a:cs typeface="Cambria" pitchFamily="34" charset="-120"/>
              </a:rPr>
              <a:t>Before</a:t>
            </a:r>
            <a:endParaRPr lang="en-US" sz="2000" dirty="0"/>
          </a:p>
        </p:txBody>
      </p:sp>
      <p:sp>
        <p:nvSpPr>
          <p:cNvPr id="8" name="Text 6"/>
          <p:cNvSpPr txBox="1"/>
          <p:nvPr/>
        </p:nvSpPr>
        <p:spPr>
          <a:xfrm>
            <a:off x="841248" y="2029968"/>
            <a:ext cx="2926080" cy="274320"/>
          </a:xfrm>
          <a:prstGeom prst="rect">
            <a:avLst/>
          </a:prstGeom>
          <a:noFill/>
          <a:ln/>
        </p:spPr>
        <p:txBody>
          <a:bodyPr wrap="square" lIns="0" tIns="0" rIns="0" bIns="0" rtlCol="0" anchor="ctr"/>
          <a:lstStyle/>
          <a:p>
            <a:pPr marL="0" indent="0">
              <a:buNone/>
            </a:pPr>
            <a:r>
              <a:rPr lang="en-US" sz="1100" i="1" dirty="0">
                <a:solidFill>
                  <a:srgbClr val="6B6B6B"/>
                </a:solidFill>
                <a:latin typeface="Calibri" pitchFamily="34" charset="0"/>
                <a:ea typeface="Calibri" pitchFamily="34" charset="-122"/>
                <a:cs typeface="Calibri" pitchFamily="34" charset="-120"/>
              </a:rPr>
              <a:t>v0, the completed run</a:t>
            </a:r>
            <a:endParaRPr lang="en-US" sz="1100" dirty="0"/>
          </a:p>
        </p:txBody>
      </p:sp>
      <p:sp>
        <p:nvSpPr>
          <p:cNvPr id="9" name="Text 7"/>
          <p:cNvSpPr txBox="1"/>
          <p:nvPr/>
        </p:nvSpPr>
        <p:spPr>
          <a:xfrm>
            <a:off x="841248" y="2450592"/>
            <a:ext cx="1600200" cy="292608"/>
          </a:xfrm>
          <a:prstGeom prst="rect">
            <a:avLst/>
          </a:prstGeom>
          <a:noFill/>
          <a:ln/>
        </p:spPr>
        <p:txBody>
          <a:bodyPr wrap="square" lIns="0" tIns="0" rIns="0" bIns="0" rtlCol="0" anchor="ctr"/>
          <a:lstStyle/>
          <a:p>
            <a:pPr marL="0" indent="0">
              <a:buNone/>
            </a:pPr>
            <a:r>
              <a:rPr lang="en-US" sz="1250" dirty="0">
                <a:solidFill>
                  <a:srgbClr val="6B6B6B"/>
                </a:solidFill>
                <a:latin typeface="Calibri" pitchFamily="34" charset="0"/>
                <a:ea typeface="Calibri" pitchFamily="34" charset="-122"/>
                <a:cs typeface="Calibri" pitchFamily="34" charset="-120"/>
              </a:rPr>
              <a:t>Sd read at</a:t>
            </a:r>
            <a:endParaRPr lang="en-US" sz="1250" dirty="0"/>
          </a:p>
        </p:txBody>
      </p:sp>
      <p:sp>
        <p:nvSpPr>
          <p:cNvPr id="10" name="Text 8"/>
          <p:cNvSpPr txBox="1"/>
          <p:nvPr/>
        </p:nvSpPr>
        <p:spPr>
          <a:xfrm>
            <a:off x="2423160" y="2450592"/>
            <a:ext cx="1371600" cy="292608"/>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0.484 s</a:t>
            </a:r>
            <a:endParaRPr lang="en-US" sz="1400" dirty="0"/>
          </a:p>
        </p:txBody>
      </p:sp>
      <p:sp>
        <p:nvSpPr>
          <p:cNvPr id="11" name="Text 9"/>
          <p:cNvSpPr txBox="1"/>
          <p:nvPr/>
        </p:nvSpPr>
        <p:spPr>
          <a:xfrm>
            <a:off x="841248" y="2999232"/>
            <a:ext cx="1600200" cy="292608"/>
          </a:xfrm>
          <a:prstGeom prst="rect">
            <a:avLst/>
          </a:prstGeom>
          <a:noFill/>
          <a:ln/>
        </p:spPr>
        <p:txBody>
          <a:bodyPr wrap="square" lIns="0" tIns="0" rIns="0" bIns="0" rtlCol="0" anchor="ctr"/>
          <a:lstStyle/>
          <a:p>
            <a:pPr marL="0" indent="0">
              <a:buNone/>
            </a:pPr>
            <a:r>
              <a:rPr lang="en-US" sz="1250" dirty="0">
                <a:solidFill>
                  <a:srgbClr val="6B6B6B"/>
                </a:solidFill>
                <a:latin typeface="Calibri" pitchFamily="34" charset="0"/>
                <a:ea typeface="Calibri" pitchFamily="34" charset="-122"/>
                <a:cs typeface="Calibri" pitchFamily="34" charset="-120"/>
              </a:rPr>
              <a:t>pulse built at</a:t>
            </a:r>
            <a:endParaRPr lang="en-US" sz="1250" dirty="0"/>
          </a:p>
        </p:txBody>
      </p:sp>
      <p:sp>
        <p:nvSpPr>
          <p:cNvPr id="12" name="Text 10"/>
          <p:cNvSpPr txBox="1"/>
          <p:nvPr/>
        </p:nvSpPr>
        <p:spPr>
          <a:xfrm>
            <a:off x="2423160" y="2999232"/>
            <a:ext cx="1371600" cy="292608"/>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0.131 s</a:t>
            </a:r>
            <a:endParaRPr lang="en-US" sz="1400" dirty="0"/>
          </a:p>
        </p:txBody>
      </p:sp>
      <p:sp>
        <p:nvSpPr>
          <p:cNvPr id="13" name="Text 11"/>
          <p:cNvSpPr txBox="1"/>
          <p:nvPr/>
        </p:nvSpPr>
        <p:spPr>
          <a:xfrm>
            <a:off x="841248" y="3547872"/>
            <a:ext cx="1600200" cy="292608"/>
          </a:xfrm>
          <a:prstGeom prst="rect">
            <a:avLst/>
          </a:prstGeom>
          <a:noFill/>
          <a:ln/>
        </p:spPr>
        <p:txBody>
          <a:bodyPr wrap="square" lIns="0" tIns="0" rIns="0" bIns="0" rtlCol="0" anchor="ctr"/>
          <a:lstStyle/>
          <a:p>
            <a:pPr marL="0" indent="0">
              <a:buNone/>
            </a:pPr>
            <a:r>
              <a:rPr lang="en-US" sz="1250" dirty="0">
                <a:solidFill>
                  <a:srgbClr val="6B6B6B"/>
                </a:solidFill>
                <a:latin typeface="Calibri" pitchFamily="34" charset="0"/>
                <a:ea typeface="Calibri" pitchFamily="34" charset="-122"/>
                <a:cs typeface="Calibri" pitchFamily="34" charset="-120"/>
              </a:rPr>
              <a:t>target</a:t>
            </a:r>
            <a:endParaRPr lang="en-US" sz="1250" dirty="0"/>
          </a:p>
        </p:txBody>
      </p:sp>
      <p:sp>
        <p:nvSpPr>
          <p:cNvPr id="14" name="Text 12"/>
          <p:cNvSpPr txBox="1"/>
          <p:nvPr/>
        </p:nvSpPr>
        <p:spPr>
          <a:xfrm>
            <a:off x="2423160" y="3547872"/>
            <a:ext cx="1371600" cy="292608"/>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65.5 mm</a:t>
            </a:r>
            <a:endParaRPr lang="en-US" sz="1400" dirty="0"/>
          </a:p>
        </p:txBody>
      </p:sp>
      <p:sp>
        <p:nvSpPr>
          <p:cNvPr id="15" name="Text 13"/>
          <p:cNvSpPr txBox="1"/>
          <p:nvPr/>
        </p:nvSpPr>
        <p:spPr>
          <a:xfrm>
            <a:off x="841248" y="4096512"/>
            <a:ext cx="1600200" cy="292608"/>
          </a:xfrm>
          <a:prstGeom prst="rect">
            <a:avLst/>
          </a:prstGeom>
          <a:noFill/>
          <a:ln/>
        </p:spPr>
        <p:txBody>
          <a:bodyPr wrap="square" lIns="0" tIns="0" rIns="0" bIns="0" rtlCol="0" anchor="ctr"/>
          <a:lstStyle/>
          <a:p>
            <a:pPr marL="0" indent="0">
              <a:buNone/>
            </a:pPr>
            <a:r>
              <a:rPr lang="en-US" sz="1250" dirty="0">
                <a:solidFill>
                  <a:srgbClr val="6B6B6B"/>
                </a:solidFill>
                <a:latin typeface="Calibri" pitchFamily="34" charset="0"/>
                <a:ea typeface="Calibri" pitchFamily="34" charset="-122"/>
                <a:cs typeface="Calibri" pitchFamily="34" charset="-120"/>
              </a:rPr>
              <a:t>needed</a:t>
            </a:r>
            <a:endParaRPr lang="en-US" sz="1250" dirty="0"/>
          </a:p>
        </p:txBody>
      </p:sp>
      <p:sp>
        <p:nvSpPr>
          <p:cNvPr id="16" name="Text 14"/>
          <p:cNvSpPr txBox="1"/>
          <p:nvPr/>
        </p:nvSpPr>
        <p:spPr>
          <a:xfrm>
            <a:off x="2423160" y="4096512"/>
            <a:ext cx="1371600" cy="292608"/>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1.67 g</a:t>
            </a:r>
            <a:endParaRPr lang="en-US" sz="1400" dirty="0"/>
          </a:p>
        </p:txBody>
      </p:sp>
      <p:sp>
        <p:nvSpPr>
          <p:cNvPr id="17" name="Text 15"/>
          <p:cNvSpPr txBox="1"/>
          <p:nvPr/>
        </p:nvSpPr>
        <p:spPr>
          <a:xfrm>
            <a:off x="841248" y="4645152"/>
            <a:ext cx="1600200" cy="292608"/>
          </a:xfrm>
          <a:prstGeom prst="rect">
            <a:avLst/>
          </a:prstGeom>
          <a:noFill/>
          <a:ln/>
        </p:spPr>
        <p:txBody>
          <a:bodyPr wrap="square" lIns="0" tIns="0" rIns="0" bIns="0" rtlCol="0" anchor="ctr"/>
          <a:lstStyle/>
          <a:p>
            <a:pPr marL="0" indent="0">
              <a:buNone/>
            </a:pPr>
            <a:r>
              <a:rPr lang="en-US" sz="1250" dirty="0">
                <a:solidFill>
                  <a:srgbClr val="6B6B6B"/>
                </a:solidFill>
                <a:latin typeface="Calibri" pitchFamily="34" charset="0"/>
                <a:ea typeface="Calibri" pitchFamily="34" charset="-122"/>
                <a:cs typeface="Calibri" pitchFamily="34" charset="-120"/>
              </a:rPr>
              <a:t>cycles</a:t>
            </a:r>
            <a:endParaRPr lang="en-US" sz="1250" dirty="0"/>
          </a:p>
        </p:txBody>
      </p:sp>
      <p:sp>
        <p:nvSpPr>
          <p:cNvPr id="18" name="Text 16"/>
          <p:cNvSpPr txBox="1"/>
          <p:nvPr/>
        </p:nvSpPr>
        <p:spPr>
          <a:xfrm>
            <a:off x="2423160" y="4645152"/>
            <a:ext cx="1371600" cy="292608"/>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10.0  (code limit)</a:t>
            </a:r>
            <a:endParaRPr lang="en-US" sz="1400" dirty="0"/>
          </a:p>
        </p:txBody>
      </p:sp>
      <p:sp>
        <p:nvSpPr>
          <p:cNvPr id="19" name="Shape 17"/>
          <p:cNvSpPr/>
          <p:nvPr/>
        </p:nvSpPr>
        <p:spPr>
          <a:xfrm>
            <a:off x="4343400" y="1463040"/>
            <a:ext cx="3520440" cy="3749040"/>
          </a:xfrm>
          <a:prstGeom prst="roundRect">
            <a:avLst>
              <a:gd name="adj" fmla="val 1558"/>
            </a:avLst>
          </a:prstGeom>
          <a:solidFill>
            <a:srgbClr val="FFFFFF"/>
          </a:solidFill>
          <a:ln w="9525">
            <a:solidFill>
              <a:srgbClr val="DCD8D3"/>
            </a:solidFill>
            <a:prstDash val="solid"/>
          </a:ln>
        </p:spPr>
        <p:txBody>
          <a:bodyPr/>
          <a:lstStyle/>
          <a:p>
            <a:endParaRPr lang="en-NL"/>
          </a:p>
        </p:txBody>
      </p:sp>
      <p:sp>
        <p:nvSpPr>
          <p:cNvPr id="20" name="Text 18"/>
          <p:cNvSpPr txBox="1"/>
          <p:nvPr/>
        </p:nvSpPr>
        <p:spPr>
          <a:xfrm>
            <a:off x="4636008" y="1645920"/>
            <a:ext cx="2926080" cy="384048"/>
          </a:xfrm>
          <a:prstGeom prst="rect">
            <a:avLst/>
          </a:prstGeom>
          <a:noFill/>
          <a:ln/>
        </p:spPr>
        <p:txBody>
          <a:bodyPr wrap="square" lIns="0" tIns="0" rIns="0" bIns="0" rtlCol="0" anchor="ctr"/>
          <a:lstStyle/>
          <a:p>
            <a:pPr marL="0" indent="0">
              <a:buNone/>
            </a:pPr>
            <a:r>
              <a:rPr lang="en-US" sz="2000" b="1" dirty="0">
                <a:solidFill>
                  <a:srgbClr val="7E9284"/>
                </a:solidFill>
                <a:latin typeface="Cambria" pitchFamily="34" charset="0"/>
                <a:ea typeface="Cambria" pitchFamily="34" charset="-122"/>
                <a:cs typeface="Cambria" pitchFamily="34" charset="-120"/>
              </a:rPr>
              <a:t>After</a:t>
            </a:r>
            <a:endParaRPr lang="en-US" sz="2000" dirty="0"/>
          </a:p>
        </p:txBody>
      </p:sp>
      <p:sp>
        <p:nvSpPr>
          <p:cNvPr id="21" name="Text 19"/>
          <p:cNvSpPr txBox="1"/>
          <p:nvPr/>
        </p:nvSpPr>
        <p:spPr>
          <a:xfrm>
            <a:off x="4636008" y="2029968"/>
            <a:ext cx="2926080" cy="274320"/>
          </a:xfrm>
          <a:prstGeom prst="rect">
            <a:avLst/>
          </a:prstGeom>
          <a:noFill/>
          <a:ln/>
        </p:spPr>
        <p:txBody>
          <a:bodyPr wrap="square" lIns="0" tIns="0" rIns="0" bIns="0" rtlCol="0" anchor="ctr"/>
          <a:lstStyle/>
          <a:p>
            <a:pPr marL="0" indent="0">
              <a:buNone/>
            </a:pPr>
            <a:r>
              <a:rPr lang="en-US" sz="1100" i="1" dirty="0">
                <a:solidFill>
                  <a:srgbClr val="6B6B6B"/>
                </a:solidFill>
                <a:latin typeface="Calibri" pitchFamily="34" charset="0"/>
                <a:ea typeface="Calibri" pitchFamily="34" charset="-122"/>
                <a:cs typeface="Calibri" pitchFamily="34" charset="-120"/>
              </a:rPr>
              <a:t>v1, one variable changed</a:t>
            </a:r>
            <a:endParaRPr lang="en-US" sz="1100" dirty="0"/>
          </a:p>
        </p:txBody>
      </p:sp>
      <p:sp>
        <p:nvSpPr>
          <p:cNvPr id="22" name="Text 20"/>
          <p:cNvSpPr txBox="1"/>
          <p:nvPr/>
        </p:nvSpPr>
        <p:spPr>
          <a:xfrm>
            <a:off x="4636008" y="2450592"/>
            <a:ext cx="1600200" cy="292608"/>
          </a:xfrm>
          <a:prstGeom prst="rect">
            <a:avLst/>
          </a:prstGeom>
          <a:noFill/>
          <a:ln/>
        </p:spPr>
        <p:txBody>
          <a:bodyPr wrap="square" lIns="0" tIns="0" rIns="0" bIns="0" rtlCol="0" anchor="ctr"/>
          <a:lstStyle/>
          <a:p>
            <a:pPr marL="0" indent="0">
              <a:buNone/>
            </a:pPr>
            <a:r>
              <a:rPr lang="en-US" sz="1250" dirty="0">
                <a:solidFill>
                  <a:srgbClr val="6B6B6B"/>
                </a:solidFill>
                <a:latin typeface="Calibri" pitchFamily="34" charset="0"/>
                <a:ea typeface="Calibri" pitchFamily="34" charset="-122"/>
                <a:cs typeface="Calibri" pitchFamily="34" charset="-120"/>
              </a:rPr>
              <a:t>Sd read at</a:t>
            </a:r>
            <a:endParaRPr lang="en-US" sz="1250" dirty="0"/>
          </a:p>
        </p:txBody>
      </p:sp>
      <p:sp>
        <p:nvSpPr>
          <p:cNvPr id="23" name="Text 21"/>
          <p:cNvSpPr txBox="1"/>
          <p:nvPr/>
        </p:nvSpPr>
        <p:spPr>
          <a:xfrm>
            <a:off x="6217920" y="2450592"/>
            <a:ext cx="1371600" cy="292608"/>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0.484 s</a:t>
            </a:r>
            <a:endParaRPr lang="en-US" sz="1400" dirty="0"/>
          </a:p>
        </p:txBody>
      </p:sp>
      <p:sp>
        <p:nvSpPr>
          <p:cNvPr id="24" name="Text 22"/>
          <p:cNvSpPr txBox="1"/>
          <p:nvPr/>
        </p:nvSpPr>
        <p:spPr>
          <a:xfrm>
            <a:off x="4636008" y="2999232"/>
            <a:ext cx="1600200" cy="292608"/>
          </a:xfrm>
          <a:prstGeom prst="rect">
            <a:avLst/>
          </a:prstGeom>
          <a:noFill/>
          <a:ln/>
        </p:spPr>
        <p:txBody>
          <a:bodyPr wrap="square" lIns="0" tIns="0" rIns="0" bIns="0" rtlCol="0" anchor="ctr"/>
          <a:lstStyle/>
          <a:p>
            <a:pPr marL="0" indent="0">
              <a:buNone/>
            </a:pPr>
            <a:r>
              <a:rPr lang="en-US" sz="1250" dirty="0">
                <a:solidFill>
                  <a:srgbClr val="6B6B6B"/>
                </a:solidFill>
                <a:latin typeface="Calibri" pitchFamily="34" charset="0"/>
                <a:ea typeface="Calibri" pitchFamily="34" charset="-122"/>
                <a:cs typeface="Calibri" pitchFamily="34" charset="-120"/>
              </a:rPr>
              <a:t>pulse built at</a:t>
            </a:r>
            <a:endParaRPr lang="en-US" sz="1250" dirty="0"/>
          </a:p>
        </p:txBody>
      </p:sp>
      <p:sp>
        <p:nvSpPr>
          <p:cNvPr id="25" name="Text 23"/>
          <p:cNvSpPr txBox="1"/>
          <p:nvPr/>
        </p:nvSpPr>
        <p:spPr>
          <a:xfrm>
            <a:off x="6217920" y="2999232"/>
            <a:ext cx="1371600" cy="292608"/>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0.484 s</a:t>
            </a:r>
            <a:endParaRPr lang="en-US" sz="1400" dirty="0"/>
          </a:p>
        </p:txBody>
      </p:sp>
      <p:sp>
        <p:nvSpPr>
          <p:cNvPr id="26" name="Text 24"/>
          <p:cNvSpPr txBox="1"/>
          <p:nvPr/>
        </p:nvSpPr>
        <p:spPr>
          <a:xfrm>
            <a:off x="4636008" y="3547872"/>
            <a:ext cx="1600200" cy="292608"/>
          </a:xfrm>
          <a:prstGeom prst="rect">
            <a:avLst/>
          </a:prstGeom>
          <a:noFill/>
          <a:ln/>
        </p:spPr>
        <p:txBody>
          <a:bodyPr wrap="square" lIns="0" tIns="0" rIns="0" bIns="0" rtlCol="0" anchor="ctr"/>
          <a:lstStyle/>
          <a:p>
            <a:pPr marL="0" indent="0">
              <a:buNone/>
            </a:pPr>
            <a:r>
              <a:rPr lang="en-US" sz="1250" dirty="0">
                <a:solidFill>
                  <a:srgbClr val="6B6B6B"/>
                </a:solidFill>
                <a:latin typeface="Calibri" pitchFamily="34" charset="0"/>
                <a:ea typeface="Calibri" pitchFamily="34" charset="-122"/>
                <a:cs typeface="Calibri" pitchFamily="34" charset="-120"/>
              </a:rPr>
              <a:t>target</a:t>
            </a:r>
            <a:endParaRPr lang="en-US" sz="1250" dirty="0"/>
          </a:p>
        </p:txBody>
      </p:sp>
      <p:sp>
        <p:nvSpPr>
          <p:cNvPr id="27" name="Text 25"/>
          <p:cNvSpPr txBox="1"/>
          <p:nvPr/>
        </p:nvSpPr>
        <p:spPr>
          <a:xfrm>
            <a:off x="6217920" y="3547872"/>
            <a:ext cx="1371600" cy="292608"/>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65.5 mm</a:t>
            </a:r>
            <a:endParaRPr lang="en-US" sz="1400" dirty="0"/>
          </a:p>
        </p:txBody>
      </p:sp>
      <p:sp>
        <p:nvSpPr>
          <p:cNvPr id="28" name="Text 26"/>
          <p:cNvSpPr txBox="1"/>
          <p:nvPr/>
        </p:nvSpPr>
        <p:spPr>
          <a:xfrm>
            <a:off x="4636008" y="4096512"/>
            <a:ext cx="1600200" cy="292608"/>
          </a:xfrm>
          <a:prstGeom prst="rect">
            <a:avLst/>
          </a:prstGeom>
          <a:noFill/>
          <a:ln/>
        </p:spPr>
        <p:txBody>
          <a:bodyPr wrap="square" lIns="0" tIns="0" rIns="0" bIns="0" rtlCol="0" anchor="ctr"/>
          <a:lstStyle/>
          <a:p>
            <a:pPr marL="0" indent="0">
              <a:buNone/>
            </a:pPr>
            <a:r>
              <a:rPr lang="en-US" sz="1250" dirty="0">
                <a:solidFill>
                  <a:srgbClr val="6B6B6B"/>
                </a:solidFill>
                <a:latin typeface="Calibri" pitchFamily="34" charset="0"/>
                <a:ea typeface="Calibri" pitchFamily="34" charset="-122"/>
                <a:cs typeface="Calibri" pitchFamily="34" charset="-120"/>
              </a:rPr>
              <a:t>needed</a:t>
            </a:r>
            <a:endParaRPr lang="en-US" sz="1250" dirty="0"/>
          </a:p>
        </p:txBody>
      </p:sp>
      <p:sp>
        <p:nvSpPr>
          <p:cNvPr id="29" name="Text 27"/>
          <p:cNvSpPr txBox="1"/>
          <p:nvPr/>
        </p:nvSpPr>
        <p:spPr>
          <a:xfrm>
            <a:off x="6217920" y="4096512"/>
            <a:ext cx="1371600" cy="292608"/>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0.52 g</a:t>
            </a:r>
            <a:endParaRPr lang="en-US" sz="1400" dirty="0"/>
          </a:p>
        </p:txBody>
      </p:sp>
      <p:sp>
        <p:nvSpPr>
          <p:cNvPr id="30" name="Text 28"/>
          <p:cNvSpPr txBox="1"/>
          <p:nvPr/>
        </p:nvSpPr>
        <p:spPr>
          <a:xfrm>
            <a:off x="4636008" y="4645152"/>
            <a:ext cx="1600200" cy="292608"/>
          </a:xfrm>
          <a:prstGeom prst="rect">
            <a:avLst/>
          </a:prstGeom>
          <a:noFill/>
          <a:ln/>
        </p:spPr>
        <p:txBody>
          <a:bodyPr wrap="square" lIns="0" tIns="0" rIns="0" bIns="0" rtlCol="0" anchor="ctr"/>
          <a:lstStyle/>
          <a:p>
            <a:pPr marL="0" indent="0">
              <a:buNone/>
            </a:pPr>
            <a:r>
              <a:rPr lang="en-US" sz="1250" dirty="0">
                <a:solidFill>
                  <a:srgbClr val="6B6B6B"/>
                </a:solidFill>
                <a:latin typeface="Calibri" pitchFamily="34" charset="0"/>
                <a:ea typeface="Calibri" pitchFamily="34" charset="-122"/>
                <a:cs typeface="Calibri" pitchFamily="34" charset="-120"/>
              </a:rPr>
              <a:t>cycles</a:t>
            </a:r>
            <a:endParaRPr lang="en-US" sz="1250" dirty="0"/>
          </a:p>
        </p:txBody>
      </p:sp>
      <p:sp>
        <p:nvSpPr>
          <p:cNvPr id="31" name="Text 29"/>
          <p:cNvSpPr txBox="1"/>
          <p:nvPr/>
        </p:nvSpPr>
        <p:spPr>
          <a:xfrm>
            <a:off x="6217920" y="4645152"/>
            <a:ext cx="1371600" cy="292608"/>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0.64</a:t>
            </a:r>
            <a:endParaRPr lang="en-US" sz="1400" dirty="0"/>
          </a:p>
        </p:txBody>
      </p:sp>
      <p:sp>
        <p:nvSpPr>
          <p:cNvPr id="32" name="Shape 30"/>
          <p:cNvSpPr/>
          <p:nvPr/>
        </p:nvSpPr>
        <p:spPr>
          <a:xfrm>
            <a:off x="8138160" y="1463040"/>
            <a:ext cx="3520440" cy="3749040"/>
          </a:xfrm>
          <a:prstGeom prst="roundRect">
            <a:avLst>
              <a:gd name="adj" fmla="val 1558"/>
            </a:avLst>
          </a:prstGeom>
          <a:solidFill>
            <a:srgbClr val="2E2A27"/>
          </a:solidFill>
          <a:ln w="9525">
            <a:solidFill>
              <a:srgbClr val="DCD8D3"/>
            </a:solidFill>
            <a:prstDash val="solid"/>
          </a:ln>
        </p:spPr>
        <p:txBody>
          <a:bodyPr/>
          <a:lstStyle/>
          <a:p>
            <a:endParaRPr lang="en-NL"/>
          </a:p>
        </p:txBody>
      </p:sp>
      <p:sp>
        <p:nvSpPr>
          <p:cNvPr id="33" name="Text 31"/>
          <p:cNvSpPr txBox="1"/>
          <p:nvPr/>
        </p:nvSpPr>
        <p:spPr>
          <a:xfrm>
            <a:off x="8412480" y="1645920"/>
            <a:ext cx="3017520" cy="310896"/>
          </a:xfrm>
          <a:prstGeom prst="rect">
            <a:avLst/>
          </a:prstGeom>
          <a:noFill/>
          <a:ln/>
        </p:spPr>
        <p:txBody>
          <a:bodyPr wrap="square" lIns="0" tIns="0" rIns="0" bIns="0" rtlCol="0" anchor="ctr"/>
          <a:lstStyle/>
          <a:p>
            <a:pPr marL="0" indent="0">
              <a:buNone/>
            </a:pPr>
            <a:r>
              <a:rPr lang="en-US" sz="1500" b="1" dirty="0">
                <a:solidFill>
                  <a:srgbClr val="B85042"/>
                </a:solidFill>
                <a:latin typeface="Calibri" pitchFamily="34" charset="0"/>
                <a:ea typeface="Calibri" pitchFamily="34" charset="-122"/>
                <a:cs typeface="Calibri" pitchFamily="34" charset="-120"/>
              </a:rPr>
              <a:t>What this means</a:t>
            </a:r>
            <a:endParaRPr lang="en-US" sz="1500" dirty="0"/>
          </a:p>
        </p:txBody>
      </p:sp>
      <p:sp>
        <p:nvSpPr>
          <p:cNvPr id="34" name="Text 32"/>
          <p:cNvSpPr txBox="1"/>
          <p:nvPr/>
        </p:nvSpPr>
        <p:spPr>
          <a:xfrm>
            <a:off x="8412480" y="2103120"/>
            <a:ext cx="3017520" cy="2926080"/>
          </a:xfrm>
          <a:prstGeom prst="rect">
            <a:avLst/>
          </a:prstGeom>
          <a:noFill/>
          <a:ln/>
        </p:spPr>
        <p:txBody>
          <a:bodyPr wrap="square" lIns="0" tIns="0" rIns="0" bIns="0" rtlCol="0" anchor="ctr"/>
          <a:lstStyle/>
          <a:p>
            <a:pPr marL="0" indent="0">
              <a:buNone/>
            </a:pPr>
            <a:r>
              <a:rPr lang="en-US" sz="1300" dirty="0">
                <a:solidFill>
                  <a:srgbClr val="CFC8C1"/>
                </a:solidFill>
                <a:latin typeface="Calibri" pitchFamily="34" charset="0"/>
                <a:ea typeface="Calibri" pitchFamily="34" charset="-122"/>
                <a:cs typeface="Calibri" pitchFamily="34" charset="-120"/>
              </a:rPr>
              <a:t>Run 24 is not a prediction of 29.5 mm.</a:t>
            </a:r>
            <a:endParaRPr lang="en-US" sz="1300" dirty="0"/>
          </a:p>
          <a:p>
            <a:pPr marL="0" indent="0">
              <a:buNone/>
            </a:pPr>
            <a:endParaRPr lang="en-US" sz="1300" dirty="0"/>
          </a:p>
          <a:p>
            <a:pPr marL="0" indent="0">
              <a:buNone/>
            </a:pPr>
            <a:r>
              <a:rPr lang="en-US" sz="1300" dirty="0">
                <a:solidFill>
                  <a:srgbClr val="CFC8C1"/>
                </a:solidFill>
                <a:latin typeface="Calibri" pitchFamily="34" charset="0"/>
                <a:ea typeface="Calibri" pitchFamily="34" charset="-122"/>
                <a:cs typeface="Calibri" pitchFamily="34" charset="-120"/>
              </a:rPr>
              <a:t>We asked for 65.5 mm and the model gave back 32.</a:t>
            </a:r>
            <a:endParaRPr lang="en-US" sz="1300" dirty="0"/>
          </a:p>
          <a:p>
            <a:pPr marL="0" indent="0">
              <a:buNone/>
            </a:pPr>
            <a:endParaRPr lang="en-US" sz="1300" dirty="0"/>
          </a:p>
          <a:p>
            <a:pPr marL="0" indent="0">
              <a:buNone/>
            </a:pPr>
            <a:r>
              <a:rPr lang="en-US" sz="1300" dirty="0">
                <a:solidFill>
                  <a:srgbClr val="CFC8C1"/>
                </a:solidFill>
                <a:latin typeface="Calibri" pitchFamily="34" charset="0"/>
                <a:ea typeface="Calibri" pitchFamily="34" charset="-122"/>
                <a:cs typeface="Calibri" pitchFamily="34" charset="-120"/>
              </a:rPr>
              <a:t>It returns about half because it softens during the pulse and drifts off the drive frequency.</a:t>
            </a:r>
            <a:endParaRPr lang="en-US" sz="1300" dirty="0"/>
          </a:p>
        </p:txBody>
      </p:sp>
      <p:sp>
        <p:nvSpPr>
          <p:cNvPr id="35" name="Shape 33"/>
          <p:cNvSpPr/>
          <p:nvPr/>
        </p:nvSpPr>
        <p:spPr>
          <a:xfrm>
            <a:off x="548640" y="5440680"/>
            <a:ext cx="11109960" cy="914400"/>
          </a:xfrm>
          <a:prstGeom prst="roundRect">
            <a:avLst>
              <a:gd name="adj" fmla="val 6000"/>
            </a:avLst>
          </a:prstGeom>
          <a:solidFill>
            <a:srgbClr val="F3F0EC"/>
          </a:solidFill>
          <a:ln w="9525">
            <a:solidFill>
              <a:srgbClr val="DCD8D3"/>
            </a:solidFill>
            <a:prstDash val="solid"/>
          </a:ln>
        </p:spPr>
        <p:txBody>
          <a:bodyPr/>
          <a:lstStyle/>
          <a:p>
            <a:endParaRPr lang="en-NL"/>
          </a:p>
        </p:txBody>
      </p:sp>
      <p:sp>
        <p:nvSpPr>
          <p:cNvPr id="36" name="Text 34"/>
          <p:cNvSpPr txBox="1"/>
          <p:nvPr/>
        </p:nvSpPr>
        <p:spPr>
          <a:xfrm>
            <a:off x="868680" y="5623560"/>
            <a:ext cx="10424160" cy="594360"/>
          </a:xfrm>
          <a:prstGeom prst="rect">
            <a:avLst/>
          </a:prstGeom>
          <a:noFill/>
          <a:ln/>
        </p:spPr>
        <p:txBody>
          <a:bodyPr wrap="square" lIns="0" tIns="0" rIns="0" bIns="0"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Build the pulse at the period the target is read at.  </a:t>
            </a:r>
            <a:r>
              <a:rPr lang="en-US" sz="1300" dirty="0">
                <a:solidFill>
                  <a:srgbClr val="1A1A1A"/>
                </a:solidFill>
                <a:latin typeface="Calibri" pitchFamily="34" charset="0"/>
                <a:ea typeface="Calibri" pitchFamily="34" charset="-122"/>
                <a:cs typeface="Calibri" pitchFamily="34" charset="-120"/>
              </a:rPr>
              <a:t>Same demand, a third of the acceleration, and the commanded values then land within 5–11% of what the table actually applied.</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02920" y="384048"/>
            <a:ext cx="384048" cy="384048"/>
          </a:xfrm>
          <a:prstGeom prst="ellipse">
            <a:avLst/>
          </a:prstGeom>
          <a:solidFill>
            <a:srgbClr val="B85042"/>
          </a:solidFill>
          <a:ln/>
        </p:spPr>
        <p:txBody>
          <a:bodyPr/>
          <a:lstStyle/>
          <a:p>
            <a:endParaRPr lang="en-NL"/>
          </a:p>
        </p:txBody>
      </p:sp>
      <p:sp>
        <p:nvSpPr>
          <p:cNvPr id="3" name="Text 1"/>
          <p:cNvSpPr txBox="1"/>
          <p:nvPr/>
        </p:nvSpPr>
        <p:spPr>
          <a:xfrm>
            <a:off x="502920" y="38404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13</a:t>
            </a:r>
            <a:endParaRPr lang="en-US" sz="1400" dirty="0"/>
          </a:p>
        </p:txBody>
      </p:sp>
      <p:sp>
        <p:nvSpPr>
          <p:cNvPr id="4" name="Text 2"/>
          <p:cNvSpPr txBox="1"/>
          <p:nvPr/>
        </p:nvSpPr>
        <p:spPr>
          <a:xfrm>
            <a:off x="1051560" y="329184"/>
            <a:ext cx="10607040" cy="530352"/>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Two explanations — and one test that separates them</a:t>
            </a:r>
            <a:endParaRPr lang="en-US" sz="3000" dirty="0"/>
          </a:p>
        </p:txBody>
      </p:sp>
      <p:sp>
        <p:nvSpPr>
          <p:cNvPr id="5" name="Text 3"/>
          <p:cNvSpPr txBox="1"/>
          <p:nvPr/>
        </p:nvSpPr>
        <p:spPr>
          <a:xfrm>
            <a:off x="1051560" y="877824"/>
            <a:ext cx="10607040" cy="310896"/>
          </a:xfrm>
          <a:prstGeom prst="rect">
            <a:avLst/>
          </a:prstGeom>
          <a:noFill/>
          <a:ln/>
        </p:spPr>
        <p:txBody>
          <a:bodyPr wrap="square" lIns="0" tIns="0" rIns="0" bIns="0" rtlCol="0" anchor="ctr"/>
          <a:lstStyle/>
          <a:p>
            <a:pPr marL="0" indent="0">
              <a:buNone/>
            </a:pPr>
            <a:r>
              <a:rPr lang="en-US" sz="1400" i="1" dirty="0">
                <a:solidFill>
                  <a:srgbClr val="6B6B6B"/>
                </a:solidFill>
                <a:latin typeface="Calibri" pitchFamily="34" charset="0"/>
                <a:ea typeface="Calibri" pitchFamily="34" charset="-122"/>
                <a:cs typeface="Calibri" pitchFamily="34" charset="-120"/>
              </a:rPr>
              <a:t>Both explain why the model is low. They disagree about what to change.</a:t>
            </a:r>
            <a:endParaRPr lang="en-US" sz="1400" dirty="0"/>
          </a:p>
        </p:txBody>
      </p:sp>
      <p:sp>
        <p:nvSpPr>
          <p:cNvPr id="6" name="Shape 4"/>
          <p:cNvSpPr/>
          <p:nvPr/>
        </p:nvSpPr>
        <p:spPr>
          <a:xfrm>
            <a:off x="548640" y="1554480"/>
            <a:ext cx="3383280" cy="3291840"/>
          </a:xfrm>
          <a:prstGeom prst="roundRect">
            <a:avLst>
              <a:gd name="adj" fmla="val 1667"/>
            </a:avLst>
          </a:prstGeom>
          <a:solidFill>
            <a:srgbClr val="FFFFFF"/>
          </a:solidFill>
          <a:ln w="9525">
            <a:solidFill>
              <a:srgbClr val="DCD8D3"/>
            </a:solidFill>
            <a:prstDash val="solid"/>
          </a:ln>
        </p:spPr>
        <p:txBody>
          <a:bodyPr/>
          <a:lstStyle/>
          <a:p>
            <a:endParaRPr lang="en-NL"/>
          </a:p>
        </p:txBody>
      </p:sp>
      <p:sp>
        <p:nvSpPr>
          <p:cNvPr id="7" name="Text 5"/>
          <p:cNvSpPr txBox="1"/>
          <p:nvPr/>
        </p:nvSpPr>
        <p:spPr>
          <a:xfrm>
            <a:off x="822960" y="1737360"/>
            <a:ext cx="2834640" cy="365760"/>
          </a:xfrm>
          <a:prstGeom prst="rect">
            <a:avLst/>
          </a:prstGeom>
          <a:noFill/>
          <a:ln/>
        </p:spPr>
        <p:txBody>
          <a:bodyPr wrap="square" lIns="0" tIns="0" rIns="0" bIns="0" rtlCol="0" anchor="ctr"/>
          <a:lstStyle/>
          <a:p>
            <a:pPr marL="0" indent="0">
              <a:buNone/>
            </a:pPr>
            <a:r>
              <a:rPr lang="en-US" sz="1900" b="1" dirty="0">
                <a:solidFill>
                  <a:srgbClr val="7E9284"/>
                </a:solidFill>
                <a:latin typeface="Cambria" pitchFamily="34" charset="0"/>
                <a:ea typeface="Cambria" pitchFamily="34" charset="-122"/>
                <a:cs typeface="Cambria" pitchFamily="34" charset="-120"/>
              </a:rPr>
              <a:t>Damping</a:t>
            </a:r>
            <a:endParaRPr lang="en-US" sz="1900" dirty="0"/>
          </a:p>
        </p:txBody>
      </p:sp>
      <p:sp>
        <p:nvSpPr>
          <p:cNvPr id="8" name="Text 6"/>
          <p:cNvSpPr txBox="1"/>
          <p:nvPr/>
        </p:nvSpPr>
        <p:spPr>
          <a:xfrm>
            <a:off x="822960" y="2103120"/>
            <a:ext cx="2834640" cy="274320"/>
          </a:xfrm>
          <a:prstGeom prst="rect">
            <a:avLst/>
          </a:prstGeom>
          <a:noFill/>
          <a:ln/>
        </p:spPr>
        <p:txBody>
          <a:bodyPr wrap="square" lIns="0" tIns="0" rIns="0" bIns="0" rtlCol="0" anchor="ctr"/>
          <a:lstStyle/>
          <a:p>
            <a:pPr marL="0" indent="0">
              <a:buNone/>
            </a:pPr>
            <a:r>
              <a:rPr lang="en-US" sz="1100" i="1" dirty="0">
                <a:solidFill>
                  <a:srgbClr val="6B6B6B"/>
                </a:solidFill>
                <a:latin typeface="Calibri" pitchFamily="34" charset="0"/>
                <a:ea typeface="Calibri" pitchFamily="34" charset="-122"/>
                <a:cs typeface="Calibri" pitchFamily="34" charset="-120"/>
              </a:rPr>
              <a:t>IMC2026 position</a:t>
            </a:r>
            <a:endParaRPr lang="en-US" sz="1100" dirty="0"/>
          </a:p>
        </p:txBody>
      </p:sp>
      <p:sp>
        <p:nvSpPr>
          <p:cNvPr id="9" name="Text 7"/>
          <p:cNvSpPr txBox="1"/>
          <p:nvPr/>
        </p:nvSpPr>
        <p:spPr>
          <a:xfrm>
            <a:off x="822960" y="2423160"/>
            <a:ext cx="2834640" cy="2194560"/>
          </a:xfrm>
          <a:prstGeom prst="rect">
            <a:avLst/>
          </a:prstGeom>
          <a:noFill/>
          <a:ln/>
        </p:spPr>
        <p:txBody>
          <a:bodyPr wrap="square" rtlCol="0" anchor="ctr"/>
          <a:lstStyle/>
          <a:p>
            <a:pPr marL="342900" indent="-342900">
              <a:lnSpc>
                <a:spcPts val="2000"/>
              </a:lnSpc>
              <a:spcAft>
                <a:spcPts val="800"/>
              </a:spcAft>
              <a:buSzPct val="100000"/>
              <a:buChar char="•"/>
            </a:pPr>
            <a:r>
              <a:rPr lang="en-US" sz="1200" dirty="0">
                <a:solidFill>
                  <a:srgbClr val="1A1A1A"/>
                </a:solidFill>
                <a:latin typeface="Calibri" pitchFamily="34" charset="0"/>
                <a:ea typeface="Calibri" pitchFamily="34" charset="-122"/>
                <a:cs typeface="Calibri" pitchFamily="34" charset="-120"/>
              </a:rPr>
              <a:t>3% Rayleigh suppresses rocking as the wall softens</a:t>
            </a:r>
            <a:endParaRPr lang="en-US" sz="1200" dirty="0"/>
          </a:p>
          <a:p>
            <a:pPr marL="342900" indent="-342900">
              <a:lnSpc>
                <a:spcPts val="2000"/>
              </a:lnSpc>
              <a:spcAft>
                <a:spcPts val="800"/>
              </a:spcAft>
              <a:buSzPct val="100000"/>
              <a:buChar char="•"/>
            </a:pPr>
            <a:r>
              <a:rPr lang="en-US" sz="1200" dirty="0">
                <a:solidFill>
                  <a:srgbClr val="1A1A1A"/>
                </a:solidFill>
                <a:latin typeface="Calibri" pitchFamily="34" charset="0"/>
                <a:ea typeface="Calibri" pitchFamily="34" charset="-122"/>
                <a:cs typeface="Calibri" pitchFamily="34" charset="-120"/>
              </a:rPr>
              <a:t>Hysteresis slopes, mechanism and cracks all match</a:t>
            </a:r>
            <a:endParaRPr lang="en-US" sz="1200" dirty="0"/>
          </a:p>
          <a:p>
            <a:pPr marL="342900" indent="-342900">
              <a:lnSpc>
                <a:spcPts val="2000"/>
              </a:lnSpc>
              <a:spcAft>
                <a:spcPts val="800"/>
              </a:spcAft>
              <a:buSzPct val="100000"/>
              <a:buChar char="•"/>
            </a:pPr>
            <a:r>
              <a:rPr lang="en-US" sz="1200" dirty="0">
                <a:solidFill>
                  <a:srgbClr val="1A1A1A"/>
                </a:solidFill>
                <a:latin typeface="Calibri" pitchFamily="34" charset="0"/>
                <a:ea typeface="Calibri" pitchFamily="34" charset="-122"/>
                <a:cs typeface="Calibri" pitchFamily="34" charset="-120"/>
              </a:rPr>
              <a:t>Fix: a damping model suited to rocking</a:t>
            </a:r>
            <a:endParaRPr lang="en-US" sz="1200" dirty="0"/>
          </a:p>
        </p:txBody>
      </p:sp>
      <p:sp>
        <p:nvSpPr>
          <p:cNvPr id="10" name="Shape 8"/>
          <p:cNvSpPr/>
          <p:nvPr/>
        </p:nvSpPr>
        <p:spPr>
          <a:xfrm>
            <a:off x="4206240" y="1554480"/>
            <a:ext cx="3383280" cy="3291840"/>
          </a:xfrm>
          <a:prstGeom prst="roundRect">
            <a:avLst>
              <a:gd name="adj" fmla="val 1667"/>
            </a:avLst>
          </a:prstGeom>
          <a:solidFill>
            <a:srgbClr val="FFFFFF"/>
          </a:solidFill>
          <a:ln w="9525">
            <a:solidFill>
              <a:srgbClr val="DCD8D3"/>
            </a:solidFill>
            <a:prstDash val="solid"/>
          </a:ln>
        </p:spPr>
        <p:txBody>
          <a:bodyPr/>
          <a:lstStyle/>
          <a:p>
            <a:endParaRPr lang="en-NL"/>
          </a:p>
        </p:txBody>
      </p:sp>
      <p:sp>
        <p:nvSpPr>
          <p:cNvPr id="11" name="Text 9"/>
          <p:cNvSpPr txBox="1"/>
          <p:nvPr/>
        </p:nvSpPr>
        <p:spPr>
          <a:xfrm>
            <a:off x="4480560" y="1737360"/>
            <a:ext cx="2834640" cy="365760"/>
          </a:xfrm>
          <a:prstGeom prst="rect">
            <a:avLst/>
          </a:prstGeom>
          <a:noFill/>
          <a:ln/>
        </p:spPr>
        <p:txBody>
          <a:bodyPr wrap="square" lIns="0" tIns="0" rIns="0" bIns="0" rtlCol="0" anchor="ctr"/>
          <a:lstStyle/>
          <a:p>
            <a:pPr marL="0" indent="0">
              <a:buNone/>
            </a:pPr>
            <a:r>
              <a:rPr lang="en-US" sz="1900" b="1" dirty="0">
                <a:solidFill>
                  <a:srgbClr val="B85042"/>
                </a:solidFill>
                <a:latin typeface="Cambria" pitchFamily="34" charset="0"/>
                <a:ea typeface="Cambria" pitchFamily="34" charset="-122"/>
                <a:cs typeface="Cambria" pitchFamily="34" charset="-120"/>
              </a:rPr>
              <a:t>Matching period</a:t>
            </a:r>
            <a:endParaRPr lang="en-US" sz="1900" dirty="0"/>
          </a:p>
        </p:txBody>
      </p:sp>
      <p:sp>
        <p:nvSpPr>
          <p:cNvPr id="12" name="Text 10"/>
          <p:cNvSpPr txBox="1"/>
          <p:nvPr/>
        </p:nvSpPr>
        <p:spPr>
          <a:xfrm>
            <a:off x="4480560" y="2103120"/>
            <a:ext cx="2834640" cy="274320"/>
          </a:xfrm>
          <a:prstGeom prst="rect">
            <a:avLst/>
          </a:prstGeom>
          <a:noFill/>
          <a:ln/>
        </p:spPr>
        <p:txBody>
          <a:bodyPr wrap="square" lIns="0" tIns="0" rIns="0" bIns="0" rtlCol="0" anchor="ctr"/>
          <a:lstStyle/>
          <a:p>
            <a:pPr marL="0" indent="0">
              <a:buNone/>
            </a:pPr>
            <a:r>
              <a:rPr lang="en-US" sz="1100" i="1" dirty="0">
                <a:solidFill>
                  <a:srgbClr val="6B6B6B"/>
                </a:solidFill>
                <a:latin typeface="Calibri" pitchFamily="34" charset="0"/>
                <a:ea typeface="Calibri" pitchFamily="34" charset="-122"/>
                <a:cs typeface="Calibri" pitchFamily="34" charset="-120"/>
              </a:rPr>
              <a:t>this analysis</a:t>
            </a:r>
            <a:endParaRPr lang="en-US" sz="1100" dirty="0"/>
          </a:p>
        </p:txBody>
      </p:sp>
      <p:sp>
        <p:nvSpPr>
          <p:cNvPr id="13" name="Text 11"/>
          <p:cNvSpPr txBox="1"/>
          <p:nvPr/>
        </p:nvSpPr>
        <p:spPr>
          <a:xfrm>
            <a:off x="4480560" y="2423160"/>
            <a:ext cx="2834640" cy="2194560"/>
          </a:xfrm>
          <a:prstGeom prst="rect">
            <a:avLst/>
          </a:prstGeom>
          <a:noFill/>
          <a:ln/>
        </p:spPr>
        <p:txBody>
          <a:bodyPr wrap="square" rtlCol="0" anchor="ctr"/>
          <a:lstStyle/>
          <a:p>
            <a:pPr marL="342900" indent="-342900">
              <a:lnSpc>
                <a:spcPts val="2000"/>
              </a:lnSpc>
              <a:spcAft>
                <a:spcPts val="800"/>
              </a:spcAft>
              <a:buSzPct val="100000"/>
              <a:buChar char="•"/>
            </a:pPr>
            <a:r>
              <a:rPr lang="en-US" sz="1200" dirty="0">
                <a:solidFill>
                  <a:srgbClr val="1A1A1A"/>
                </a:solidFill>
                <a:latin typeface="Calibri" pitchFamily="34" charset="0"/>
                <a:ea typeface="Calibri" pitchFamily="34" charset="-122"/>
                <a:cs typeface="Calibri" pitchFamily="34" charset="-120"/>
              </a:rPr>
              <a:t>We command Sd at 0.107 s; the wall moves at 0.26–0.35 s</a:t>
            </a:r>
            <a:endParaRPr lang="en-US" sz="1200" dirty="0"/>
          </a:p>
          <a:p>
            <a:pPr marL="342900" indent="-342900">
              <a:lnSpc>
                <a:spcPts val="2000"/>
              </a:lnSpc>
              <a:spcAft>
                <a:spcPts val="800"/>
              </a:spcAft>
              <a:buSzPct val="100000"/>
              <a:buChar char="•"/>
            </a:pPr>
            <a:r>
              <a:rPr lang="en-US" sz="1200" dirty="0">
                <a:solidFill>
                  <a:srgbClr val="1A1A1A"/>
                </a:solidFill>
                <a:latin typeface="Calibri" pitchFamily="34" charset="0"/>
                <a:ea typeface="Calibri" pitchFamily="34" charset="-122"/>
                <a:cs typeface="Calibri" pitchFamily="34" charset="-120"/>
              </a:rPr>
              <a:t>Model returns about Sd_target on two runs</a:t>
            </a:r>
            <a:endParaRPr lang="en-US" sz="1200" dirty="0"/>
          </a:p>
          <a:p>
            <a:pPr marL="342900" indent="-342900">
              <a:lnSpc>
                <a:spcPts val="2000"/>
              </a:lnSpc>
              <a:spcAft>
                <a:spcPts val="800"/>
              </a:spcAft>
              <a:buSzPct val="100000"/>
              <a:buChar char="•"/>
            </a:pPr>
            <a:r>
              <a:rPr lang="en-US" sz="1200" dirty="0">
                <a:solidFill>
                  <a:srgbClr val="1A1A1A"/>
                </a:solidFill>
                <a:latin typeface="Calibri" pitchFamily="34" charset="0"/>
                <a:ea typeface="Calibri" pitchFamily="34" charset="-122"/>
                <a:cs typeface="Calibri" pitchFamily="34" charset="-120"/>
              </a:rPr>
              <a:t>Fix: the period we read the spectrum at</a:t>
            </a:r>
            <a:endParaRPr lang="en-US" sz="1200" dirty="0"/>
          </a:p>
        </p:txBody>
      </p:sp>
      <p:sp>
        <p:nvSpPr>
          <p:cNvPr id="14" name="Shape 12"/>
          <p:cNvSpPr/>
          <p:nvPr/>
        </p:nvSpPr>
        <p:spPr>
          <a:xfrm>
            <a:off x="7955280" y="1554480"/>
            <a:ext cx="3657600" cy="3291840"/>
          </a:xfrm>
          <a:prstGeom prst="roundRect">
            <a:avLst>
              <a:gd name="adj" fmla="val 1667"/>
            </a:avLst>
          </a:prstGeom>
          <a:solidFill>
            <a:srgbClr val="2E2A27"/>
          </a:solidFill>
          <a:ln w="9525">
            <a:solidFill>
              <a:srgbClr val="DCD8D3"/>
            </a:solidFill>
            <a:prstDash val="solid"/>
          </a:ln>
        </p:spPr>
        <p:txBody>
          <a:bodyPr/>
          <a:lstStyle/>
          <a:p>
            <a:endParaRPr lang="en-NL"/>
          </a:p>
        </p:txBody>
      </p:sp>
      <p:sp>
        <p:nvSpPr>
          <p:cNvPr id="15" name="Text 13"/>
          <p:cNvSpPr txBox="1"/>
          <p:nvPr/>
        </p:nvSpPr>
        <p:spPr>
          <a:xfrm>
            <a:off x="8229600" y="1737360"/>
            <a:ext cx="3108960" cy="36576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The control run</a:t>
            </a:r>
            <a:endParaRPr lang="en-US" sz="1900" dirty="0"/>
          </a:p>
        </p:txBody>
      </p:sp>
      <p:sp>
        <p:nvSpPr>
          <p:cNvPr id="16" name="Text 14"/>
          <p:cNvSpPr txBox="1"/>
          <p:nvPr/>
        </p:nvSpPr>
        <p:spPr>
          <a:xfrm>
            <a:off x="8229600" y="2148840"/>
            <a:ext cx="3108960" cy="2560320"/>
          </a:xfrm>
          <a:prstGeom prst="rect">
            <a:avLst/>
          </a:prstGeom>
          <a:noFill/>
          <a:ln/>
        </p:spPr>
        <p:txBody>
          <a:bodyPr wrap="square" lIns="0" tIns="0" rIns="0" bIns="0" rtlCol="0" anchor="ctr"/>
          <a:lstStyle/>
          <a:p>
            <a:pPr marL="0" indent="0">
              <a:buNone/>
            </a:pPr>
            <a:r>
              <a:rPr lang="en-US" sz="1250" dirty="0">
                <a:solidFill>
                  <a:srgbClr val="CFC8C1"/>
                </a:solidFill>
                <a:latin typeface="Calibri" pitchFamily="34" charset="0"/>
                <a:ea typeface="Calibri" pitchFamily="34" charset="-122"/>
                <a:cs typeface="Calibri" pitchFamily="34" charset="-120"/>
              </a:rPr>
              <a:t>Drive the model with the measured table motion.</a:t>
            </a:r>
            <a:endParaRPr lang="en-US" sz="1250" dirty="0"/>
          </a:p>
          <a:p>
            <a:pPr marL="0" indent="0">
              <a:buNone/>
            </a:pPr>
            <a:endParaRPr lang="en-US" sz="1250" dirty="0"/>
          </a:p>
          <a:p>
            <a:pPr marL="0" indent="0">
              <a:buNone/>
            </a:pPr>
            <a:r>
              <a:rPr lang="en-US" sz="1250" dirty="0">
                <a:solidFill>
                  <a:srgbClr val="CFC8C1"/>
                </a:solidFill>
                <a:latin typeface="Calibri" pitchFamily="34" charset="0"/>
                <a:ea typeface="Calibri" pitchFamily="34" charset="-122"/>
                <a:cs typeface="Calibri" pitchFamily="34" charset="-120"/>
              </a:rPr>
              <a:t>No period. No intensity measure. No damping assumption. Nothing to tune.</a:t>
            </a:r>
            <a:endParaRPr lang="en-US" sz="1250" dirty="0"/>
          </a:p>
          <a:p>
            <a:pPr marL="0" indent="0">
              <a:buNone/>
            </a:pPr>
            <a:endParaRPr lang="en-US" sz="1250" dirty="0"/>
          </a:p>
          <a:p>
            <a:pPr marL="0" indent="0">
              <a:buNone/>
            </a:pPr>
            <a:r>
              <a:rPr lang="en-US" sz="1250" dirty="0">
                <a:solidFill>
                  <a:srgbClr val="CFC8C1"/>
                </a:solidFill>
                <a:latin typeface="Calibri" pitchFamily="34" charset="0"/>
                <a:ea typeface="Calibri" pitchFamily="34" charset="-122"/>
                <a:cs typeface="Calibri" pitchFamily="34" charset="-120"/>
              </a:rPr>
              <a:t>Records identified: runs 4, 11, 22.</a:t>
            </a:r>
            <a:endParaRPr lang="en-US" sz="1250" dirty="0"/>
          </a:p>
        </p:txBody>
      </p:sp>
      <p:sp>
        <p:nvSpPr>
          <p:cNvPr id="17" name="Shape 15"/>
          <p:cNvSpPr/>
          <p:nvPr/>
        </p:nvSpPr>
        <p:spPr>
          <a:xfrm>
            <a:off x="548640" y="5120640"/>
            <a:ext cx="11064240" cy="1097280"/>
          </a:xfrm>
          <a:prstGeom prst="roundRect">
            <a:avLst>
              <a:gd name="adj" fmla="val 5000"/>
            </a:avLst>
          </a:prstGeom>
          <a:solidFill>
            <a:srgbClr val="F3F0EC"/>
          </a:solidFill>
          <a:ln w="9525">
            <a:solidFill>
              <a:srgbClr val="DCD8D3"/>
            </a:solidFill>
            <a:prstDash val="solid"/>
          </a:ln>
        </p:spPr>
        <p:txBody>
          <a:bodyPr/>
          <a:lstStyle/>
          <a:p>
            <a:endParaRPr lang="en-NL"/>
          </a:p>
        </p:txBody>
      </p:sp>
      <p:sp>
        <p:nvSpPr>
          <p:cNvPr id="18" name="Text 16"/>
          <p:cNvSpPr txBox="1"/>
          <p:nvPr/>
        </p:nvSpPr>
        <p:spPr>
          <a:xfrm>
            <a:off x="868680" y="5321808"/>
            <a:ext cx="10424160" cy="777240"/>
          </a:xfrm>
          <a:prstGeom prst="rect">
            <a:avLst/>
          </a:prstGeom>
          <a:noFill/>
          <a:ln/>
        </p:spPr>
        <p:txBody>
          <a:bodyPr wrap="square" lIns="0" tIns="0" rIns="0" bIns="0" rtlCol="0" anchor="ctr"/>
          <a:lstStyle/>
          <a:p>
            <a:pPr marL="0" indent="0">
              <a:buNone/>
            </a:pPr>
            <a:r>
              <a:rPr lang="en-US" sz="1250" dirty="0">
                <a:solidFill>
                  <a:srgbClr val="1A1A1A"/>
                </a:solidFill>
                <a:latin typeface="Calibri" pitchFamily="34" charset="0"/>
                <a:ea typeface="Calibri" pitchFamily="34" charset="-122"/>
                <a:cs typeface="Calibri" pitchFamily="34" charset="-120"/>
              </a:rPr>
              <a:t>Taking the period from the model’s own previous run has been tried four ways. All four stall: the wall does not crack, so the period never moves.</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02920" y="384048"/>
            <a:ext cx="384048" cy="384048"/>
          </a:xfrm>
          <a:prstGeom prst="ellipse">
            <a:avLst/>
          </a:prstGeom>
          <a:solidFill>
            <a:srgbClr val="B85042"/>
          </a:solidFill>
          <a:ln/>
        </p:spPr>
        <p:txBody>
          <a:bodyPr/>
          <a:lstStyle/>
          <a:p>
            <a:endParaRPr lang="en-NL"/>
          </a:p>
        </p:txBody>
      </p:sp>
      <p:sp>
        <p:nvSpPr>
          <p:cNvPr id="3" name="Text 1"/>
          <p:cNvSpPr txBox="1"/>
          <p:nvPr/>
        </p:nvSpPr>
        <p:spPr>
          <a:xfrm>
            <a:off x="502920" y="38404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14</a:t>
            </a:r>
            <a:endParaRPr lang="en-US" sz="1400" dirty="0"/>
          </a:p>
        </p:txBody>
      </p:sp>
      <p:sp>
        <p:nvSpPr>
          <p:cNvPr id="4" name="Text 2"/>
          <p:cNvSpPr txBox="1"/>
          <p:nvPr/>
        </p:nvSpPr>
        <p:spPr>
          <a:xfrm>
            <a:off x="1051560" y="329184"/>
            <a:ext cx="10607040" cy="530352"/>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The control run, completed</a:t>
            </a:r>
            <a:endParaRPr lang="en-US" sz="3000" dirty="0"/>
          </a:p>
        </p:txBody>
      </p:sp>
      <p:sp>
        <p:nvSpPr>
          <p:cNvPr id="5" name="Text 3"/>
          <p:cNvSpPr txBox="1"/>
          <p:nvPr/>
        </p:nvSpPr>
        <p:spPr>
          <a:xfrm>
            <a:off x="1051560" y="877824"/>
            <a:ext cx="10607040" cy="310896"/>
          </a:xfrm>
          <a:prstGeom prst="rect">
            <a:avLst/>
          </a:prstGeom>
          <a:noFill/>
          <a:ln/>
        </p:spPr>
        <p:txBody>
          <a:bodyPr wrap="square" lIns="0" tIns="0" rIns="0" bIns="0" rtlCol="0" anchor="ctr"/>
          <a:lstStyle/>
          <a:p>
            <a:pPr marL="0" indent="0">
              <a:buNone/>
            </a:pPr>
            <a:r>
              <a:rPr lang="en-US" sz="1400" i="1" dirty="0">
                <a:solidFill>
                  <a:srgbClr val="6B6B6B"/>
                </a:solidFill>
                <a:latin typeface="Calibri" pitchFamily="34" charset="0"/>
                <a:ea typeface="Calibri" pitchFamily="34" charset="-122"/>
                <a:cs typeface="Calibri" pitchFamily="34" charset="-120"/>
              </a:rPr>
              <a:t>Runs 1–25 with the measured records. Nothing tuned — only the Table 2 scale factors.</a:t>
            </a:r>
            <a:endParaRPr lang="en-US" sz="1400" dirty="0"/>
          </a:p>
        </p:txBody>
      </p:sp>
      <p:pic>
        <p:nvPicPr>
          <p:cNvPr id="6" name="Image 0" descr="/tmp/work/deck/fig_stratF_disp.png"/>
          <p:cNvPicPr>
            <a:picLocks noChangeAspect="1"/>
          </p:cNvPicPr>
          <p:nvPr/>
        </p:nvPicPr>
        <p:blipFill>
          <a:blip r:embed="rId3"/>
          <a:stretch>
            <a:fillRect/>
          </a:stretch>
        </p:blipFill>
        <p:spPr>
          <a:xfrm>
            <a:off x="502920" y="1371600"/>
            <a:ext cx="6949440" cy="3730752"/>
          </a:xfrm>
          <a:prstGeom prst="rect">
            <a:avLst/>
          </a:prstGeom>
        </p:spPr>
      </p:pic>
      <p:sp>
        <p:nvSpPr>
          <p:cNvPr id="7" name="Shape 4"/>
          <p:cNvSpPr/>
          <p:nvPr/>
        </p:nvSpPr>
        <p:spPr>
          <a:xfrm>
            <a:off x="7635240" y="1371600"/>
            <a:ext cx="4023360" cy="3730752"/>
          </a:xfrm>
          <a:prstGeom prst="roundRect">
            <a:avLst>
              <a:gd name="adj" fmla="val 1471"/>
            </a:avLst>
          </a:prstGeom>
          <a:solidFill>
            <a:srgbClr val="2E2A27"/>
          </a:solidFill>
          <a:ln w="9525">
            <a:solidFill>
              <a:srgbClr val="DCD8D3"/>
            </a:solidFill>
            <a:prstDash val="solid"/>
          </a:ln>
        </p:spPr>
        <p:txBody>
          <a:bodyPr/>
          <a:lstStyle/>
          <a:p>
            <a:endParaRPr lang="en-NL"/>
          </a:p>
        </p:txBody>
      </p:sp>
      <p:sp>
        <p:nvSpPr>
          <p:cNvPr id="8" name="Text 5"/>
          <p:cNvSpPr txBox="1"/>
          <p:nvPr/>
        </p:nvSpPr>
        <p:spPr>
          <a:xfrm>
            <a:off x="7909560" y="1554480"/>
            <a:ext cx="3474720" cy="310896"/>
          </a:xfrm>
          <a:prstGeom prst="rect">
            <a:avLst/>
          </a:prstGeom>
          <a:noFill/>
          <a:ln/>
        </p:spPr>
        <p:txBody>
          <a:bodyPr wrap="square" lIns="0" tIns="0" rIns="0" bIns="0" rtlCol="0" anchor="ctr"/>
          <a:lstStyle/>
          <a:p>
            <a:pPr marL="0" indent="0">
              <a:buNone/>
            </a:pPr>
            <a:r>
              <a:rPr lang="en-US" sz="1500" b="1" dirty="0">
                <a:solidFill>
                  <a:srgbClr val="B85042"/>
                </a:solidFill>
                <a:latin typeface="Calibri" pitchFamily="34" charset="0"/>
                <a:ea typeface="Calibri" pitchFamily="34" charset="-122"/>
                <a:cs typeface="Calibri" pitchFamily="34" charset="-120"/>
              </a:rPr>
              <a:t>The verdict splits</a:t>
            </a:r>
            <a:endParaRPr lang="en-US" sz="1500" dirty="0"/>
          </a:p>
        </p:txBody>
      </p:sp>
      <p:sp>
        <p:nvSpPr>
          <p:cNvPr id="9" name="Text 6"/>
          <p:cNvSpPr txBox="1"/>
          <p:nvPr/>
        </p:nvSpPr>
        <p:spPr>
          <a:xfrm>
            <a:off x="7909560" y="1956816"/>
            <a:ext cx="3474720" cy="3017520"/>
          </a:xfrm>
          <a:prstGeom prst="rect">
            <a:avLst/>
          </a:prstGeom>
          <a:noFill/>
          <a:ln/>
        </p:spPr>
        <p:txBody>
          <a:bodyPr wrap="square" lIns="0" tIns="0" rIns="0" bIns="0" rtlCol="0" anchor="ctr"/>
          <a:lstStyle/>
          <a:p>
            <a:pPr marL="0" indent="0">
              <a:buNone/>
            </a:pPr>
            <a:r>
              <a:rPr lang="en-US" sz="1250" dirty="0">
                <a:solidFill>
                  <a:srgbClr val="CFC8C1"/>
                </a:solidFill>
                <a:latin typeface="Calibri" pitchFamily="34" charset="0"/>
                <a:ea typeface="Calibri" pitchFamily="34" charset="-122"/>
                <a:cs typeface="Calibri" pitchFamily="34" charset="-120"/>
              </a:rPr>
              <a:t>Runs 1–22: the model matches — 17.0 vs 16.4 mm at run 21, and the run-22 dip is reproduced. The pulse gap here was the loading.</a:t>
            </a:r>
            <a:endParaRPr lang="en-US" sz="1250" dirty="0"/>
          </a:p>
          <a:p>
            <a:pPr marL="0" indent="0">
              <a:buNone/>
            </a:pPr>
            <a:endParaRPr lang="en-US" sz="1250" dirty="0"/>
          </a:p>
          <a:p>
            <a:pPr marL="0" indent="0">
              <a:buNone/>
            </a:pPr>
            <a:r>
              <a:rPr lang="en-US" sz="1250" dirty="0">
                <a:solidFill>
                  <a:srgbClr val="CFC8C1"/>
                </a:solidFill>
                <a:latin typeface="Calibri" pitchFamily="34" charset="0"/>
                <a:ea typeface="Calibri" pitchFamily="34" charset="-122"/>
                <a:cs typeface="Calibri" pitchFamily="34" charset="-120"/>
              </a:rPr>
              <a:t>Runs 23–24: still 2.2× and 3.6× short with the real record. This gap is the model.</a:t>
            </a:r>
            <a:endParaRPr lang="en-US" sz="1250" dirty="0"/>
          </a:p>
          <a:p>
            <a:pPr marL="0" indent="0">
              <a:buNone/>
            </a:pPr>
            <a:endParaRPr lang="en-US" sz="1250" dirty="0"/>
          </a:p>
          <a:p>
            <a:pPr marL="0" indent="0">
              <a:buNone/>
            </a:pPr>
            <a:r>
              <a:rPr lang="en-US" sz="1250" dirty="0">
                <a:solidFill>
                  <a:srgbClr val="CFC8C1"/>
                </a:solidFill>
                <a:latin typeface="Calibri" pitchFamily="34" charset="0"/>
                <a:ea typeface="Calibri" pitchFamily="34" charset="-122"/>
                <a:cs typeface="Calibri" pitchFamily="34" charset="-120"/>
              </a:rPr>
              <a:t>Run 25: 41.6 mm — the surge arrives one run late.</a:t>
            </a:r>
            <a:endParaRPr lang="en-US" sz="1250" dirty="0"/>
          </a:p>
        </p:txBody>
      </p:sp>
      <p:sp>
        <p:nvSpPr>
          <p:cNvPr id="10" name="Shape 7"/>
          <p:cNvSpPr/>
          <p:nvPr/>
        </p:nvSpPr>
        <p:spPr>
          <a:xfrm>
            <a:off x="502920" y="5349240"/>
            <a:ext cx="11155680" cy="914400"/>
          </a:xfrm>
          <a:prstGeom prst="roundRect">
            <a:avLst>
              <a:gd name="adj" fmla="val 6000"/>
            </a:avLst>
          </a:prstGeom>
          <a:solidFill>
            <a:srgbClr val="F3F0EC"/>
          </a:solidFill>
          <a:ln w="9525">
            <a:solidFill>
              <a:srgbClr val="DCD8D3"/>
            </a:solidFill>
            <a:prstDash val="solid"/>
          </a:ln>
        </p:spPr>
        <p:txBody>
          <a:bodyPr/>
          <a:lstStyle/>
          <a:p>
            <a:endParaRPr lang="en-NL"/>
          </a:p>
        </p:txBody>
      </p:sp>
      <p:sp>
        <p:nvSpPr>
          <p:cNvPr id="11" name="Text 8"/>
          <p:cNvSpPr txBox="1"/>
          <p:nvPr/>
        </p:nvSpPr>
        <p:spPr>
          <a:xfrm>
            <a:off x="822960" y="5504688"/>
            <a:ext cx="10515600" cy="658368"/>
          </a:xfrm>
          <a:prstGeom prst="rect">
            <a:avLst/>
          </a:prstGeom>
          <a:noFill/>
          <a:ln/>
        </p:spPr>
        <p:txBody>
          <a:bodyPr wrap="square" lIns="0" tIns="0" rIns="0" bIns="0" rtlCol="0" anchor="ctr"/>
          <a:lstStyle/>
          <a:p>
            <a:pPr marL="0" indent="0">
              <a:buNone/>
            </a:pPr>
            <a:r>
              <a:rPr lang="en-US" sz="1250" b="1" dirty="0">
                <a:solidFill>
                  <a:srgbClr val="1A1A1A"/>
                </a:solidFill>
                <a:latin typeface="Calibri" pitchFamily="34" charset="0"/>
                <a:ea typeface="Calibri" pitchFamily="34" charset="-122"/>
                <a:cs typeface="Calibri" pitchFamily="34" charset="-120"/>
              </a:rPr>
              <a:t>Caveat before treating 23–24 as final:  </a:t>
            </a:r>
            <a:r>
              <a:rPr lang="en-US" sz="1250" dirty="0">
                <a:solidFill>
                  <a:srgbClr val="1A1A1A"/>
                </a:solidFill>
                <a:latin typeface="Calibri" pitchFamily="34" charset="0"/>
                <a:ea typeface="Calibri" pitchFamily="34" charset="-122"/>
                <a:cs typeface="Calibri" pitchFamily="34" charset="-120"/>
              </a:rPr>
              <a:t>this run used small strain and no damping — the driver itself warns large-displacement results need large strain on. Re-run 23–25 with large strain from the run-22 save (~1–2 h) before concluding.</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02920" y="384048"/>
            <a:ext cx="384048" cy="384048"/>
          </a:xfrm>
          <a:prstGeom prst="ellipse">
            <a:avLst/>
          </a:prstGeom>
          <a:solidFill>
            <a:srgbClr val="B85042"/>
          </a:solidFill>
          <a:ln/>
        </p:spPr>
        <p:txBody>
          <a:bodyPr/>
          <a:lstStyle/>
          <a:p>
            <a:endParaRPr lang="en-NL"/>
          </a:p>
        </p:txBody>
      </p:sp>
      <p:sp>
        <p:nvSpPr>
          <p:cNvPr id="3" name="Text 1"/>
          <p:cNvSpPr txBox="1"/>
          <p:nvPr/>
        </p:nvSpPr>
        <p:spPr>
          <a:xfrm>
            <a:off x="502920" y="38404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15</a:t>
            </a:r>
            <a:endParaRPr lang="en-US" sz="1400" dirty="0"/>
          </a:p>
        </p:txBody>
      </p:sp>
      <p:sp>
        <p:nvSpPr>
          <p:cNvPr id="4" name="Text 2"/>
          <p:cNvSpPr txBox="1"/>
          <p:nvPr/>
        </p:nvSpPr>
        <p:spPr>
          <a:xfrm>
            <a:off x="1051560" y="329184"/>
            <a:ext cx="10607040" cy="530352"/>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The control run: period and tilt</a:t>
            </a:r>
            <a:endParaRPr lang="en-US" sz="3000" dirty="0"/>
          </a:p>
        </p:txBody>
      </p:sp>
      <p:sp>
        <p:nvSpPr>
          <p:cNvPr id="5" name="Text 3"/>
          <p:cNvSpPr txBox="1"/>
          <p:nvPr/>
        </p:nvSpPr>
        <p:spPr>
          <a:xfrm>
            <a:off x="1051560" y="877824"/>
            <a:ext cx="10607040" cy="310896"/>
          </a:xfrm>
          <a:prstGeom prst="rect">
            <a:avLst/>
          </a:prstGeom>
          <a:noFill/>
          <a:ln/>
        </p:spPr>
        <p:txBody>
          <a:bodyPr wrap="square" lIns="0" tIns="0" rIns="0" bIns="0" rtlCol="0" anchor="ctr"/>
          <a:lstStyle/>
          <a:p>
            <a:pPr marL="0" indent="0">
              <a:buNone/>
            </a:pPr>
            <a:r>
              <a:rPr lang="en-US" sz="1400" i="1" dirty="0">
                <a:solidFill>
                  <a:srgbClr val="6B6B6B"/>
                </a:solidFill>
                <a:latin typeface="Calibri" pitchFamily="34" charset="0"/>
                <a:ea typeface="Calibri" pitchFamily="34" charset="-122"/>
                <a:cs typeface="Calibri" pitchFamily="34" charset="-120"/>
              </a:rPr>
              <a:t>Same run, the other two measurements</a:t>
            </a:r>
            <a:endParaRPr lang="en-US" sz="1400" dirty="0"/>
          </a:p>
        </p:txBody>
      </p:sp>
      <p:sp>
        <p:nvSpPr>
          <p:cNvPr id="8" name="Shape 4"/>
          <p:cNvSpPr/>
          <p:nvPr/>
        </p:nvSpPr>
        <p:spPr>
          <a:xfrm>
            <a:off x="502920" y="5989320"/>
            <a:ext cx="11155680" cy="566928"/>
          </a:xfrm>
          <a:prstGeom prst="roundRect">
            <a:avLst>
              <a:gd name="adj" fmla="val 9677"/>
            </a:avLst>
          </a:prstGeom>
          <a:solidFill>
            <a:srgbClr val="F3F0EC"/>
          </a:solidFill>
          <a:ln w="9525">
            <a:solidFill>
              <a:srgbClr val="DCD8D3"/>
            </a:solidFill>
            <a:prstDash val="solid"/>
          </a:ln>
        </p:spPr>
        <p:txBody>
          <a:bodyPr/>
          <a:lstStyle/>
          <a:p>
            <a:endParaRPr lang="en-NL"/>
          </a:p>
        </p:txBody>
      </p:sp>
      <p:sp>
        <p:nvSpPr>
          <p:cNvPr id="9" name="Text 5"/>
          <p:cNvSpPr txBox="1"/>
          <p:nvPr/>
        </p:nvSpPr>
        <p:spPr>
          <a:xfrm>
            <a:off x="822960" y="6071616"/>
            <a:ext cx="10515600" cy="411480"/>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Elongation ends together: model 1.18, US-1 1.18. Peak tilt tracks to run 21 with the run-22 dip. Residual tilt: the model holds zero to run 18, then leans; the walls drift from run 1 — the joist slip the bonded pockets cannot produce.</a:t>
            </a:r>
            <a:endParaRPr lang="en-US" sz="1100" dirty="0"/>
          </a:p>
        </p:txBody>
      </p:sp>
      <p:pic>
        <p:nvPicPr>
          <p:cNvPr id="11" name="Picture 10">
            <a:extLst>
              <a:ext uri="{FF2B5EF4-FFF2-40B4-BE49-F238E27FC236}">
                <a16:creationId xmlns:a16="http://schemas.microsoft.com/office/drawing/2014/main" id="{D43EB43E-CB1D-9EFD-1348-9C05344E3C3D}"/>
              </a:ext>
            </a:extLst>
          </p:cNvPr>
          <p:cNvPicPr>
            <a:picLocks noChangeAspect="1"/>
          </p:cNvPicPr>
          <p:nvPr/>
        </p:nvPicPr>
        <p:blipFill>
          <a:blip r:embed="rId3"/>
          <a:stretch>
            <a:fillRect/>
          </a:stretch>
        </p:blipFill>
        <p:spPr>
          <a:xfrm>
            <a:off x="764498" y="1589452"/>
            <a:ext cx="9998439" cy="397924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D2F27-2FD1-E080-59C7-49900BB0B7C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5ED4C48-B08E-2DC2-0C8C-E140A7EF2772}"/>
              </a:ext>
            </a:extLst>
          </p:cNvPr>
          <p:cNvSpPr/>
          <p:nvPr/>
        </p:nvSpPr>
        <p:spPr>
          <a:xfrm>
            <a:off x="502920" y="384048"/>
            <a:ext cx="384048" cy="384048"/>
          </a:xfrm>
          <a:prstGeom prst="ellipse">
            <a:avLst/>
          </a:prstGeom>
          <a:solidFill>
            <a:srgbClr val="B85042"/>
          </a:solidFill>
          <a:ln/>
        </p:spPr>
        <p:txBody>
          <a:bodyPr/>
          <a:lstStyle/>
          <a:p>
            <a:endParaRPr lang="en-NL"/>
          </a:p>
        </p:txBody>
      </p:sp>
      <p:sp>
        <p:nvSpPr>
          <p:cNvPr id="3" name="Text 1">
            <a:extLst>
              <a:ext uri="{FF2B5EF4-FFF2-40B4-BE49-F238E27FC236}">
                <a16:creationId xmlns:a16="http://schemas.microsoft.com/office/drawing/2014/main" id="{A2BA7154-81FA-3504-01F8-FD8AC6EB928A}"/>
              </a:ext>
            </a:extLst>
          </p:cNvPr>
          <p:cNvSpPr txBox="1"/>
          <p:nvPr/>
        </p:nvSpPr>
        <p:spPr>
          <a:xfrm>
            <a:off x="502920" y="38404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16</a:t>
            </a:r>
            <a:endParaRPr lang="en-US" sz="1400" dirty="0"/>
          </a:p>
        </p:txBody>
      </p:sp>
      <p:sp>
        <p:nvSpPr>
          <p:cNvPr id="4" name="Text 2">
            <a:extLst>
              <a:ext uri="{FF2B5EF4-FFF2-40B4-BE49-F238E27FC236}">
                <a16:creationId xmlns:a16="http://schemas.microsoft.com/office/drawing/2014/main" id="{D81D9ABB-DA95-C1FE-BA3A-4D03B59E1094}"/>
              </a:ext>
            </a:extLst>
          </p:cNvPr>
          <p:cNvSpPr txBox="1"/>
          <p:nvPr/>
        </p:nvSpPr>
        <p:spPr>
          <a:xfrm>
            <a:off x="1051560" y="329184"/>
            <a:ext cx="10607040" cy="530352"/>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The control run: period and tilt</a:t>
            </a:r>
            <a:endParaRPr lang="en-US" sz="3000" dirty="0"/>
          </a:p>
        </p:txBody>
      </p:sp>
      <p:sp>
        <p:nvSpPr>
          <p:cNvPr id="5" name="Text 3">
            <a:extLst>
              <a:ext uri="{FF2B5EF4-FFF2-40B4-BE49-F238E27FC236}">
                <a16:creationId xmlns:a16="http://schemas.microsoft.com/office/drawing/2014/main" id="{580CC26C-9598-5F64-B181-0950C5D20FFB}"/>
              </a:ext>
            </a:extLst>
          </p:cNvPr>
          <p:cNvSpPr txBox="1"/>
          <p:nvPr/>
        </p:nvSpPr>
        <p:spPr>
          <a:xfrm>
            <a:off x="1051560" y="877824"/>
            <a:ext cx="10607040" cy="310896"/>
          </a:xfrm>
          <a:prstGeom prst="rect">
            <a:avLst/>
          </a:prstGeom>
          <a:noFill/>
          <a:ln/>
        </p:spPr>
        <p:txBody>
          <a:bodyPr wrap="square" lIns="0" tIns="0" rIns="0" bIns="0" rtlCol="0" anchor="ctr"/>
          <a:lstStyle/>
          <a:p>
            <a:pPr marL="0" indent="0">
              <a:buNone/>
            </a:pPr>
            <a:r>
              <a:rPr lang="en-US" sz="1400" i="1" dirty="0">
                <a:solidFill>
                  <a:srgbClr val="6B6B6B"/>
                </a:solidFill>
                <a:latin typeface="Calibri" pitchFamily="34" charset="0"/>
                <a:ea typeface="Calibri" pitchFamily="34" charset="-122"/>
                <a:cs typeface="Calibri" pitchFamily="34" charset="-120"/>
              </a:rPr>
              <a:t>Same run, the other two measurements</a:t>
            </a:r>
            <a:endParaRPr lang="en-US" sz="1400" dirty="0"/>
          </a:p>
        </p:txBody>
      </p:sp>
      <p:sp>
        <p:nvSpPr>
          <p:cNvPr id="8" name="Shape 4">
            <a:extLst>
              <a:ext uri="{FF2B5EF4-FFF2-40B4-BE49-F238E27FC236}">
                <a16:creationId xmlns:a16="http://schemas.microsoft.com/office/drawing/2014/main" id="{224DCA77-8CF3-17D9-47D6-86CB705CC645}"/>
              </a:ext>
            </a:extLst>
          </p:cNvPr>
          <p:cNvSpPr/>
          <p:nvPr/>
        </p:nvSpPr>
        <p:spPr>
          <a:xfrm>
            <a:off x="502920" y="5989320"/>
            <a:ext cx="11155680" cy="566928"/>
          </a:xfrm>
          <a:prstGeom prst="roundRect">
            <a:avLst>
              <a:gd name="adj" fmla="val 9677"/>
            </a:avLst>
          </a:prstGeom>
          <a:solidFill>
            <a:srgbClr val="F3F0EC"/>
          </a:solidFill>
          <a:ln w="9525">
            <a:solidFill>
              <a:srgbClr val="DCD8D3"/>
            </a:solidFill>
            <a:prstDash val="solid"/>
          </a:ln>
        </p:spPr>
        <p:txBody>
          <a:bodyPr/>
          <a:lstStyle/>
          <a:p>
            <a:endParaRPr lang="en-NL"/>
          </a:p>
        </p:txBody>
      </p:sp>
      <p:sp>
        <p:nvSpPr>
          <p:cNvPr id="9" name="Text 5">
            <a:extLst>
              <a:ext uri="{FF2B5EF4-FFF2-40B4-BE49-F238E27FC236}">
                <a16:creationId xmlns:a16="http://schemas.microsoft.com/office/drawing/2014/main" id="{45C18EC2-4B9F-C2E3-114A-4784F0F52708}"/>
              </a:ext>
            </a:extLst>
          </p:cNvPr>
          <p:cNvSpPr txBox="1"/>
          <p:nvPr/>
        </p:nvSpPr>
        <p:spPr>
          <a:xfrm>
            <a:off x="822960" y="6071616"/>
            <a:ext cx="10515600" cy="411480"/>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Elongation ends together: model 1.18, US-1 1.18. Peak tilt tracks to run 21 with the run-22 dip. Residual tilt: the model holds zero to run 18, then leans; the walls drift from run 1 — the joist slip the bonded pockets cannot produce.</a:t>
            </a:r>
            <a:endParaRPr lang="en-US" sz="1100" dirty="0"/>
          </a:p>
        </p:txBody>
      </p:sp>
      <p:pic>
        <p:nvPicPr>
          <p:cNvPr id="11" name="Picture 10">
            <a:extLst>
              <a:ext uri="{FF2B5EF4-FFF2-40B4-BE49-F238E27FC236}">
                <a16:creationId xmlns:a16="http://schemas.microsoft.com/office/drawing/2014/main" id="{ED2C692E-ABDA-B4A0-DA44-642B3F8D156B}"/>
              </a:ext>
            </a:extLst>
          </p:cNvPr>
          <p:cNvPicPr>
            <a:picLocks noChangeAspect="1"/>
          </p:cNvPicPr>
          <p:nvPr/>
        </p:nvPicPr>
        <p:blipFill>
          <a:blip r:embed="rId3"/>
          <a:stretch>
            <a:fillRect/>
          </a:stretch>
        </p:blipFill>
        <p:spPr>
          <a:xfrm>
            <a:off x="502920" y="1489111"/>
            <a:ext cx="10920335" cy="4273857"/>
          </a:xfrm>
          <a:prstGeom prst="rect">
            <a:avLst/>
          </a:prstGeom>
        </p:spPr>
      </p:pic>
    </p:spTree>
    <p:extLst>
      <p:ext uri="{BB962C8B-B14F-4D97-AF65-F5344CB8AC3E}">
        <p14:creationId xmlns:p14="http://schemas.microsoft.com/office/powerpoint/2010/main" val="22567625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02920" y="384048"/>
            <a:ext cx="384048" cy="384048"/>
          </a:xfrm>
          <a:prstGeom prst="ellipse">
            <a:avLst/>
          </a:prstGeom>
          <a:solidFill>
            <a:srgbClr val="B85042"/>
          </a:solidFill>
          <a:ln/>
        </p:spPr>
        <p:txBody>
          <a:bodyPr/>
          <a:lstStyle/>
          <a:p>
            <a:endParaRPr lang="en-NL"/>
          </a:p>
        </p:txBody>
      </p:sp>
      <p:sp>
        <p:nvSpPr>
          <p:cNvPr id="3" name="Text 1"/>
          <p:cNvSpPr txBox="1"/>
          <p:nvPr/>
        </p:nvSpPr>
        <p:spPr>
          <a:xfrm>
            <a:off x="502920" y="38404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17</a:t>
            </a:r>
            <a:endParaRPr lang="en-US" sz="1400" dirty="0"/>
          </a:p>
        </p:txBody>
      </p:sp>
      <p:sp>
        <p:nvSpPr>
          <p:cNvPr id="4" name="Text 2"/>
          <p:cNvSpPr txBox="1"/>
          <p:nvPr/>
        </p:nvSpPr>
        <p:spPr>
          <a:xfrm>
            <a:off x="1051560" y="329184"/>
            <a:ext cx="10607040" cy="530352"/>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What I propose to do next</a:t>
            </a:r>
            <a:endParaRPr lang="en-US" sz="3000" dirty="0"/>
          </a:p>
        </p:txBody>
      </p:sp>
      <p:sp>
        <p:nvSpPr>
          <p:cNvPr id="5" name="Text 3"/>
          <p:cNvSpPr txBox="1"/>
          <p:nvPr/>
        </p:nvSpPr>
        <p:spPr>
          <a:xfrm>
            <a:off x="1051560" y="877824"/>
            <a:ext cx="10607040" cy="310896"/>
          </a:xfrm>
          <a:prstGeom prst="rect">
            <a:avLst/>
          </a:prstGeom>
          <a:noFill/>
          <a:ln/>
        </p:spPr>
        <p:txBody>
          <a:bodyPr wrap="square" lIns="0" tIns="0" rIns="0" bIns="0" rtlCol="0" anchor="ctr"/>
          <a:lstStyle/>
          <a:p>
            <a:pPr marL="0" indent="0">
              <a:buNone/>
            </a:pPr>
            <a:r>
              <a:rPr lang="en-US" sz="1400" i="1" dirty="0">
                <a:solidFill>
                  <a:srgbClr val="6B6B6B"/>
                </a:solidFill>
                <a:latin typeface="Calibri" pitchFamily="34" charset="0"/>
                <a:ea typeface="Calibri" pitchFamily="34" charset="-122"/>
                <a:cs typeface="Calibri" pitchFamily="34" charset="-120"/>
              </a:rPr>
              <a:t>In this order. The first one cannot be tuned.</a:t>
            </a:r>
            <a:endParaRPr lang="en-US" sz="1400" dirty="0"/>
          </a:p>
        </p:txBody>
      </p:sp>
      <p:sp>
        <p:nvSpPr>
          <p:cNvPr id="6" name="Shape 4"/>
          <p:cNvSpPr/>
          <p:nvPr/>
        </p:nvSpPr>
        <p:spPr>
          <a:xfrm>
            <a:off x="548640" y="1481328"/>
            <a:ext cx="11109960" cy="1051560"/>
          </a:xfrm>
          <a:prstGeom prst="roundRect">
            <a:avLst>
              <a:gd name="adj" fmla="val 5217"/>
            </a:avLst>
          </a:prstGeom>
          <a:solidFill>
            <a:srgbClr val="FFFFFF"/>
          </a:solidFill>
          <a:ln w="9525">
            <a:solidFill>
              <a:srgbClr val="DCD8D3"/>
            </a:solidFill>
            <a:prstDash val="solid"/>
          </a:ln>
        </p:spPr>
        <p:txBody>
          <a:bodyPr/>
          <a:lstStyle/>
          <a:p>
            <a:endParaRPr lang="en-NL"/>
          </a:p>
        </p:txBody>
      </p:sp>
      <p:sp>
        <p:nvSpPr>
          <p:cNvPr id="7" name="Shape 5"/>
          <p:cNvSpPr/>
          <p:nvPr/>
        </p:nvSpPr>
        <p:spPr>
          <a:xfrm>
            <a:off x="868680" y="1792224"/>
            <a:ext cx="420624" cy="420624"/>
          </a:xfrm>
          <a:prstGeom prst="ellipse">
            <a:avLst/>
          </a:prstGeom>
          <a:solidFill>
            <a:srgbClr val="B85042"/>
          </a:solidFill>
          <a:ln/>
        </p:spPr>
        <p:txBody>
          <a:bodyPr/>
          <a:lstStyle/>
          <a:p>
            <a:endParaRPr lang="en-NL"/>
          </a:p>
        </p:txBody>
      </p:sp>
      <p:sp>
        <p:nvSpPr>
          <p:cNvPr id="8" name="Text 6"/>
          <p:cNvSpPr txBox="1"/>
          <p:nvPr/>
        </p:nvSpPr>
        <p:spPr>
          <a:xfrm>
            <a:off x="868680" y="1792224"/>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1508760" y="1627632"/>
            <a:ext cx="9784080" cy="329184"/>
          </a:xfrm>
          <a:prstGeom prst="rect">
            <a:avLst/>
          </a:prstGeom>
          <a:noFill/>
          <a:ln/>
        </p:spPr>
        <p:txBody>
          <a:bodyPr wrap="square" lIns="0" tIns="0" rIns="0" bIns="0" rtlCol="0" anchor="ctr"/>
          <a:lstStyle/>
          <a:p>
            <a:pPr marL="0" indent="0">
              <a:buNone/>
            </a:pPr>
            <a:r>
              <a:rPr lang="en-US" sz="1700" b="1" dirty="0">
                <a:solidFill>
                  <a:srgbClr val="1A1A1A"/>
                </a:solidFill>
                <a:latin typeface="Cambria" pitchFamily="34" charset="0"/>
                <a:ea typeface="Cambria" pitchFamily="34" charset="-122"/>
                <a:cs typeface="Cambria" pitchFamily="34" charset="-120"/>
              </a:rPr>
              <a:t>Pushover</a:t>
            </a:r>
            <a:endParaRPr lang="en-US" sz="1700" dirty="0"/>
          </a:p>
        </p:txBody>
      </p:sp>
      <p:sp>
        <p:nvSpPr>
          <p:cNvPr id="10" name="Text 8"/>
          <p:cNvSpPr txBox="1"/>
          <p:nvPr/>
        </p:nvSpPr>
        <p:spPr>
          <a:xfrm>
            <a:off x="1508760" y="1984248"/>
            <a:ext cx="9784080" cy="457200"/>
          </a:xfrm>
          <a:prstGeom prst="rect">
            <a:avLst/>
          </a:prstGeom>
          <a:noFill/>
          <a:ln/>
        </p:spPr>
        <p:txBody>
          <a:bodyPr wrap="square" lIns="0" tIns="0" rIns="0" bIns="0" rtlCol="0" anchor="ctr"/>
          <a:lstStyle/>
          <a:p>
            <a:pPr marL="0" indent="0">
              <a:buNone/>
            </a:pPr>
            <a:r>
              <a:rPr lang="en-US" sz="1250" dirty="0">
                <a:solidFill>
                  <a:srgbClr val="6B6B6B"/>
                </a:solidFill>
                <a:latin typeface="Calibri" pitchFamily="34" charset="0"/>
                <a:ea typeface="Calibri" pitchFamily="34" charset="-122"/>
                <a:cs typeface="Calibri" pitchFamily="34" charset="-120"/>
              </a:rPr>
              <a:t>One run. Force against displacement, compared with Table 4: 29.5 kN at 30 mm. Tells us whether the model is too strong. No period, no intensity measure, no damping assumption.</a:t>
            </a:r>
            <a:endParaRPr lang="en-US" sz="1250" dirty="0"/>
          </a:p>
        </p:txBody>
      </p:sp>
      <p:sp>
        <p:nvSpPr>
          <p:cNvPr id="11" name="Shape 9"/>
          <p:cNvSpPr/>
          <p:nvPr/>
        </p:nvSpPr>
        <p:spPr>
          <a:xfrm>
            <a:off x="548640" y="2651760"/>
            <a:ext cx="11109960" cy="1051560"/>
          </a:xfrm>
          <a:prstGeom prst="roundRect">
            <a:avLst>
              <a:gd name="adj" fmla="val 5217"/>
            </a:avLst>
          </a:prstGeom>
          <a:solidFill>
            <a:srgbClr val="FFFFFF"/>
          </a:solidFill>
          <a:ln w="9525">
            <a:solidFill>
              <a:srgbClr val="DCD8D3"/>
            </a:solidFill>
            <a:prstDash val="solid"/>
          </a:ln>
        </p:spPr>
        <p:txBody>
          <a:bodyPr/>
          <a:lstStyle/>
          <a:p>
            <a:endParaRPr lang="en-NL"/>
          </a:p>
        </p:txBody>
      </p:sp>
      <p:sp>
        <p:nvSpPr>
          <p:cNvPr id="12" name="Shape 10"/>
          <p:cNvSpPr/>
          <p:nvPr/>
        </p:nvSpPr>
        <p:spPr>
          <a:xfrm>
            <a:off x="868680" y="2962656"/>
            <a:ext cx="420624" cy="420624"/>
          </a:xfrm>
          <a:prstGeom prst="ellipse">
            <a:avLst/>
          </a:prstGeom>
          <a:solidFill>
            <a:srgbClr val="B85042"/>
          </a:solidFill>
          <a:ln/>
        </p:spPr>
        <p:txBody>
          <a:bodyPr/>
          <a:lstStyle/>
          <a:p>
            <a:endParaRPr lang="en-NL"/>
          </a:p>
        </p:txBody>
      </p:sp>
      <p:sp>
        <p:nvSpPr>
          <p:cNvPr id="13" name="Text 11"/>
          <p:cNvSpPr txBox="1"/>
          <p:nvPr/>
        </p:nvSpPr>
        <p:spPr>
          <a:xfrm>
            <a:off x="868680" y="2962656"/>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txBox="1"/>
          <p:nvPr/>
        </p:nvSpPr>
        <p:spPr>
          <a:xfrm>
            <a:off x="1508760" y="2798064"/>
            <a:ext cx="9784080" cy="329184"/>
          </a:xfrm>
          <a:prstGeom prst="rect">
            <a:avLst/>
          </a:prstGeom>
          <a:noFill/>
          <a:ln/>
        </p:spPr>
        <p:txBody>
          <a:bodyPr wrap="square" lIns="0" tIns="0" rIns="0" bIns="0" rtlCol="0" anchor="ctr"/>
          <a:lstStyle/>
          <a:p>
            <a:pPr marL="0" indent="0">
              <a:buNone/>
            </a:pPr>
            <a:r>
              <a:rPr lang="en-US" sz="1700" b="1" dirty="0">
                <a:solidFill>
                  <a:srgbClr val="1A1A1A"/>
                </a:solidFill>
                <a:latin typeface="Cambria" pitchFamily="34" charset="0"/>
                <a:ea typeface="Cambria" pitchFamily="34" charset="-122"/>
                <a:cs typeface="Cambria" pitchFamily="34" charset="-120"/>
              </a:rPr>
              <a:t>Re-run 22–25 with the pulse at the rocking period</a:t>
            </a:r>
            <a:endParaRPr lang="en-US" sz="1700" dirty="0"/>
          </a:p>
        </p:txBody>
      </p:sp>
      <p:sp>
        <p:nvSpPr>
          <p:cNvPr id="15" name="Text 13"/>
          <p:cNvSpPr txBox="1"/>
          <p:nvPr/>
        </p:nvSpPr>
        <p:spPr>
          <a:xfrm>
            <a:off x="1508760" y="3154680"/>
            <a:ext cx="9784080" cy="457200"/>
          </a:xfrm>
          <a:prstGeom prst="rect">
            <a:avLst/>
          </a:prstGeom>
          <a:noFill/>
          <a:ln/>
        </p:spPr>
        <p:txBody>
          <a:bodyPr wrap="square" lIns="0" tIns="0" rIns="0" bIns="0" rtlCol="0" anchor="ctr"/>
          <a:lstStyle/>
          <a:p>
            <a:pPr marL="0" indent="0">
              <a:buNone/>
            </a:pPr>
            <a:r>
              <a:rPr lang="en-US" sz="1250" dirty="0">
                <a:solidFill>
                  <a:srgbClr val="6B6B6B"/>
                </a:solidFill>
                <a:latin typeface="Calibri" pitchFamily="34" charset="0"/>
                <a:ea typeface="Calibri" pitchFamily="34" charset="-122"/>
                <a:cs typeface="Calibri" pitchFamily="34" charset="-120"/>
              </a:rPr>
              <a:t>Same targets, 0.30 / 0.44 / 0.52 / 0.57 g. Check whether the commanded intensity lands on what the table applied.</a:t>
            </a:r>
            <a:endParaRPr lang="en-US" sz="1250" dirty="0"/>
          </a:p>
        </p:txBody>
      </p:sp>
      <p:sp>
        <p:nvSpPr>
          <p:cNvPr id="16" name="Shape 14"/>
          <p:cNvSpPr/>
          <p:nvPr/>
        </p:nvSpPr>
        <p:spPr>
          <a:xfrm>
            <a:off x="548640" y="3822192"/>
            <a:ext cx="11109960" cy="1051560"/>
          </a:xfrm>
          <a:prstGeom prst="roundRect">
            <a:avLst>
              <a:gd name="adj" fmla="val 5217"/>
            </a:avLst>
          </a:prstGeom>
          <a:solidFill>
            <a:srgbClr val="F3F0EC"/>
          </a:solidFill>
          <a:ln w="9525">
            <a:solidFill>
              <a:srgbClr val="DCD8D3"/>
            </a:solidFill>
            <a:prstDash val="solid"/>
          </a:ln>
        </p:spPr>
        <p:txBody>
          <a:bodyPr/>
          <a:lstStyle/>
          <a:p>
            <a:endParaRPr lang="en-NL"/>
          </a:p>
        </p:txBody>
      </p:sp>
      <p:sp>
        <p:nvSpPr>
          <p:cNvPr id="17" name="Shape 15"/>
          <p:cNvSpPr/>
          <p:nvPr/>
        </p:nvSpPr>
        <p:spPr>
          <a:xfrm>
            <a:off x="868680" y="4133088"/>
            <a:ext cx="420624" cy="420624"/>
          </a:xfrm>
          <a:prstGeom prst="ellipse">
            <a:avLst/>
          </a:prstGeom>
          <a:solidFill>
            <a:srgbClr val="B85042"/>
          </a:solidFill>
          <a:ln/>
        </p:spPr>
        <p:txBody>
          <a:bodyPr/>
          <a:lstStyle/>
          <a:p>
            <a:endParaRPr lang="en-NL"/>
          </a:p>
        </p:txBody>
      </p:sp>
      <p:sp>
        <p:nvSpPr>
          <p:cNvPr id="18" name="Text 16"/>
          <p:cNvSpPr txBox="1"/>
          <p:nvPr/>
        </p:nvSpPr>
        <p:spPr>
          <a:xfrm>
            <a:off x="868680" y="4133088"/>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1508760" y="3968496"/>
            <a:ext cx="9784080" cy="329184"/>
          </a:xfrm>
          <a:prstGeom prst="rect">
            <a:avLst/>
          </a:prstGeom>
          <a:noFill/>
          <a:ln/>
        </p:spPr>
        <p:txBody>
          <a:bodyPr wrap="square" lIns="0" tIns="0" rIns="0" bIns="0" rtlCol="0" anchor="ctr"/>
          <a:lstStyle/>
          <a:p>
            <a:pPr marL="0" indent="0">
              <a:buNone/>
            </a:pPr>
            <a:r>
              <a:rPr lang="en-US" sz="1700" b="1" dirty="0">
                <a:solidFill>
                  <a:srgbClr val="1A1A1A"/>
                </a:solidFill>
                <a:latin typeface="Cambria" pitchFamily="34" charset="0"/>
                <a:ea typeface="Cambria" pitchFamily="34" charset="-122"/>
                <a:cs typeface="Cambria" pitchFamily="34" charset="-120"/>
              </a:rPr>
              <a:t>Replace Housner with the secant period</a:t>
            </a:r>
            <a:endParaRPr lang="en-US" sz="1700" dirty="0"/>
          </a:p>
        </p:txBody>
      </p:sp>
      <p:sp>
        <p:nvSpPr>
          <p:cNvPr id="20" name="Text 18"/>
          <p:cNvSpPr txBox="1"/>
          <p:nvPr/>
        </p:nvSpPr>
        <p:spPr>
          <a:xfrm>
            <a:off x="1508760" y="4325112"/>
            <a:ext cx="9784080" cy="457200"/>
          </a:xfrm>
          <a:prstGeom prst="rect">
            <a:avLst/>
          </a:prstGeom>
          <a:noFill/>
          <a:ln/>
        </p:spPr>
        <p:txBody>
          <a:bodyPr wrap="square" lIns="0" tIns="0" rIns="0" bIns="0" rtlCol="0" anchor="ctr"/>
          <a:lstStyle/>
          <a:p>
            <a:pPr marL="0" indent="0">
              <a:buNone/>
            </a:pPr>
            <a:r>
              <a:rPr lang="en-US" sz="1250" dirty="0">
                <a:solidFill>
                  <a:srgbClr val="6B6B6B"/>
                </a:solidFill>
                <a:latin typeface="Calibri" pitchFamily="34" charset="0"/>
                <a:ea typeface="Calibri" pitchFamily="34" charset="-122"/>
                <a:cs typeface="Calibri" pitchFamily="34" charset="-120"/>
              </a:rPr>
              <a:t>From the pushover curve. Removes the free-block assumption that gives 0.68 s where the measurements say 0.26–0.35 s.</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TotalTime>
  <Words>4075</Words>
  <Application>Microsoft Office PowerPoint</Application>
  <PresentationFormat>Widescreen</PresentationFormat>
  <Paragraphs>257</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Adaptive sinusoidal spectral matching for OOP masonry walls</dc:title>
  <dc:subject>PptxGenJS Presentation</dc:subject>
  <dc:creator>Yopi P. Oktiovan</dc:creator>
  <cp:lastModifiedBy>Oktiovan YP, Yopi</cp:lastModifiedBy>
  <cp:revision>6</cp:revision>
  <dcterms:created xsi:type="dcterms:W3CDTF">2026-08-31T10:15:49Z</dcterms:created>
  <dcterms:modified xsi:type="dcterms:W3CDTF">2026-08-31T12:40:18Z</dcterms:modified>
</cp:coreProperties>
</file>
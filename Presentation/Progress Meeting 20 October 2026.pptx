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75" r:id="rId7"/>
    <p:sldId id="261" r:id="rId8"/>
    <p:sldId id="274" r:id="rId9"/>
    <p:sldId id="263" r:id="rId10"/>
    <p:sldId id="264" r:id="rId11"/>
    <p:sldId id="265" r:id="rId12"/>
    <p:sldId id="266" r:id="rId13"/>
    <p:sldId id="267" r:id="rId14"/>
    <p:sldId id="268" r:id="rId15"/>
    <p:sldId id="269" r:id="rId16"/>
    <p:sldId id="270" r:id="rId17"/>
    <p:sldId id="271" r:id="rId18"/>
    <p:sldId id="272" r:id="rId19"/>
    <p:sldId id="273"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1068" y="53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8494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why the 29.5 kN capacity could not be right and what that did to the model; the rebuilt wall with f_t = 0 and the single spring load, and its pushover; the fixed-point target that replaces T_eff, and the two sequences launched today.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29.5 kN cannot be rebuilt from Eq. 2 with any stated mass; the group's own recipe gives 11 kN. Everything that follows assumes about 10 kN until Alvand replies.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doubled springs alone put the kinematic capacity at 14.6 kN instead of 10; the bond held the wall at 26 kN until the base cracked. Together they made 29 kN look right.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here depends on the joint model: the plateau is geometry times overburden. The test band and the rebuilt DEM both sit inside 9.6 to 12.8 kN. With the doubled springs the same formula gives 14.6, next to the old DEM's 13.6.</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 three readings alone is decisive; together they leave no room for 0.344 MPa in the wall as tested. The mason UDM has an explicit tension = 0 branch, so this is a parameter change, not a model change.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changes, each traceable to a check. No contact stiffness was touched.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v4 joist walk-out is an artefact of a static body force on a free-sliding element, not a wall property. v5 removes it by loading only the wall; joist inertia belongs to the dynamic runs, where it reverses.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curve is the bonded wall until the base cracks, then the over-strong rocking wall. The new curve is the rocking wall from the start. The 1.40 plateau ratio equals the overburden ratio, an independent confirmation of the doubled springs.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important thing in this picture is what is not there: no mid-height hinge. The pushover mechanism is base rocking plus top sliding, so the plateau is partly a top-joint property. Compare with the test's deformed shapes before the three-hinge hand calculation is used as more than a bound.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EC40 is the decisive row: run 3 is elastic in the test and in every model, and the single T_eff would target it at 14.6 mm. Every FR76 target lands beyond the tipping point.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already computed in Method 2 step 1 on the old backbone, but wave B was fed from the T_eff column. The change is which column feeds the wave.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lines before, three after. The checks are logged, never fed back.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different jobs: the fixed point decides what to target, the Newton fit decides how hard to shake to hit it. Crossings in the grey band are not trusted; the longer or negative pushover removes that band.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single result of the preflight. It reconciles Ihsan's "periods from the record" with the capacity-adaptive target by letting the carrier follow the wall only once the wall has left the record's band.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Expectation: HU12 targets up to run 18 sit at or below the 2 to 4 mm floor; divergence from the control should appear at runs 19 to 21 as a capacity effect. If not, the one-cycle wave B is the problem, not the target.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Damping is now a measured property of the model, not a setting. The 1.5 percent is a choice; that it is 1.5 percent across the band is verified.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run is the one that matters for the paper; the from-21 run buys an early look at FR76 behaviour while it finishes.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honest version: the method now sits on a wall that matches the test and the hand calculation, with a target that follows the wall's own curve. The known blind spots are findings for the paper, not things to tune away.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5" y="1227640"/>
            <a:ext cx="10566443" cy="474970"/>
          </a:xfrm>
          <a:prstGeom prst="rect">
            <a:avLst/>
          </a:prstGeom>
          <a:noFill/>
          <a:ln/>
        </p:spPr>
        <p:txBody>
          <a:bodyPr wrap="square" lIns="0" tIns="0" rIns="0" bIns="0" rtlCol="0" anchor="t"/>
          <a:lstStyle>
            <a:lvl1pPr marL="0" indent="0" algn="l">
              <a:lnSpc>
                <a:spcPct val="115000"/>
              </a:lnSpc>
              <a:buNone/>
              <a:defRPr lang="en-US" sz="3283" dirty="0">
                <a:solidFill>
                  <a:srgbClr val="1B2A3A"/>
                </a:solidFill>
                <a:latin typeface="Georgia" pitchFamily="34" charset="0"/>
                <a:ea typeface="Georgia" pitchFamily="34" charset="-122"/>
                <a:cs typeface="Georgia" pitchFamily="34" charset="-120"/>
              </a:defRPr>
            </a:lvl1pPr>
          </a:lstStyle>
          <a:p>
            <a:pPr marL="0" indent="0" algn="l">
              <a:lnSpc>
                <a:spcPct val="115000"/>
              </a:lnSpc>
              <a:buNone/>
            </a:pPr>
            <a:endParaRPr lang="en-US" sz="3283" dirty="0"/>
          </a:p>
        </p:txBody>
      </p:sp>
      <p:sp>
        <p:nvSpPr>
          <p:cNvPr id="3" name="Text Placeholder 2"/>
          <p:cNvSpPr>
            <a:spLocks noGrp="1"/>
          </p:cNvSpPr>
          <p:nvPr>
            <p:ph type="body" idx="101"/>
          </p:nvPr>
        </p:nvSpPr>
        <p:spPr>
          <a:xfrm>
            <a:off x="812765" y="2007409"/>
            <a:ext cx="10566435" cy="4037791"/>
          </a:xfrm>
          <a:prstGeom prst="rect">
            <a:avLst/>
          </a:prstGeom>
          <a:noFill/>
          <a:ln/>
        </p:spPr>
        <p:txBody>
          <a:bodyPr wrap="square" lIns="0" tIns="0" rIns="0" bIns="0" rtlCol="0" anchor="t"/>
          <a:lstStyle>
            <a:lvl1pPr marL="0" indent="0" algn="l">
              <a:lnSpc>
                <a:spcPct val="140000"/>
              </a:lnSpc>
              <a:buNone/>
              <a:defRPr lang="en-US" sz="1600" dirty="0">
                <a:solidFill>
                  <a:srgbClr val="1B2A3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5" y="1227640"/>
            <a:ext cx="10566443" cy="474970"/>
          </a:xfrm>
          <a:prstGeom prst="rect">
            <a:avLst/>
          </a:prstGeom>
          <a:noFill/>
          <a:ln/>
        </p:spPr>
        <p:txBody>
          <a:bodyPr wrap="square" lIns="0" tIns="0" rIns="0" bIns="0" rtlCol="0" anchor="t"/>
          <a:lstStyle>
            <a:lvl1pPr marL="0" indent="0" algn="l">
              <a:lnSpc>
                <a:spcPct val="115000"/>
              </a:lnSpc>
              <a:buNone/>
              <a:defRPr lang="en-US" sz="3283" dirty="0">
                <a:solidFill>
                  <a:srgbClr val="1B2A3A"/>
                </a:solidFill>
                <a:latin typeface="Georgia" pitchFamily="34" charset="0"/>
                <a:ea typeface="Georgia" pitchFamily="34" charset="-122"/>
                <a:cs typeface="Georgia" pitchFamily="34" charset="-120"/>
              </a:defRPr>
            </a:lvl1pPr>
          </a:lstStyle>
          <a:p>
            <a:pPr marL="0" indent="0" algn="l">
              <a:lnSpc>
                <a:spcPct val="115000"/>
              </a:lnSpc>
              <a:buNone/>
            </a:pPr>
            <a:endParaRPr lang="en-US" sz="3283" dirty="0"/>
          </a:p>
        </p:txBody>
      </p:sp>
      <p:sp>
        <p:nvSpPr>
          <p:cNvPr id="3" name="Text Placeholder 2"/>
          <p:cNvSpPr>
            <a:spLocks noGrp="1"/>
          </p:cNvSpPr>
          <p:nvPr>
            <p:ph type="body" idx="101"/>
          </p:nvPr>
        </p:nvSpPr>
        <p:spPr>
          <a:xfrm>
            <a:off x="812765" y="2007409"/>
            <a:ext cx="10566435" cy="4037791"/>
          </a:xfrm>
          <a:prstGeom prst="rect">
            <a:avLst/>
          </a:prstGeom>
          <a:noFill/>
          <a:ln/>
        </p:spPr>
        <p:txBody>
          <a:bodyPr wrap="square" lIns="0" tIns="0" rIns="0" bIns="0" rtlCol="0" anchor="t"/>
          <a:lstStyle>
            <a:lvl1pPr marL="0" indent="0" algn="l">
              <a:lnSpc>
                <a:spcPct val="140000"/>
              </a:lnSpc>
              <a:buNone/>
              <a:defRPr lang="en-US" sz="1600" dirty="0">
                <a:solidFill>
                  <a:srgbClr val="1B2A3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A"/>
        </a:solidFill>
        <a:effectLst/>
      </p:bgPr>
    </p:bg>
    <p:spTree>
      <p:nvGrpSpPr>
        <p:cNvPr id="1" name=""/>
        <p:cNvGrpSpPr/>
        <p:nvPr/>
      </p:nvGrpSpPr>
      <p:grpSpPr>
        <a:xfrm>
          <a:off x="0" y="0"/>
          <a:ext cx="0" cy="0"/>
          <a:chOff x="0" y="0"/>
          <a:chExt cx="0" cy="0"/>
        </a:xfrm>
      </p:grpSpPr>
      <p:sp>
        <p:nvSpPr>
          <p:cNvPr id="2" name="Text 0"/>
          <p:cNvSpPr/>
          <p:nvPr/>
        </p:nvSpPr>
        <p:spPr>
          <a:xfrm>
            <a:off x="812765" y="812765"/>
            <a:ext cx="10883436" cy="274297"/>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D9A77A"/>
                </a:solidFill>
                <a:latin typeface="Arial" pitchFamily="34" charset="0"/>
                <a:ea typeface="Arial" pitchFamily="34" charset="-122"/>
                <a:cs typeface="Arial" pitchFamily="34" charset="-120"/>
              </a:rPr>
              <a:t>SAFEGO US-1 · 3DEC RIGID-BLOCK MODEL · PROGRESS NOTE</a:t>
            </a:r>
            <a:endParaRPr lang="en-US" sz="1400" dirty="0"/>
          </a:p>
        </p:txBody>
      </p:sp>
      <p:sp>
        <p:nvSpPr>
          <p:cNvPr id="3" name="Text 1"/>
          <p:cNvSpPr>
            <a:spLocks noGrp="1"/>
          </p:cNvSpPr>
          <p:nvPr>
            <p:ph type="title"/>
          </p:nvPr>
        </p:nvSpPr>
        <p:spPr>
          <a:xfrm>
            <a:off x="812765" y="2325394"/>
            <a:ext cx="9810728" cy="1412268"/>
          </a:xfrm>
          <a:prstGeom prst="rect">
            <a:avLst/>
          </a:prstGeom>
          <a:noFill/>
          <a:ln/>
        </p:spPr>
        <p:txBody>
          <a:bodyPr wrap="square" lIns="0" tIns="0" rIns="0" bIns="0" rtlCol="0" anchor="t">
            <a:normAutofit/>
          </a:bodyPr>
          <a:lstStyle/>
          <a:p>
            <a:pPr marL="0" indent="0" algn="l">
              <a:lnSpc>
                <a:spcPts val="5460"/>
              </a:lnSpc>
              <a:buNone/>
            </a:pPr>
            <a:r>
              <a:rPr lang="en-US" sz="5200" b="0" i="0" dirty="0">
                <a:solidFill>
                  <a:srgbClr val="F6F4EE"/>
                </a:solidFill>
                <a:latin typeface="Georgia" pitchFamily="18" charset="0"/>
                <a:ea typeface="Georgia" pitchFamily="18" charset="-122"/>
                <a:cs typeface="Georgia" pitchFamily="18" charset="-120"/>
              </a:rPr>
              <a:t>From a questionable 29.5 kN to a capacity-adaptive surrogate</a:t>
            </a:r>
            <a:endParaRPr lang="en-US" sz="5200" dirty="0"/>
          </a:p>
        </p:txBody>
      </p:sp>
      <p:sp>
        <p:nvSpPr>
          <p:cNvPr id="4" name="Text 2"/>
          <p:cNvSpPr/>
          <p:nvPr/>
        </p:nvSpPr>
        <p:spPr>
          <a:xfrm>
            <a:off x="812765" y="3915420"/>
            <a:ext cx="9156664" cy="642571"/>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BFD8D5"/>
                </a:solidFill>
                <a:latin typeface="Arial" pitchFamily="34" charset="0"/>
                <a:ea typeface="Arial" pitchFamily="34" charset="-122"/>
                <a:cs typeface="Arial" pitchFamily="34" charset="-120"/>
              </a:rPr>
              <a:t>The base-shear mismatch, what it did to the calibration, the rebuilt wall and its pushover, and the fixed-point Route 2 now running.</a:t>
            </a:r>
            <a:endParaRPr lang="en-US" sz="1800" dirty="0"/>
          </a:p>
        </p:txBody>
      </p:sp>
      <p:sp>
        <p:nvSpPr>
          <p:cNvPr id="5" name="Text 3"/>
          <p:cNvSpPr/>
          <p:nvPr/>
        </p:nvSpPr>
        <p:spPr>
          <a:xfrm>
            <a:off x="812765" y="5796323"/>
            <a:ext cx="2186382" cy="27429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D8D5"/>
                </a:solidFill>
                <a:latin typeface="Arial" pitchFamily="34" charset="0"/>
                <a:ea typeface="Arial" pitchFamily="34" charset="-122"/>
                <a:cs typeface="Arial" pitchFamily="34" charset="-120"/>
              </a:rPr>
              <a:t>Yopi · 20 October 2026</a:t>
            </a:r>
            <a:endParaRPr lang="en-US" sz="1400" dirty="0"/>
          </a:p>
        </p:txBody>
      </p:sp>
      <p:sp>
        <p:nvSpPr>
          <p:cNvPr id="6" name="Text 4"/>
          <p:cNvSpPr/>
          <p:nvPr/>
        </p:nvSpPr>
        <p:spPr>
          <a:xfrm>
            <a:off x="5613708" y="5796323"/>
            <a:ext cx="5765500" cy="274297"/>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BFD8D5"/>
                </a:solidFill>
                <a:latin typeface="Arial" pitchFamily="34" charset="0"/>
                <a:ea typeface="Arial" pitchFamily="34" charset="-122"/>
                <a:cs typeface="Arial" pitchFamily="34" charset="-120"/>
              </a:rPr>
              <a:t>Moshfeghi et al. (2024) Structures 66:106815 · US-1 = Test 9</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5" y="812765"/>
            <a:ext cx="10883436" cy="256545"/>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491A"/>
                </a:solidFill>
                <a:latin typeface="Arial" pitchFamily="34" charset="0"/>
                <a:ea typeface="Arial" pitchFamily="34" charset="-122"/>
                <a:cs typeface="Arial" pitchFamily="34" charset="-120"/>
              </a:rPr>
              <a:t>1 · THE BASE-SHEAR QUESTION</a:t>
            </a:r>
            <a:endParaRPr lang="en-US" sz="1300" dirty="0"/>
          </a:p>
        </p:txBody>
      </p:sp>
      <p:sp>
        <p:nvSpPr>
          <p:cNvPr id="3" name="Text 1"/>
          <p:cNvSpPr>
            <a:spLocks noGrp="1"/>
          </p:cNvSpPr>
          <p:nvPr>
            <p:ph type="title"/>
          </p:nvPr>
        </p:nvSpPr>
        <p:spPr>
          <a:xfrm>
            <a:off x="812765" y="1348691"/>
            <a:ext cx="10883436" cy="500370"/>
          </a:xfrm>
          <a:prstGeom prst="rect">
            <a:avLst/>
          </a:prstGeom>
          <a:noFill/>
          <a:ln/>
        </p:spPr>
        <p:txBody>
          <a:bodyPr wrap="square" lIns="0" tIns="0" rIns="0" bIns="0" rtlCol="0" anchor="t">
            <a:normAutofit/>
          </a:bodyPr>
          <a:lstStyle/>
          <a:p>
            <a:pPr marL="0" indent="0" algn="l">
              <a:lnSpc>
                <a:spcPts val="3740"/>
              </a:lnSpc>
              <a:buNone/>
            </a:pPr>
            <a:r>
              <a:rPr lang="en-US" sz="3400" b="0" i="0" dirty="0">
                <a:solidFill>
                  <a:srgbClr val="1B2A3A"/>
                </a:solidFill>
                <a:latin typeface="Georgia" pitchFamily="18" charset="0"/>
                <a:ea typeface="Georgia" pitchFamily="18" charset="-122"/>
                <a:cs typeface="Georgia" pitchFamily="18" charset="-120"/>
              </a:rPr>
              <a:t>A 1.3-tonne wall cannot carry 3 tonnes of base shear</a:t>
            </a:r>
            <a:endParaRPr lang="en-US" sz="3400" dirty="0"/>
          </a:p>
        </p:txBody>
      </p:sp>
      <p:sp>
        <p:nvSpPr>
          <p:cNvPr id="4" name="Shape 2"/>
          <p:cNvSpPr/>
          <p:nvPr/>
        </p:nvSpPr>
        <p:spPr>
          <a:xfrm>
            <a:off x="815940" y="2131616"/>
            <a:ext cx="3312595" cy="2457487"/>
          </a:xfrm>
          <a:prstGeom prst="roundRect">
            <a:avLst>
              <a:gd name="adj" fmla="val 4005"/>
            </a:avLst>
          </a:prstGeom>
          <a:solidFill>
            <a:srgbClr val="FFFFFF"/>
          </a:solidFill>
          <a:ln w="6350">
            <a:solidFill>
              <a:srgbClr val="DDD8CC"/>
            </a:solidFill>
            <a:prstDash val="solid"/>
          </a:ln>
        </p:spPr>
        <p:txBody>
          <a:bodyPr/>
          <a:lstStyle/>
          <a:p>
            <a:endParaRPr lang="en-GB"/>
          </a:p>
        </p:txBody>
      </p:sp>
      <p:sp>
        <p:nvSpPr>
          <p:cNvPr id="5" name="Text 3"/>
          <p:cNvSpPr/>
          <p:nvPr/>
        </p:nvSpPr>
        <p:spPr>
          <a:xfrm>
            <a:off x="1072531" y="2388208"/>
            <a:ext cx="2883395" cy="25654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A7179"/>
                </a:solidFill>
                <a:latin typeface="Arial" pitchFamily="34" charset="0"/>
                <a:ea typeface="Arial" pitchFamily="34" charset="-122"/>
                <a:cs typeface="Arial" pitchFamily="34" charset="-120"/>
              </a:rPr>
              <a:t>Paper, Table 4 · US-1 run 24</a:t>
            </a:r>
            <a:endParaRPr lang="en-US" sz="1300" dirty="0"/>
          </a:p>
        </p:txBody>
      </p:sp>
      <p:sp>
        <p:nvSpPr>
          <p:cNvPr id="6" name="Text 4"/>
          <p:cNvSpPr/>
          <p:nvPr/>
        </p:nvSpPr>
        <p:spPr>
          <a:xfrm>
            <a:off x="1072531" y="2695525"/>
            <a:ext cx="2883395" cy="635008"/>
          </a:xfrm>
          <a:prstGeom prst="rect">
            <a:avLst/>
          </a:prstGeom>
          <a:noFill/>
          <a:ln/>
        </p:spPr>
        <p:txBody>
          <a:bodyPr wrap="square" lIns="0" tIns="0" rIns="0" bIns="0" rtlCol="0" anchor="t">
            <a:normAutofit/>
          </a:bodyPr>
          <a:lstStyle/>
          <a:p>
            <a:pPr marL="0" indent="0" algn="l">
              <a:lnSpc>
                <a:spcPts val="4800"/>
              </a:lnSpc>
              <a:buNone/>
            </a:pPr>
            <a:r>
              <a:rPr lang="en-US" sz="4800" dirty="0">
                <a:solidFill>
                  <a:srgbClr val="1B2A3A"/>
                </a:solidFill>
                <a:latin typeface="Georgia" pitchFamily="18" charset="0"/>
                <a:ea typeface="Georgia" pitchFamily="18" charset="-122"/>
                <a:cs typeface="Georgia" pitchFamily="18" charset="-120"/>
              </a:rPr>
              <a:t>29.5 kN</a:t>
            </a:r>
            <a:endParaRPr lang="en-US" sz="4800" dirty="0"/>
          </a:p>
        </p:txBody>
      </p:sp>
      <p:sp>
        <p:nvSpPr>
          <p:cNvPr id="7" name="Text 5"/>
          <p:cNvSpPr/>
          <p:nvPr/>
        </p:nvSpPr>
        <p:spPr>
          <a:xfrm>
            <a:off x="1072531" y="3381305"/>
            <a:ext cx="2883395" cy="745463"/>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A5568"/>
                </a:solidFill>
                <a:latin typeface="Arial" pitchFamily="34" charset="0"/>
                <a:ea typeface="Arial" pitchFamily="34" charset="-122"/>
                <a:cs typeface="Arial" pitchFamily="34" charset="-120"/>
              </a:rPr>
              <a:t>Eq. 2: Σ a_j·m_j over three accelerometers. The old model was calibrated to it.</a:t>
            </a:r>
            <a:endParaRPr lang="en-US" sz="1350" dirty="0"/>
          </a:p>
        </p:txBody>
      </p:sp>
      <p:sp>
        <p:nvSpPr>
          <p:cNvPr id="8" name="Shape 6"/>
          <p:cNvSpPr/>
          <p:nvPr/>
        </p:nvSpPr>
        <p:spPr>
          <a:xfrm>
            <a:off x="4439666" y="2131616"/>
            <a:ext cx="3312640" cy="2457487"/>
          </a:xfrm>
          <a:prstGeom prst="roundRect">
            <a:avLst>
              <a:gd name="adj" fmla="val 4005"/>
            </a:avLst>
          </a:prstGeom>
          <a:solidFill>
            <a:srgbClr val="FFFFFF"/>
          </a:solidFill>
          <a:ln w="6350">
            <a:solidFill>
              <a:srgbClr val="DDD8CC"/>
            </a:solidFill>
            <a:prstDash val="solid"/>
          </a:ln>
        </p:spPr>
        <p:txBody>
          <a:bodyPr/>
          <a:lstStyle/>
          <a:p>
            <a:endParaRPr lang="en-GB"/>
          </a:p>
        </p:txBody>
      </p:sp>
      <p:sp>
        <p:nvSpPr>
          <p:cNvPr id="9" name="Text 7"/>
          <p:cNvSpPr/>
          <p:nvPr/>
        </p:nvSpPr>
        <p:spPr>
          <a:xfrm>
            <a:off x="4696257" y="2388208"/>
            <a:ext cx="2883442" cy="4876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A7179"/>
                </a:solidFill>
                <a:latin typeface="Arial" pitchFamily="34" charset="0"/>
                <a:ea typeface="Arial" pitchFamily="34" charset="-122"/>
                <a:cs typeface="Arial" pitchFamily="34" charset="-120"/>
              </a:rPr>
              <a:t>Same Eq. 2, the group’s masses, absolute channels</a:t>
            </a:r>
            <a:endParaRPr lang="en-US" sz="1300" dirty="0"/>
          </a:p>
        </p:txBody>
      </p:sp>
      <p:sp>
        <p:nvSpPr>
          <p:cNvPr id="10" name="Text 8"/>
          <p:cNvSpPr/>
          <p:nvPr/>
        </p:nvSpPr>
        <p:spPr>
          <a:xfrm>
            <a:off x="4696257" y="2926669"/>
            <a:ext cx="2883442" cy="635008"/>
          </a:xfrm>
          <a:prstGeom prst="rect">
            <a:avLst/>
          </a:prstGeom>
          <a:noFill/>
          <a:ln/>
        </p:spPr>
        <p:txBody>
          <a:bodyPr wrap="square" lIns="0" tIns="0" rIns="0" bIns="0" rtlCol="0" anchor="t">
            <a:normAutofit/>
          </a:bodyPr>
          <a:lstStyle/>
          <a:p>
            <a:pPr marL="0" indent="0" algn="l">
              <a:lnSpc>
                <a:spcPts val="4800"/>
              </a:lnSpc>
              <a:buNone/>
            </a:pPr>
            <a:r>
              <a:rPr lang="en-US" sz="4800" dirty="0">
                <a:solidFill>
                  <a:srgbClr val="2F6BA6"/>
                </a:solidFill>
                <a:latin typeface="Georgia" pitchFamily="18" charset="0"/>
                <a:ea typeface="Georgia" pitchFamily="18" charset="-122"/>
                <a:cs typeface="Georgia" pitchFamily="18" charset="-120"/>
              </a:rPr>
              <a:t>11 kN</a:t>
            </a:r>
            <a:endParaRPr lang="en-US" sz="4800" dirty="0"/>
          </a:p>
        </p:txBody>
      </p:sp>
      <p:sp>
        <p:nvSpPr>
          <p:cNvPr id="11" name="Text 9"/>
          <p:cNvSpPr/>
          <p:nvPr/>
        </p:nvSpPr>
        <p:spPr>
          <a:xfrm>
            <a:off x="4696257" y="3612450"/>
            <a:ext cx="2883442" cy="745463"/>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A5568"/>
                </a:solidFill>
                <a:latin typeface="Arial" pitchFamily="34" charset="0"/>
                <a:ea typeface="Arial" pitchFamily="34" charset="-122"/>
                <a:cs typeface="Arial" pitchFamily="34" charset="-120"/>
              </a:rPr>
              <a:t>455 / 670 / 606 kg, no factor. Plateau 8.3–11.6 kN over runs 16–24.</a:t>
            </a:r>
            <a:endParaRPr lang="en-US" sz="1350" dirty="0"/>
          </a:p>
        </p:txBody>
      </p:sp>
      <p:sp>
        <p:nvSpPr>
          <p:cNvPr id="12" name="Shape 10"/>
          <p:cNvSpPr/>
          <p:nvPr/>
        </p:nvSpPr>
        <p:spPr>
          <a:xfrm>
            <a:off x="8063437" y="2131616"/>
            <a:ext cx="3312595" cy="2457487"/>
          </a:xfrm>
          <a:prstGeom prst="roundRect">
            <a:avLst>
              <a:gd name="adj" fmla="val 4005"/>
            </a:avLst>
          </a:prstGeom>
          <a:solidFill>
            <a:srgbClr val="FFFFFF"/>
          </a:solidFill>
          <a:ln w="6350">
            <a:solidFill>
              <a:srgbClr val="DDD8CC"/>
            </a:solidFill>
            <a:prstDash val="solid"/>
          </a:ln>
        </p:spPr>
        <p:txBody>
          <a:bodyPr/>
          <a:lstStyle/>
          <a:p>
            <a:endParaRPr lang="en-GB"/>
          </a:p>
        </p:txBody>
      </p:sp>
      <p:sp>
        <p:nvSpPr>
          <p:cNvPr id="13" name="Text 11"/>
          <p:cNvSpPr/>
          <p:nvPr/>
        </p:nvSpPr>
        <p:spPr>
          <a:xfrm>
            <a:off x="8320029" y="2388208"/>
            <a:ext cx="2883395" cy="25654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A7179"/>
                </a:solidFill>
                <a:latin typeface="Arial" pitchFamily="34" charset="0"/>
                <a:ea typeface="Arial" pitchFamily="34" charset="-122"/>
                <a:cs typeface="Arial" pitchFamily="34" charset="-120"/>
              </a:rPr>
              <a:t>Where the old 29.5 came from</a:t>
            </a:r>
            <a:endParaRPr lang="en-US" sz="1300" dirty="0"/>
          </a:p>
        </p:txBody>
      </p:sp>
      <p:sp>
        <p:nvSpPr>
          <p:cNvPr id="14" name="Text 12"/>
          <p:cNvSpPr/>
          <p:nvPr/>
        </p:nvSpPr>
        <p:spPr>
          <a:xfrm>
            <a:off x="8320029" y="2695525"/>
            <a:ext cx="2883395" cy="635008"/>
          </a:xfrm>
          <a:prstGeom prst="rect">
            <a:avLst/>
          </a:prstGeom>
          <a:noFill/>
          <a:ln/>
        </p:spPr>
        <p:txBody>
          <a:bodyPr wrap="square" lIns="0" tIns="0" rIns="0" bIns="0" rtlCol="0" anchor="t">
            <a:normAutofit/>
          </a:bodyPr>
          <a:lstStyle/>
          <a:p>
            <a:pPr marL="0" indent="0" algn="l">
              <a:lnSpc>
                <a:spcPts val="4800"/>
              </a:lnSpc>
              <a:buNone/>
            </a:pPr>
            <a:r>
              <a:rPr lang="en-US" sz="4800" dirty="0">
                <a:solidFill>
                  <a:srgbClr val="B4491A"/>
                </a:solidFill>
                <a:latin typeface="Georgia" pitchFamily="18" charset="0"/>
                <a:ea typeface="Georgia" pitchFamily="18" charset="-122"/>
                <a:cs typeface="Georgia" pitchFamily="18" charset="-120"/>
              </a:rPr>
              <a:t>× 2.3</a:t>
            </a:r>
            <a:endParaRPr lang="en-US" sz="4800" dirty="0"/>
          </a:p>
        </p:txBody>
      </p:sp>
      <p:sp>
        <p:nvSpPr>
          <p:cNvPr id="15" name="Text 13"/>
          <p:cNvSpPr/>
          <p:nvPr/>
        </p:nvSpPr>
        <p:spPr>
          <a:xfrm>
            <a:off x="8320029" y="3381305"/>
            <a:ext cx="2883395" cy="745463"/>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A5568"/>
                </a:solidFill>
                <a:latin typeface="Arial" pitchFamily="34" charset="0"/>
                <a:ea typeface="Arial" pitchFamily="34" charset="-122"/>
                <a:cs typeface="Arial" pitchFamily="34" charset="-120"/>
              </a:rPr>
              <a:t>A mass factor fitted to reach 29.5, plus the table acceleration counted twice.</a:t>
            </a:r>
            <a:endParaRPr lang="en-US" sz="1350" dirty="0"/>
          </a:p>
        </p:txBody>
      </p:sp>
      <p:sp>
        <p:nvSpPr>
          <p:cNvPr id="16" name="Shape 14"/>
          <p:cNvSpPr/>
          <p:nvPr/>
        </p:nvSpPr>
        <p:spPr>
          <a:xfrm>
            <a:off x="812765" y="4897059"/>
            <a:ext cx="10566443" cy="634968"/>
          </a:xfrm>
          <a:prstGeom prst="roundRect">
            <a:avLst>
              <a:gd name="adj" fmla="val 16001"/>
            </a:avLst>
          </a:prstGeom>
          <a:solidFill>
            <a:srgbClr val="1B2A3A"/>
          </a:solidFill>
          <a:ln/>
        </p:spPr>
        <p:txBody>
          <a:bodyPr/>
          <a:lstStyle/>
          <a:p>
            <a:endParaRPr lang="en-GB"/>
          </a:p>
        </p:txBody>
      </p:sp>
      <p:pic>
        <p:nvPicPr>
          <p:cNvPr id="17" name="Image 0" descr="Clock"/>
          <p:cNvPicPr>
            <a:picLocks noChangeAspect="1"/>
          </p:cNvPicPr>
          <p:nvPr/>
        </p:nvPicPr>
        <p:blipFill>
          <a:blip r:embed="rId3"/>
          <a:srcRect/>
          <a:stretch/>
        </p:blipFill>
        <p:spPr>
          <a:xfrm>
            <a:off x="1066734" y="5074856"/>
            <a:ext cx="279375" cy="279375"/>
          </a:xfrm>
          <a:prstGeom prst="rect">
            <a:avLst/>
          </a:prstGeom>
        </p:spPr>
      </p:pic>
      <p:sp>
        <p:nvSpPr>
          <p:cNvPr id="18" name="Text 15"/>
          <p:cNvSpPr/>
          <p:nvPr/>
        </p:nvSpPr>
        <p:spPr>
          <a:xfrm>
            <a:off x="1498500" y="5094511"/>
            <a:ext cx="9078766" cy="265421"/>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6F4EE"/>
                </a:solidFill>
                <a:latin typeface="Arial" pitchFamily="34" charset="0"/>
                <a:ea typeface="Arial" pitchFamily="34" charset="-122"/>
                <a:cs typeface="Arial" pitchFamily="34" charset="-120"/>
              </a:rPr>
              <a:t>Pending Alvand Moshfeghi’s reply on the masses behind Eq. 2. Until then: test capacity ≈ 10 kN.</a:t>
            </a:r>
            <a:endParaRPr lang="en-US" sz="1400" dirty="0"/>
          </a:p>
        </p:txBody>
      </p:sp>
      <p:sp>
        <p:nvSpPr>
          <p:cNvPr id="19" name="Text 16"/>
          <p:cNvSpPr/>
          <p:nvPr/>
        </p:nvSpPr>
        <p:spPr>
          <a:xfrm>
            <a:off x="815940" y="6074802"/>
            <a:ext cx="5373628" cy="53200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Arial" pitchFamily="34" charset="0"/>
                <a:ea typeface="Arial" pitchFamily="34" charset="-122"/>
                <a:cs typeface="Arial" pitchFamily="34" charset="-120"/>
              </a:rPr>
              <a:t>Moshfeghi et al. (2024) Eq. 2, Table 4 · masses: group sheet of 5 Oct 2026 · make_processed_globalzero_v2.py</a:t>
            </a:r>
            <a:endParaRPr lang="en-US" sz="1200" dirty="0"/>
          </a:p>
        </p:txBody>
      </p:sp>
      <p:pic>
        <p:nvPicPr>
          <p:cNvPr id="21" name="Picture 20">
            <a:extLst>
              <a:ext uri="{FF2B5EF4-FFF2-40B4-BE49-F238E27FC236}">
                <a16:creationId xmlns:a16="http://schemas.microsoft.com/office/drawing/2014/main" id="{BA539EAA-8A5E-AD76-700C-EED405337020}"/>
              </a:ext>
            </a:extLst>
          </p:cNvPr>
          <p:cNvPicPr>
            <a:picLocks noChangeAspect="1"/>
          </p:cNvPicPr>
          <p:nvPr/>
        </p:nvPicPr>
        <p:blipFill>
          <a:blip r:embed="rId4"/>
          <a:stretch>
            <a:fillRect/>
          </a:stretch>
        </p:blipFill>
        <p:spPr>
          <a:xfrm>
            <a:off x="6545945" y="5593706"/>
            <a:ext cx="5373629" cy="117604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5" y="812766"/>
            <a:ext cx="10883436" cy="256545"/>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491A"/>
                </a:solidFill>
                <a:latin typeface="Arial" pitchFamily="34" charset="0"/>
                <a:ea typeface="Arial" pitchFamily="34" charset="-122"/>
                <a:cs typeface="Arial" pitchFamily="34" charset="-120"/>
              </a:rPr>
              <a:t>1 · WHAT THE WRONG NUMBER DID TO THE MODEL</a:t>
            </a:r>
            <a:endParaRPr lang="en-US" sz="1300" dirty="0"/>
          </a:p>
        </p:txBody>
      </p:sp>
      <p:sp>
        <p:nvSpPr>
          <p:cNvPr id="3" name="Text 1"/>
          <p:cNvSpPr>
            <a:spLocks noGrp="1"/>
          </p:cNvSpPr>
          <p:nvPr>
            <p:ph type="title"/>
          </p:nvPr>
        </p:nvSpPr>
        <p:spPr>
          <a:xfrm>
            <a:off x="812765" y="1348691"/>
            <a:ext cx="10883436" cy="975339"/>
          </a:xfrm>
          <a:prstGeom prst="rect">
            <a:avLst/>
          </a:prstGeom>
          <a:noFill/>
          <a:ln/>
        </p:spPr>
        <p:txBody>
          <a:bodyPr wrap="square" lIns="0" tIns="0" rIns="0" bIns="0" rtlCol="0" anchor="t">
            <a:normAutofit/>
          </a:bodyPr>
          <a:lstStyle/>
          <a:p>
            <a:pPr marL="0" indent="0" algn="l">
              <a:lnSpc>
                <a:spcPts val="3740"/>
              </a:lnSpc>
              <a:buNone/>
            </a:pPr>
            <a:r>
              <a:rPr lang="en-US" sz="3400" b="0" i="0" dirty="0">
                <a:solidFill>
                  <a:srgbClr val="1B2A3A"/>
                </a:solidFill>
                <a:latin typeface="Georgia" pitchFamily="18" charset="0"/>
                <a:ea typeface="Georgia" pitchFamily="18" charset="-122"/>
                <a:cs typeface="Georgia" pitchFamily="18" charset="-120"/>
              </a:rPr>
              <a:t>Two errors, pushing the same way, made 29 kN look right</a:t>
            </a:r>
            <a:endParaRPr lang="en-US" sz="3400" dirty="0"/>
          </a:p>
        </p:txBody>
      </p:sp>
      <p:sp>
        <p:nvSpPr>
          <p:cNvPr id="4" name="Shape 2"/>
          <p:cNvSpPr/>
          <p:nvPr/>
        </p:nvSpPr>
        <p:spPr>
          <a:xfrm>
            <a:off x="815940" y="2606587"/>
            <a:ext cx="5124481" cy="1910149"/>
          </a:xfrm>
          <a:prstGeom prst="roundRect">
            <a:avLst>
              <a:gd name="adj" fmla="val 5153"/>
            </a:avLst>
          </a:prstGeom>
          <a:solidFill>
            <a:srgbClr val="FFFFFF"/>
          </a:solidFill>
          <a:ln w="6350">
            <a:solidFill>
              <a:srgbClr val="DDD8CC"/>
            </a:solidFill>
            <a:prstDash val="solid"/>
          </a:ln>
        </p:spPr>
        <p:txBody>
          <a:bodyPr/>
          <a:lstStyle/>
          <a:p>
            <a:endParaRPr lang="en-GB"/>
          </a:p>
        </p:txBody>
      </p:sp>
      <p:sp>
        <p:nvSpPr>
          <p:cNvPr id="5" name="Text 3"/>
          <p:cNvSpPr/>
          <p:nvPr/>
        </p:nvSpPr>
        <p:spPr>
          <a:xfrm>
            <a:off x="1072531" y="2863177"/>
            <a:ext cx="4749638" cy="256545"/>
          </a:xfrm>
          <a:prstGeom prst="rect">
            <a:avLst/>
          </a:prstGeom>
          <a:noFill/>
          <a:ln/>
        </p:spPr>
        <p:txBody>
          <a:bodyPr wrap="square" lIns="0" tIns="0" rIns="0" bIns="0" rtlCol="0" anchor="t">
            <a:normAutofit/>
          </a:bodyPr>
          <a:lstStyle/>
          <a:p>
            <a:pPr marL="0" indent="0" algn="l">
              <a:lnSpc>
                <a:spcPts val="1820"/>
              </a:lnSpc>
              <a:buNone/>
            </a:pPr>
            <a:r>
              <a:rPr lang="en-US" sz="1300" b="1" kern="0" spc="50" dirty="0">
                <a:solidFill>
                  <a:srgbClr val="2F6BA6"/>
                </a:solidFill>
                <a:latin typeface="Arial" pitchFamily="34" charset="0"/>
                <a:ea typeface="Arial" pitchFamily="34" charset="-122"/>
                <a:cs typeface="Arial" pitchFamily="34" charset="-120"/>
              </a:rPr>
              <a:t>A · SPRING LOAD DOUBLED</a:t>
            </a:r>
            <a:endParaRPr lang="en-US" sz="1300" dirty="0"/>
          </a:p>
        </p:txBody>
      </p:sp>
      <p:sp>
        <p:nvSpPr>
          <p:cNvPr id="6" name="Text 4"/>
          <p:cNvSpPr/>
          <p:nvPr/>
        </p:nvSpPr>
        <p:spPr>
          <a:xfrm>
            <a:off x="1072531" y="3183220"/>
            <a:ext cx="4749638" cy="533384"/>
          </a:xfrm>
          <a:prstGeom prst="rect">
            <a:avLst/>
          </a:prstGeom>
          <a:noFill/>
          <a:ln/>
        </p:spPr>
        <p:txBody>
          <a:bodyPr wrap="square" lIns="0" tIns="0" rIns="0" bIns="0" rtlCol="0" anchor="t">
            <a:normAutofit/>
          </a:bodyPr>
          <a:lstStyle/>
          <a:p>
            <a:pPr marL="0" indent="0" algn="l">
              <a:lnSpc>
                <a:spcPts val="4000"/>
              </a:lnSpc>
              <a:buNone/>
            </a:pPr>
            <a:r>
              <a:rPr lang="en-US" sz="4000" dirty="0">
                <a:solidFill>
                  <a:srgbClr val="1B2A3A"/>
                </a:solidFill>
                <a:latin typeface="Georgia" pitchFamily="18" charset="0"/>
                <a:ea typeface="Georgia" pitchFamily="18" charset="-122"/>
                <a:cs typeface="Georgia" pitchFamily="18" charset="-120"/>
              </a:rPr>
              <a:t>0.134 MPa</a:t>
            </a:r>
            <a:endParaRPr lang="en-US" sz="4000" dirty="0"/>
          </a:p>
        </p:txBody>
      </p:sp>
      <p:sp>
        <p:nvSpPr>
          <p:cNvPr id="7" name="Text 5"/>
          <p:cNvSpPr/>
          <p:nvPr/>
        </p:nvSpPr>
        <p:spPr>
          <a:xfrm>
            <a:off x="1072531" y="3780103"/>
            <a:ext cx="4749638" cy="505442"/>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A5568"/>
                </a:solidFill>
                <a:latin typeface="Arial" pitchFamily="34" charset="0"/>
                <a:ea typeface="Arial" pitchFamily="34" charset="-122"/>
                <a:cs typeface="Arial" pitchFamily="34" charset="-120"/>
              </a:rPr>
              <a:t>instead of the test’s 0.096. Rocking capacity scales with overburden: +40 % before any material entered.</a:t>
            </a:r>
            <a:endParaRPr lang="en-US" sz="1350" dirty="0"/>
          </a:p>
        </p:txBody>
      </p:sp>
      <p:sp>
        <p:nvSpPr>
          <p:cNvPr id="8" name="Shape 6"/>
          <p:cNvSpPr/>
          <p:nvPr/>
        </p:nvSpPr>
        <p:spPr>
          <a:xfrm>
            <a:off x="6251552" y="2606587"/>
            <a:ext cx="5124481" cy="1910149"/>
          </a:xfrm>
          <a:prstGeom prst="roundRect">
            <a:avLst>
              <a:gd name="adj" fmla="val 5153"/>
            </a:avLst>
          </a:prstGeom>
          <a:solidFill>
            <a:srgbClr val="FFFFFF"/>
          </a:solidFill>
          <a:ln w="6350">
            <a:solidFill>
              <a:srgbClr val="DDD8CC"/>
            </a:solidFill>
            <a:prstDash val="solid"/>
          </a:ln>
        </p:spPr>
        <p:txBody>
          <a:bodyPr/>
          <a:lstStyle/>
          <a:p>
            <a:endParaRPr lang="en-GB"/>
          </a:p>
        </p:txBody>
      </p:sp>
      <p:sp>
        <p:nvSpPr>
          <p:cNvPr id="9" name="Text 7"/>
          <p:cNvSpPr/>
          <p:nvPr/>
        </p:nvSpPr>
        <p:spPr>
          <a:xfrm>
            <a:off x="6508143" y="2863177"/>
            <a:ext cx="4749638" cy="256545"/>
          </a:xfrm>
          <a:prstGeom prst="rect">
            <a:avLst/>
          </a:prstGeom>
          <a:noFill/>
          <a:ln/>
        </p:spPr>
        <p:txBody>
          <a:bodyPr wrap="square" lIns="0" tIns="0" rIns="0" bIns="0" rtlCol="0" anchor="t">
            <a:normAutofit/>
          </a:bodyPr>
          <a:lstStyle/>
          <a:p>
            <a:pPr marL="0" indent="0" algn="l">
              <a:lnSpc>
                <a:spcPts val="1820"/>
              </a:lnSpc>
              <a:buNone/>
            </a:pPr>
            <a:r>
              <a:rPr lang="en-US" sz="1300" b="1" kern="0" spc="50" dirty="0">
                <a:solidFill>
                  <a:srgbClr val="2F6BA6"/>
                </a:solidFill>
                <a:latin typeface="Arial" pitchFamily="34" charset="0"/>
                <a:ea typeface="Arial" pitchFamily="34" charset="-122"/>
                <a:cs typeface="Arial" pitchFamily="34" charset="-120"/>
              </a:rPr>
              <a:t>B · BONDED JOINTS</a:t>
            </a:r>
            <a:endParaRPr lang="en-US" sz="1300" dirty="0"/>
          </a:p>
        </p:txBody>
      </p:sp>
      <p:sp>
        <p:nvSpPr>
          <p:cNvPr id="10" name="Text 8"/>
          <p:cNvSpPr/>
          <p:nvPr/>
        </p:nvSpPr>
        <p:spPr>
          <a:xfrm>
            <a:off x="6508143" y="3183220"/>
            <a:ext cx="4749638" cy="533384"/>
          </a:xfrm>
          <a:prstGeom prst="rect">
            <a:avLst/>
          </a:prstGeom>
          <a:noFill/>
          <a:ln/>
        </p:spPr>
        <p:txBody>
          <a:bodyPr wrap="square" lIns="0" tIns="0" rIns="0" bIns="0" rtlCol="0" anchor="t">
            <a:normAutofit/>
          </a:bodyPr>
          <a:lstStyle/>
          <a:p>
            <a:pPr marL="0" indent="0" algn="l">
              <a:lnSpc>
                <a:spcPts val="4000"/>
              </a:lnSpc>
              <a:buNone/>
            </a:pPr>
            <a:r>
              <a:rPr lang="en-US" sz="4000" dirty="0">
                <a:solidFill>
                  <a:srgbClr val="1B2A3A"/>
                </a:solidFill>
                <a:latin typeface="Georgia" pitchFamily="18" charset="0"/>
                <a:ea typeface="Georgia" pitchFamily="18" charset="-122"/>
                <a:cs typeface="Georgia" pitchFamily="18" charset="-120"/>
              </a:rPr>
              <a:t>f_t = 0.344 MPa</a:t>
            </a:r>
            <a:endParaRPr lang="en-US" sz="4000" dirty="0"/>
          </a:p>
        </p:txBody>
      </p:sp>
      <p:sp>
        <p:nvSpPr>
          <p:cNvPr id="11" name="Text 9"/>
          <p:cNvSpPr/>
          <p:nvPr/>
        </p:nvSpPr>
        <p:spPr>
          <a:xfrm>
            <a:off x="6508143" y="3780103"/>
            <a:ext cx="4749638" cy="505442"/>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A5568"/>
                </a:solidFill>
                <a:latin typeface="Arial" pitchFamily="34" charset="0"/>
                <a:ea typeface="Arial" pitchFamily="34" charset="-122"/>
                <a:cs typeface="Arial" pitchFamily="34" charset="-120"/>
              </a:rPr>
              <a:t>M_cr = (σ_v + f_t)·b·t²/6 → 16·M/h = 25.9 kN. Pushover gave 25.8. The test never had that plateau.</a:t>
            </a:r>
            <a:endParaRPr lang="en-US" sz="1350" dirty="0"/>
          </a:p>
        </p:txBody>
      </p:sp>
      <p:sp>
        <p:nvSpPr>
          <p:cNvPr id="12" name="Shape 10"/>
          <p:cNvSpPr/>
          <p:nvPr/>
        </p:nvSpPr>
        <p:spPr>
          <a:xfrm>
            <a:off x="812765" y="4824692"/>
            <a:ext cx="10566443" cy="835635"/>
          </a:xfrm>
          <a:prstGeom prst="roundRect">
            <a:avLst>
              <a:gd name="adj" fmla="val 12158"/>
            </a:avLst>
          </a:prstGeom>
          <a:solidFill>
            <a:srgbClr val="EDE9DF"/>
          </a:solidFill>
          <a:ln/>
        </p:spPr>
        <p:txBody>
          <a:bodyPr/>
          <a:lstStyle/>
          <a:p>
            <a:endParaRPr lang="en-GB"/>
          </a:p>
        </p:txBody>
      </p:sp>
      <p:pic>
        <p:nvPicPr>
          <p:cNvPr id="13" name="Image 0" descr="Warning"/>
          <p:cNvPicPr>
            <a:picLocks noChangeAspect="1"/>
          </p:cNvPicPr>
          <p:nvPr/>
        </p:nvPicPr>
        <p:blipFill>
          <a:blip r:embed="rId3"/>
          <a:srcRect l="-216" r="-216"/>
          <a:stretch/>
        </p:blipFill>
        <p:spPr>
          <a:xfrm>
            <a:off x="1066734" y="5102799"/>
            <a:ext cx="235945" cy="279375"/>
          </a:xfrm>
          <a:prstGeom prst="rect">
            <a:avLst/>
          </a:prstGeom>
        </p:spPr>
      </p:pic>
      <p:sp>
        <p:nvSpPr>
          <p:cNvPr id="14" name="Text 11"/>
          <p:cNvSpPr/>
          <p:nvPr/>
        </p:nvSpPr>
        <p:spPr>
          <a:xfrm>
            <a:off x="1455070" y="5002488"/>
            <a:ext cx="9960274" cy="50544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B2A3A"/>
                </a:solidFill>
                <a:latin typeface="Arial" pitchFamily="34" charset="0"/>
                <a:ea typeface="Arial" pitchFamily="34" charset="-122"/>
                <a:cs typeface="Arial" pitchFamily="34" charset="-120"/>
              </a:rPr>
              <a:t>Control, Route 2 and Method 2 v11 all ran on this wall. None of them is comparable with the rebuild; the comparison restarts from the new control.</a:t>
            </a:r>
            <a:endParaRPr lang="en-US" sz="1400" dirty="0"/>
          </a:p>
        </p:txBody>
      </p:sp>
      <p:sp>
        <p:nvSpPr>
          <p:cNvPr id="15" name="Text 12"/>
          <p:cNvSpPr/>
          <p:nvPr/>
        </p:nvSpPr>
        <p:spPr>
          <a:xfrm>
            <a:off x="812765" y="6238278"/>
            <a:ext cx="11379235"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Arial" pitchFamily="34" charset="0"/>
                <a:ea typeface="Arial" pitchFamily="34" charset="-122"/>
                <a:cs typeface="Arial" pitchFamily="34" charset="-120"/>
              </a:rPr>
              <a:t>ncstav averages base + joist-support force over 0.386 m² and is not a base stress (0.0757 MPa now, 0.103 on the old build); base-only check: 26.0 kN / 0.096 MPa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5" y="609563"/>
            <a:ext cx="10883436" cy="239336"/>
          </a:xfrm>
          <a:prstGeom prst="rect">
            <a:avLst/>
          </a:prstGeom>
          <a:noFill/>
          <a:ln/>
        </p:spPr>
        <p:txBody>
          <a:bodyPr wrap="square" lIns="0" tIns="0" rIns="0" bIns="0" rtlCol="0" anchor="t">
            <a:normAutofit/>
          </a:bodyPr>
          <a:lstStyle/>
          <a:p>
            <a:pPr marL="0" indent="0" algn="l">
              <a:lnSpc>
                <a:spcPts val="1723"/>
              </a:lnSpc>
              <a:buNone/>
            </a:pPr>
            <a:r>
              <a:rPr lang="en-US" sz="1231" b="1" kern="0" spc="100" dirty="0">
                <a:solidFill>
                  <a:srgbClr val="B4491A"/>
                </a:solidFill>
                <a:latin typeface="Arial" pitchFamily="34" charset="0"/>
                <a:ea typeface="Arial" pitchFamily="34" charset="-122"/>
                <a:cs typeface="Arial" pitchFamily="34" charset="-120"/>
              </a:rPr>
              <a:t>2 · WHAT THE WALL CAN CARRY, BY HAND</a:t>
            </a:r>
            <a:endParaRPr lang="en-US" sz="1231" dirty="0"/>
          </a:p>
        </p:txBody>
      </p:sp>
      <p:sp>
        <p:nvSpPr>
          <p:cNvPr id="3" name="Text 1"/>
          <p:cNvSpPr>
            <a:spLocks noGrp="1"/>
          </p:cNvSpPr>
          <p:nvPr>
            <p:ph type="title"/>
          </p:nvPr>
        </p:nvSpPr>
        <p:spPr>
          <a:xfrm>
            <a:off x="812765" y="950483"/>
            <a:ext cx="10883436" cy="439187"/>
          </a:xfrm>
          <a:prstGeom prst="rect">
            <a:avLst/>
          </a:prstGeom>
          <a:noFill/>
          <a:ln/>
        </p:spPr>
        <p:txBody>
          <a:bodyPr wrap="square" lIns="0" tIns="0" rIns="0" bIns="0" rtlCol="0" anchor="t">
            <a:normAutofit/>
          </a:bodyPr>
          <a:lstStyle/>
          <a:p>
            <a:pPr marL="0" indent="0" algn="l">
              <a:lnSpc>
                <a:spcPts val="3267"/>
              </a:lnSpc>
              <a:buNone/>
            </a:pPr>
            <a:r>
              <a:rPr lang="en-US" sz="2970" b="0" i="0" dirty="0">
                <a:solidFill>
                  <a:srgbClr val="1B2A3A"/>
                </a:solidFill>
                <a:latin typeface="Georgia" pitchFamily="18" charset="0"/>
                <a:ea typeface="Georgia" pitchFamily="18" charset="-122"/>
                <a:cs typeface="Georgia" pitchFamily="18" charset="-120"/>
              </a:rPr>
              <a:t>Geometry × overburden puts the plateau near 10 kN</a:t>
            </a:r>
            <a:endParaRPr lang="en-US" sz="2970" dirty="0"/>
          </a:p>
        </p:txBody>
      </p:sp>
      <p:sp>
        <p:nvSpPr>
          <p:cNvPr id="4" name="Shape 2"/>
          <p:cNvSpPr/>
          <p:nvPr/>
        </p:nvSpPr>
        <p:spPr>
          <a:xfrm>
            <a:off x="812765" y="1491255"/>
            <a:ext cx="10566398" cy="4350763"/>
          </a:xfrm>
          <a:prstGeom prst="roundRect">
            <a:avLst>
              <a:gd name="adj" fmla="val 2335"/>
            </a:avLst>
          </a:prstGeom>
          <a:solidFill>
            <a:srgbClr val="FFFFFF"/>
          </a:solidFill>
          <a:ln/>
        </p:spPr>
        <p:txBody>
          <a:bodyPr/>
          <a:lstStyle/>
          <a:p>
            <a:endParaRPr lang="en-GB"/>
          </a:p>
        </p:txBody>
      </p:sp>
      <p:pic>
        <p:nvPicPr>
          <p:cNvPr id="5" name="Image 0" descr="Three panels: loads and hinges on the wall, the virtual three-hinge mechanism with the virtual-work result F0 = 12.8 kN, and lateral force versus mid-height displacement for the rigid and semi-rigid cases against the DEM plateau and the test band"/>
          <p:cNvPicPr>
            <a:picLocks noChangeAspect="1"/>
          </p:cNvPicPr>
          <p:nvPr/>
        </p:nvPicPr>
        <p:blipFill>
          <a:blip r:embed="rId3"/>
          <a:stretch>
            <a:fillRect/>
          </a:stretch>
        </p:blipFill>
        <p:spPr>
          <a:xfrm>
            <a:off x="1280714" y="1497605"/>
            <a:ext cx="9630500" cy="4338063"/>
          </a:xfrm>
          <a:prstGeom prst="rect">
            <a:avLst/>
          </a:prstGeom>
        </p:spPr>
      </p:pic>
      <p:sp>
        <p:nvSpPr>
          <p:cNvPr id="6" name="Shape 3"/>
          <p:cNvSpPr/>
          <p:nvPr/>
        </p:nvSpPr>
        <p:spPr>
          <a:xfrm>
            <a:off x="815940" y="1494430"/>
            <a:ext cx="10560048" cy="4344413"/>
          </a:xfrm>
          <a:prstGeom prst="roundRect">
            <a:avLst>
              <a:gd name="adj" fmla="val 2266"/>
            </a:avLst>
          </a:prstGeom>
          <a:noFill/>
          <a:ln w="6350">
            <a:solidFill>
              <a:srgbClr val="DDD8CC"/>
            </a:solidFill>
            <a:prstDash val="solid"/>
          </a:ln>
        </p:spPr>
        <p:txBody>
          <a:bodyPr/>
          <a:lstStyle/>
          <a:p>
            <a:endParaRPr lang="en-GB"/>
          </a:p>
        </p:txBody>
      </p:sp>
      <p:sp>
        <p:nvSpPr>
          <p:cNvPr id="7" name="Text 4"/>
          <p:cNvSpPr/>
          <p:nvPr/>
        </p:nvSpPr>
        <p:spPr>
          <a:xfrm>
            <a:off x="812765" y="6238280"/>
            <a:ext cx="11633403"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Arial" pitchFamily="34" charset="0"/>
                <a:ea typeface="Arial" pitchFamily="34" charset="-122"/>
                <a:cs typeface="Arial" pitchFamily="34" charset="-120"/>
              </a:rPr>
              <a:t>t 0.21 m, h 2.58 m, W 13.2 kN, O = 10.35 + 1.18 + 1.49 kN · rigid 12.8 kN, semi-rigid toe 9.6 kN · first opening 5.6 kN (0.33 g); a_c ≈ 0.55–0.60 g, first crossed at run 19</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5" y="812766"/>
            <a:ext cx="10883436" cy="256228"/>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491A"/>
                </a:solidFill>
                <a:latin typeface="Arial" pitchFamily="34" charset="0"/>
                <a:ea typeface="Arial" pitchFamily="34" charset="-122"/>
                <a:cs typeface="Arial" pitchFamily="34" charset="-120"/>
              </a:rPr>
              <a:t>2 · WHAT THE TEST SAYS ABOUT THE BOND</a:t>
            </a:r>
            <a:endParaRPr lang="en-US" sz="1300" dirty="0"/>
          </a:p>
        </p:txBody>
      </p:sp>
      <p:sp>
        <p:nvSpPr>
          <p:cNvPr id="3" name="Text 1"/>
          <p:cNvSpPr>
            <a:spLocks noGrp="1"/>
          </p:cNvSpPr>
          <p:nvPr>
            <p:ph type="title"/>
          </p:nvPr>
        </p:nvSpPr>
        <p:spPr>
          <a:xfrm>
            <a:off x="812765" y="1348374"/>
            <a:ext cx="10883436" cy="974071"/>
          </a:xfrm>
          <a:prstGeom prst="rect">
            <a:avLst/>
          </a:prstGeom>
          <a:noFill/>
          <a:ln/>
        </p:spPr>
        <p:txBody>
          <a:bodyPr wrap="square" lIns="0" tIns="0" rIns="0" bIns="0" rtlCol="0" anchor="t">
            <a:normAutofit/>
          </a:bodyPr>
          <a:lstStyle/>
          <a:p>
            <a:pPr marL="0" indent="0" algn="l">
              <a:lnSpc>
                <a:spcPts val="3728"/>
              </a:lnSpc>
              <a:buNone/>
            </a:pPr>
            <a:r>
              <a:rPr lang="en-US" sz="3389" b="0" i="0" dirty="0">
                <a:solidFill>
                  <a:srgbClr val="1B2A3A"/>
                </a:solidFill>
                <a:latin typeface="Georgia" pitchFamily="18" charset="0"/>
                <a:ea typeface="Georgia" pitchFamily="18" charset="-122"/>
                <a:cs typeface="Georgia" pitchFamily="18" charset="-120"/>
              </a:rPr>
              <a:t>Three independent readings put f_t at zero in the specimen</a:t>
            </a:r>
            <a:endParaRPr lang="en-US" sz="3389" dirty="0"/>
          </a:p>
        </p:txBody>
      </p:sp>
      <p:sp>
        <p:nvSpPr>
          <p:cNvPr id="4" name="Shape 2"/>
          <p:cNvSpPr/>
          <p:nvPr/>
        </p:nvSpPr>
        <p:spPr>
          <a:xfrm>
            <a:off x="815940" y="2605001"/>
            <a:ext cx="3380344" cy="2094059"/>
          </a:xfrm>
          <a:prstGeom prst="roundRect">
            <a:avLst>
              <a:gd name="adj" fmla="val 4700"/>
            </a:avLst>
          </a:prstGeom>
          <a:solidFill>
            <a:srgbClr val="FFFFFF"/>
          </a:solidFill>
          <a:ln w="6350">
            <a:solidFill>
              <a:srgbClr val="DDD8CC"/>
            </a:solidFill>
            <a:prstDash val="solid"/>
          </a:ln>
        </p:spPr>
        <p:txBody>
          <a:bodyPr/>
          <a:lstStyle/>
          <a:p>
            <a:endParaRPr lang="en-GB"/>
          </a:p>
        </p:txBody>
      </p:sp>
      <p:sp>
        <p:nvSpPr>
          <p:cNvPr id="5" name="Text 3"/>
          <p:cNvSpPr/>
          <p:nvPr/>
        </p:nvSpPr>
        <p:spPr>
          <a:xfrm>
            <a:off x="1072531" y="2861593"/>
            <a:ext cx="2953177" cy="481711"/>
          </a:xfrm>
          <a:prstGeom prst="rect">
            <a:avLst/>
          </a:prstGeom>
          <a:noFill/>
          <a:ln/>
        </p:spPr>
        <p:txBody>
          <a:bodyPr wrap="square" lIns="0" tIns="0" rIns="0" bIns="0" rtlCol="0" anchor="t">
            <a:normAutofit/>
          </a:bodyPr>
          <a:lstStyle/>
          <a:p>
            <a:pPr marL="0" indent="0" algn="l">
              <a:lnSpc>
                <a:spcPts val="3600"/>
              </a:lnSpc>
              <a:buNone/>
            </a:pPr>
            <a:r>
              <a:rPr lang="en-US" sz="3600" dirty="0">
                <a:solidFill>
                  <a:srgbClr val="2F6BA6"/>
                </a:solidFill>
                <a:latin typeface="Georgia" pitchFamily="18" charset="0"/>
                <a:ea typeface="Georgia" pitchFamily="18" charset="-122"/>
                <a:cs typeface="Georgia" pitchFamily="18" charset="-120"/>
              </a:rPr>
              <a:t>≤ 0.06 MPa</a:t>
            </a:r>
            <a:endParaRPr lang="en-US" sz="3600" dirty="0"/>
          </a:p>
        </p:txBody>
      </p:sp>
      <p:sp>
        <p:nvSpPr>
          <p:cNvPr id="6" name="Text 4"/>
          <p:cNvSpPr/>
          <p:nvPr/>
        </p:nvSpPr>
        <p:spPr>
          <a:xfrm>
            <a:off x="1072531" y="3406803"/>
            <a:ext cx="2953177" cy="253556"/>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A3A"/>
                </a:solidFill>
                <a:latin typeface="Arial" pitchFamily="34" charset="0"/>
                <a:ea typeface="Arial" pitchFamily="34" charset="-122"/>
                <a:cs typeface="Arial" pitchFamily="34" charset="-120"/>
              </a:rPr>
              <a:t>from the plateau</a:t>
            </a:r>
            <a:endParaRPr lang="en-US" sz="1500" dirty="0"/>
          </a:p>
        </p:txBody>
      </p:sp>
      <p:sp>
        <p:nvSpPr>
          <p:cNvPr id="7" name="Text 5"/>
          <p:cNvSpPr/>
          <p:nvPr/>
        </p:nvSpPr>
        <p:spPr>
          <a:xfrm>
            <a:off x="1072531" y="3723856"/>
            <a:ext cx="2953177" cy="744013"/>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A5568"/>
                </a:solidFill>
                <a:latin typeface="Arial" pitchFamily="34" charset="0"/>
                <a:ea typeface="Arial" pitchFamily="34" charset="-122"/>
                <a:cs typeface="Arial" pitchFamily="34" charset="-120"/>
              </a:rPr>
              <a:t>8–11 kN from run 16 at 4.8 mm. A bonded wall would need 26 kN to open.</a:t>
            </a:r>
            <a:endParaRPr lang="en-US" sz="1350" dirty="0"/>
          </a:p>
        </p:txBody>
      </p:sp>
      <p:sp>
        <p:nvSpPr>
          <p:cNvPr id="8" name="Shape 6"/>
          <p:cNvSpPr/>
          <p:nvPr/>
        </p:nvSpPr>
        <p:spPr>
          <a:xfrm>
            <a:off x="4405792" y="2605001"/>
            <a:ext cx="3380389" cy="2094059"/>
          </a:xfrm>
          <a:prstGeom prst="roundRect">
            <a:avLst>
              <a:gd name="adj" fmla="val 4700"/>
            </a:avLst>
          </a:prstGeom>
          <a:solidFill>
            <a:srgbClr val="FFFFFF"/>
          </a:solidFill>
          <a:ln w="6350">
            <a:solidFill>
              <a:srgbClr val="DDD8CC"/>
            </a:solidFill>
            <a:prstDash val="solid"/>
          </a:ln>
        </p:spPr>
        <p:txBody>
          <a:bodyPr/>
          <a:lstStyle/>
          <a:p>
            <a:endParaRPr lang="en-GB"/>
          </a:p>
        </p:txBody>
      </p:sp>
      <p:sp>
        <p:nvSpPr>
          <p:cNvPr id="9" name="Text 7"/>
          <p:cNvSpPr/>
          <p:nvPr/>
        </p:nvSpPr>
        <p:spPr>
          <a:xfrm>
            <a:off x="4662382" y="2861593"/>
            <a:ext cx="2953224" cy="482617"/>
          </a:xfrm>
          <a:prstGeom prst="rect">
            <a:avLst/>
          </a:prstGeom>
          <a:noFill/>
          <a:ln/>
        </p:spPr>
        <p:txBody>
          <a:bodyPr wrap="square" lIns="0" tIns="0" rIns="0" bIns="0" rtlCol="0" anchor="t">
            <a:normAutofit/>
          </a:bodyPr>
          <a:lstStyle/>
          <a:p>
            <a:pPr marL="0" indent="0" algn="l">
              <a:lnSpc>
                <a:spcPts val="3600"/>
              </a:lnSpc>
              <a:buNone/>
            </a:pPr>
            <a:r>
              <a:rPr lang="en-US" sz="3600" dirty="0">
                <a:solidFill>
                  <a:srgbClr val="2F6BA6"/>
                </a:solidFill>
                <a:latin typeface="Georgia" pitchFamily="18" charset="0"/>
                <a:ea typeface="Georgia" pitchFamily="18" charset="-122"/>
                <a:cs typeface="Georgia" pitchFamily="18" charset="-120"/>
              </a:rPr>
              <a:t>+17.5 %</a:t>
            </a:r>
            <a:endParaRPr lang="en-US" sz="3600" dirty="0"/>
          </a:p>
        </p:txBody>
      </p:sp>
      <p:sp>
        <p:nvSpPr>
          <p:cNvPr id="10" name="Text 8"/>
          <p:cNvSpPr/>
          <p:nvPr/>
        </p:nvSpPr>
        <p:spPr>
          <a:xfrm>
            <a:off x="4662382" y="3407708"/>
            <a:ext cx="2953224" cy="254009"/>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A3A"/>
                </a:solidFill>
                <a:latin typeface="Arial" pitchFamily="34" charset="0"/>
                <a:ea typeface="Arial" pitchFamily="34" charset="-122"/>
                <a:cs typeface="Arial" pitchFamily="34" charset="-120"/>
              </a:rPr>
              <a:t>period, gradual from run 1</a:t>
            </a:r>
            <a:endParaRPr lang="en-US" sz="1500" dirty="0"/>
          </a:p>
        </p:txBody>
      </p:sp>
      <p:sp>
        <p:nvSpPr>
          <p:cNvPr id="11" name="Text 9"/>
          <p:cNvSpPr/>
          <p:nvPr/>
        </p:nvSpPr>
        <p:spPr>
          <a:xfrm>
            <a:off x="4662382" y="3725214"/>
            <a:ext cx="2953224" cy="505442"/>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A5568"/>
                </a:solidFill>
                <a:latin typeface="Arial" pitchFamily="34" charset="0"/>
                <a:ea typeface="Arial" pitchFamily="34" charset="-122"/>
                <a:cs typeface="Arial" pitchFamily="34" charset="-120"/>
              </a:rPr>
              <a:t>Table 5: 0.091 → 0.107 s, near-linear. No step at a cracking run.</a:t>
            </a:r>
            <a:endParaRPr lang="en-US" sz="1350" dirty="0"/>
          </a:p>
        </p:txBody>
      </p:sp>
      <p:sp>
        <p:nvSpPr>
          <p:cNvPr id="12" name="Shape 10"/>
          <p:cNvSpPr/>
          <p:nvPr/>
        </p:nvSpPr>
        <p:spPr>
          <a:xfrm>
            <a:off x="7995689" y="2605001"/>
            <a:ext cx="3380344" cy="2094059"/>
          </a:xfrm>
          <a:prstGeom prst="roundRect">
            <a:avLst>
              <a:gd name="adj" fmla="val 4700"/>
            </a:avLst>
          </a:prstGeom>
          <a:solidFill>
            <a:srgbClr val="FFFFFF"/>
          </a:solidFill>
          <a:ln w="6350">
            <a:solidFill>
              <a:srgbClr val="DDD8CC"/>
            </a:solidFill>
            <a:prstDash val="solid"/>
          </a:ln>
        </p:spPr>
        <p:txBody>
          <a:bodyPr/>
          <a:lstStyle/>
          <a:p>
            <a:endParaRPr lang="en-GB"/>
          </a:p>
        </p:txBody>
      </p:sp>
      <p:sp>
        <p:nvSpPr>
          <p:cNvPr id="13" name="Text 11"/>
          <p:cNvSpPr/>
          <p:nvPr/>
        </p:nvSpPr>
        <p:spPr>
          <a:xfrm>
            <a:off x="8252279" y="2861593"/>
            <a:ext cx="2953177" cy="482617"/>
          </a:xfrm>
          <a:prstGeom prst="rect">
            <a:avLst/>
          </a:prstGeom>
          <a:noFill/>
          <a:ln/>
        </p:spPr>
        <p:txBody>
          <a:bodyPr wrap="square" lIns="0" tIns="0" rIns="0" bIns="0" rtlCol="0" anchor="t">
            <a:normAutofit/>
          </a:bodyPr>
          <a:lstStyle/>
          <a:p>
            <a:pPr marL="0" indent="0" algn="l">
              <a:lnSpc>
                <a:spcPts val="3600"/>
              </a:lnSpc>
              <a:buNone/>
            </a:pPr>
            <a:r>
              <a:rPr lang="en-US" sz="3600" dirty="0">
                <a:solidFill>
                  <a:srgbClr val="2F6BA6"/>
                </a:solidFill>
                <a:latin typeface="Georgia" pitchFamily="18" charset="0"/>
                <a:ea typeface="Georgia" pitchFamily="18" charset="-122"/>
                <a:cs typeface="Georgia" pitchFamily="18" charset="-120"/>
              </a:rPr>
              <a:t>&gt; 0.3 g</a:t>
            </a:r>
            <a:endParaRPr lang="en-US" sz="3600" dirty="0"/>
          </a:p>
        </p:txBody>
      </p:sp>
      <p:sp>
        <p:nvSpPr>
          <p:cNvPr id="14" name="Text 12"/>
          <p:cNvSpPr/>
          <p:nvPr/>
        </p:nvSpPr>
        <p:spPr>
          <a:xfrm>
            <a:off x="8252279" y="3407708"/>
            <a:ext cx="2953177" cy="254009"/>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A3A"/>
                </a:solidFill>
                <a:latin typeface="Arial" pitchFamily="34" charset="0"/>
                <a:ea typeface="Arial" pitchFamily="34" charset="-122"/>
                <a:cs typeface="Arial" pitchFamily="34" charset="-120"/>
              </a:rPr>
              <a:t>cracking reported</a:t>
            </a:r>
            <a:endParaRPr lang="en-US" sz="1500" dirty="0"/>
          </a:p>
        </p:txBody>
      </p:sp>
      <p:sp>
        <p:nvSpPr>
          <p:cNvPr id="15" name="Text 13"/>
          <p:cNvSpPr/>
          <p:nvPr/>
        </p:nvSpPr>
        <p:spPr>
          <a:xfrm>
            <a:off x="8252279" y="3725214"/>
            <a:ext cx="2953177" cy="505442"/>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A5568"/>
                </a:solidFill>
                <a:latin typeface="Arial" pitchFamily="34" charset="0"/>
                <a:ea typeface="Arial" pitchFamily="34" charset="-122"/>
                <a:cs typeface="Arial" pitchFamily="34" charset="-120"/>
              </a:rPr>
              <a:t>§3.2 — at the first-opening threshold of an unbonded wall (0.33 g).</a:t>
            </a:r>
            <a:endParaRPr lang="en-US" sz="1350" dirty="0"/>
          </a:p>
        </p:txBody>
      </p:sp>
      <p:sp>
        <p:nvSpPr>
          <p:cNvPr id="16" name="Shape 14"/>
          <p:cNvSpPr/>
          <p:nvPr/>
        </p:nvSpPr>
        <p:spPr>
          <a:xfrm>
            <a:off x="812765" y="5007015"/>
            <a:ext cx="10566443" cy="835001"/>
          </a:xfrm>
          <a:prstGeom prst="roundRect">
            <a:avLst>
              <a:gd name="adj" fmla="val 12168"/>
            </a:avLst>
          </a:prstGeom>
          <a:solidFill>
            <a:srgbClr val="EDE9DF"/>
          </a:solidFill>
          <a:ln/>
        </p:spPr>
        <p:txBody>
          <a:bodyPr/>
          <a:lstStyle/>
          <a:p>
            <a:endParaRPr lang="en-GB"/>
          </a:p>
        </p:txBody>
      </p:sp>
      <p:pic>
        <p:nvPicPr>
          <p:cNvPr id="17" name="Image 0" descr="Lightbulb"/>
          <p:cNvPicPr>
            <a:picLocks noChangeAspect="1"/>
          </p:cNvPicPr>
          <p:nvPr/>
        </p:nvPicPr>
        <p:blipFill>
          <a:blip r:embed="rId3"/>
          <a:srcRect l="-377" r="-377"/>
          <a:stretch/>
        </p:blipFill>
        <p:spPr>
          <a:xfrm>
            <a:off x="1066734" y="5284806"/>
            <a:ext cx="268687" cy="279375"/>
          </a:xfrm>
          <a:prstGeom prst="rect">
            <a:avLst/>
          </a:prstGeom>
        </p:spPr>
      </p:pic>
      <p:sp>
        <p:nvSpPr>
          <p:cNvPr id="18" name="Text 15"/>
          <p:cNvSpPr/>
          <p:nvPr/>
        </p:nvSpPr>
        <p:spPr>
          <a:xfrm>
            <a:off x="1487812" y="5184496"/>
            <a:ext cx="9926549" cy="50544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B2A3A"/>
                </a:solidFill>
                <a:latin typeface="Arial" pitchFamily="34" charset="0"/>
                <a:ea typeface="Arial" pitchFamily="34" charset="-122"/>
                <a:cs typeface="Arial" pitchFamily="34" charset="-120"/>
              </a:rPr>
              <a:t>0.28 / 0.41–0.45 MPa are companion-specimen values. “Healthy to run 19” is the overburden holding the wall, bond or no bond.</a:t>
            </a:r>
            <a:endParaRPr lang="en-US" sz="1400" dirty="0"/>
          </a:p>
        </p:txBody>
      </p:sp>
      <p:sp>
        <p:nvSpPr>
          <p:cNvPr id="19" name="Text 16"/>
          <p:cNvSpPr/>
          <p:nvPr/>
        </p:nvSpPr>
        <p:spPr>
          <a:xfrm>
            <a:off x="812765" y="6238280"/>
            <a:ext cx="11379235"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Arial" pitchFamily="34" charset="0"/>
                <a:ea typeface="Arial" pitchFamily="34" charset="-122"/>
                <a:cs typeface="Arial" pitchFamily="34" charset="-120"/>
              </a:rPr>
              <a:t>Moshfeghi et al. (2024) Table 5, Fig. 14, §3.2 · plateau from the v2-processed base shear · two-brick joint test on the mason joint: brittle, zero by 0.4 mm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8AC23B-C25C-2BD2-F03C-34F296C73715}"/>
              </a:ext>
            </a:extLst>
          </p:cNvPr>
          <p:cNvPicPr>
            <a:picLocks noChangeAspect="1"/>
          </p:cNvPicPr>
          <p:nvPr/>
        </p:nvPicPr>
        <p:blipFill>
          <a:blip r:embed="rId2"/>
          <a:stretch>
            <a:fillRect/>
          </a:stretch>
        </p:blipFill>
        <p:spPr>
          <a:xfrm>
            <a:off x="0" y="3174076"/>
            <a:ext cx="12192000" cy="509847"/>
          </a:xfrm>
          <a:prstGeom prst="rect">
            <a:avLst/>
          </a:prstGeom>
        </p:spPr>
      </p:pic>
    </p:spTree>
    <p:extLst>
      <p:ext uri="{BB962C8B-B14F-4D97-AF65-F5344CB8AC3E}">
        <p14:creationId xmlns:p14="http://schemas.microsoft.com/office/powerpoint/2010/main" val="2536101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EDE9DF"/>
        </a:solidFill>
        <a:effectLst/>
      </p:bgPr>
    </p:bg>
    <p:spTree>
      <p:nvGrpSpPr>
        <p:cNvPr id="1" name=""/>
        <p:cNvGrpSpPr/>
        <p:nvPr/>
      </p:nvGrpSpPr>
      <p:grpSpPr>
        <a:xfrm>
          <a:off x="0" y="0"/>
          <a:ext cx="0" cy="0"/>
          <a:chOff x="0" y="0"/>
          <a:chExt cx="0" cy="0"/>
        </a:xfrm>
      </p:grpSpPr>
      <p:sp>
        <p:nvSpPr>
          <p:cNvPr id="2" name="Text 0"/>
          <p:cNvSpPr/>
          <p:nvPr/>
        </p:nvSpPr>
        <p:spPr>
          <a:xfrm>
            <a:off x="812765" y="812766"/>
            <a:ext cx="10883436" cy="215786"/>
          </a:xfrm>
          <a:prstGeom prst="rect">
            <a:avLst/>
          </a:prstGeom>
          <a:noFill/>
          <a:ln/>
        </p:spPr>
        <p:txBody>
          <a:bodyPr wrap="square" lIns="0" tIns="0" rIns="0" bIns="0" rtlCol="0" anchor="t">
            <a:normAutofit/>
          </a:bodyPr>
          <a:lstStyle/>
          <a:p>
            <a:pPr marL="0" indent="0" algn="l">
              <a:lnSpc>
                <a:spcPts val="1524"/>
              </a:lnSpc>
              <a:buNone/>
            </a:pPr>
            <a:r>
              <a:rPr lang="en-US" sz="1089" b="1" kern="0" spc="100" dirty="0">
                <a:solidFill>
                  <a:srgbClr val="B4491A"/>
                </a:solidFill>
                <a:latin typeface="Arial" pitchFamily="34" charset="0"/>
                <a:ea typeface="Arial" pitchFamily="34" charset="-122"/>
                <a:cs typeface="Arial" pitchFamily="34" charset="-120"/>
              </a:rPr>
              <a:t>3 · THE REBUILT MODEL</a:t>
            </a:r>
            <a:endParaRPr lang="en-US" sz="1089" dirty="0"/>
          </a:p>
        </p:txBody>
      </p:sp>
      <p:sp>
        <p:nvSpPr>
          <p:cNvPr id="3" name="Text 1"/>
          <p:cNvSpPr>
            <a:spLocks noGrp="1"/>
          </p:cNvSpPr>
          <p:nvPr>
            <p:ph type="title"/>
          </p:nvPr>
        </p:nvSpPr>
        <p:spPr>
          <a:xfrm>
            <a:off x="812765" y="1307933"/>
            <a:ext cx="10883436" cy="416679"/>
          </a:xfrm>
          <a:prstGeom prst="rect">
            <a:avLst/>
          </a:prstGeom>
          <a:noFill/>
          <a:ln/>
        </p:spPr>
        <p:txBody>
          <a:bodyPr wrap="square" lIns="0" tIns="0" rIns="0" bIns="0" rtlCol="0" anchor="t">
            <a:normAutofit/>
          </a:bodyPr>
          <a:lstStyle/>
          <a:p>
            <a:pPr marL="0" indent="0" algn="l">
              <a:lnSpc>
                <a:spcPts val="3121"/>
              </a:lnSpc>
              <a:buNone/>
            </a:pPr>
            <a:r>
              <a:rPr lang="en-US" sz="2837" b="0" i="0" dirty="0">
                <a:solidFill>
                  <a:srgbClr val="1B2A3A"/>
                </a:solidFill>
                <a:latin typeface="Georgia" pitchFamily="18" charset="0"/>
                <a:ea typeface="Georgia" pitchFamily="18" charset="-122"/>
                <a:cs typeface="Georgia" pitchFamily="18" charset="-120"/>
              </a:rPr>
              <a:t>Same geometry, same contacts, four settings changed</a:t>
            </a:r>
            <a:endParaRPr lang="en-US" sz="2837" dirty="0"/>
          </a:p>
        </p:txBody>
      </p:sp>
      <p:sp>
        <p:nvSpPr>
          <p:cNvPr id="4" name="Shape 2"/>
          <p:cNvSpPr/>
          <p:nvPr/>
        </p:nvSpPr>
        <p:spPr>
          <a:xfrm>
            <a:off x="812765" y="2003992"/>
            <a:ext cx="10566443" cy="2423124"/>
          </a:xfrm>
          <a:prstGeom prst="rect">
            <a:avLst/>
          </a:prstGeom>
          <a:solidFill>
            <a:srgbClr val="FFFFFF"/>
          </a:solidFill>
          <a:ln/>
        </p:spPr>
        <p:txBody>
          <a:bodyPr/>
          <a:lstStyle/>
          <a:p>
            <a:endParaRPr lang="en-GB"/>
          </a:p>
        </p:txBody>
      </p:sp>
      <p:sp>
        <p:nvSpPr>
          <p:cNvPr id="5" name="Shape 3"/>
          <p:cNvSpPr/>
          <p:nvPr/>
        </p:nvSpPr>
        <p:spPr>
          <a:xfrm>
            <a:off x="11376033" y="2003992"/>
            <a:ext cx="0" cy="2423124"/>
          </a:xfrm>
          <a:prstGeom prst="line">
            <a:avLst/>
          </a:prstGeom>
          <a:noFill/>
          <a:ln w="6350">
            <a:solidFill>
              <a:srgbClr val="DDD8CC"/>
            </a:solidFill>
            <a:prstDash val="solid"/>
          </a:ln>
        </p:spPr>
        <p:txBody>
          <a:bodyPr/>
          <a:lstStyle/>
          <a:p>
            <a:endParaRPr lang="en-GB"/>
          </a:p>
        </p:txBody>
      </p:sp>
      <p:sp>
        <p:nvSpPr>
          <p:cNvPr id="6" name="Shape 4"/>
          <p:cNvSpPr/>
          <p:nvPr/>
        </p:nvSpPr>
        <p:spPr>
          <a:xfrm>
            <a:off x="812765" y="4423941"/>
            <a:ext cx="10566443" cy="0"/>
          </a:xfrm>
          <a:prstGeom prst="line">
            <a:avLst/>
          </a:prstGeom>
          <a:noFill/>
          <a:ln w="6350">
            <a:solidFill>
              <a:srgbClr val="DDD8CC"/>
            </a:solidFill>
            <a:prstDash val="solid"/>
          </a:ln>
        </p:spPr>
        <p:txBody>
          <a:bodyPr/>
          <a:lstStyle/>
          <a:p>
            <a:endParaRPr lang="en-GB"/>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4358" y="2015586"/>
          <a:ext cx="10549052" cy="2405734"/>
        </p:xfrm>
        <a:graphic>
          <a:graphicData uri="http://schemas.openxmlformats.org/drawingml/2006/table">
            <a:tbl>
              <a:tblPr/>
              <a:tblGrid>
                <a:gridCol w="2109810">
                  <a:extLst>
                    <a:ext uri="{9D8B030D-6E8A-4147-A177-3AD203B41FA5}">
                      <a16:colId xmlns:a16="http://schemas.microsoft.com/office/drawing/2014/main" val="20000"/>
                    </a:ext>
                  </a:extLst>
                </a:gridCol>
                <a:gridCol w="2953735">
                  <a:extLst>
                    <a:ext uri="{9D8B030D-6E8A-4147-A177-3AD203B41FA5}">
                      <a16:colId xmlns:a16="http://schemas.microsoft.com/office/drawing/2014/main" val="20001"/>
                    </a:ext>
                  </a:extLst>
                </a:gridCol>
                <a:gridCol w="2953735">
                  <a:extLst>
                    <a:ext uri="{9D8B030D-6E8A-4147-A177-3AD203B41FA5}">
                      <a16:colId xmlns:a16="http://schemas.microsoft.com/office/drawing/2014/main" val="20002"/>
                    </a:ext>
                  </a:extLst>
                </a:gridCol>
                <a:gridCol w="2531773">
                  <a:extLst>
                    <a:ext uri="{9D8B030D-6E8A-4147-A177-3AD203B41FA5}">
                      <a16:colId xmlns:a16="http://schemas.microsoft.com/office/drawing/2014/main" val="20003"/>
                    </a:ext>
                  </a:extLst>
                </a:gridCol>
              </a:tblGrid>
              <a:tr h="318413">
                <a:tc>
                  <a:txBody>
                    <a:bodyPr/>
                    <a:lstStyle/>
                    <a:p>
                      <a:pPr marL="0" indent="0">
                        <a:lnSpc>
                          <a:spcPts val="1611"/>
                        </a:lnSpc>
                        <a:buNone/>
                      </a:pPr>
                      <a:r>
                        <a:rPr lang="en-US" sz="1151" b="1" dirty="0">
                          <a:solidFill>
                            <a:srgbClr val="F6F4EE"/>
                          </a:solidFill>
                          <a:latin typeface="Arial" pitchFamily="34" charset="0"/>
                          <a:ea typeface="Arial" pitchFamily="34" charset="-122"/>
                          <a:cs typeface="Arial" pitchFamily="34" charset="-120"/>
                        </a:rPr>
                        <a:t>Setting</a:t>
                      </a:r>
                      <a:endParaRPr lang="en-US" sz="1151" dirty="0">
                        <a:latin typeface="Arial" charset="0"/>
                        <a:ea typeface="Arial" charset="0"/>
                        <a:cs typeface="Arial" charset="0"/>
                      </a:endParaRPr>
                    </a:p>
                  </a:txBody>
                  <a:tcPr marL="51145" marR="51145" marT="51145" marB="51145">
                    <a:lnL w="12700" cap="flat" cmpd="sng" algn="ctr">
                      <a:solidFill>
                        <a:srgbClr val="CBCBCB"/>
                      </a:solidFill>
                      <a:prstDash val="solid"/>
                      <a:round/>
                      <a:headEnd type="none" w="med" len="med"/>
                      <a:tailEnd type="none" w="med" len="med"/>
                    </a:lnL>
                    <a:lnR w="12700" cap="flat" cmpd="sng" algn="ctr">
                      <a:solidFill>
                        <a:srgbClr val="1925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1"/>
                      </a:solidFill>
                      <a:prstDash val="solid"/>
                      <a:round/>
                      <a:headEnd type="none" w="med" len="med"/>
                      <a:tailEnd type="none" w="med" len="med"/>
                    </a:lnB>
                    <a:solidFill>
                      <a:srgbClr val="1B2A3A"/>
                    </a:solidFill>
                  </a:tcPr>
                </a:tc>
                <a:tc>
                  <a:txBody>
                    <a:bodyPr/>
                    <a:lstStyle/>
                    <a:p>
                      <a:pPr marL="0" indent="0">
                        <a:lnSpc>
                          <a:spcPts val="1611"/>
                        </a:lnSpc>
                        <a:buNone/>
                      </a:pPr>
                      <a:r>
                        <a:rPr lang="en-US" sz="1151" b="1" dirty="0">
                          <a:solidFill>
                            <a:srgbClr val="F6F4EE"/>
                          </a:solidFill>
                          <a:latin typeface="Arial" pitchFamily="34" charset="0"/>
                          <a:ea typeface="Arial" pitchFamily="34" charset="-122"/>
                          <a:cs typeface="Arial" pitchFamily="34" charset="-120"/>
                        </a:rPr>
                        <a:t>Old build</a:t>
                      </a:r>
                      <a:endParaRPr lang="en-US" sz="1151" dirty="0">
                        <a:latin typeface="Arial" charset="0"/>
                        <a:ea typeface="Arial" charset="0"/>
                        <a:cs typeface="Arial" charset="0"/>
                      </a:endParaRPr>
                    </a:p>
                  </a:txBody>
                  <a:tcPr marL="51145" marR="51145" marT="51145" marB="51145">
                    <a:lnL w="12700" cap="flat" cmpd="sng" algn="ctr">
                      <a:solidFill>
                        <a:srgbClr val="192531"/>
                      </a:solidFill>
                      <a:prstDash val="solid"/>
                      <a:round/>
                      <a:headEnd type="none" w="med" len="med"/>
                      <a:tailEnd type="none" w="med" len="med"/>
                    </a:lnL>
                    <a:lnR w="12700" cap="flat" cmpd="sng" algn="ctr">
                      <a:solidFill>
                        <a:srgbClr val="1925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1"/>
                      </a:solidFill>
                      <a:prstDash val="solid"/>
                      <a:round/>
                      <a:headEnd type="none" w="med" len="med"/>
                      <a:tailEnd type="none" w="med" len="med"/>
                    </a:lnB>
                    <a:solidFill>
                      <a:srgbClr val="1B2A3A"/>
                    </a:solidFill>
                  </a:tcPr>
                </a:tc>
                <a:tc>
                  <a:txBody>
                    <a:bodyPr/>
                    <a:lstStyle/>
                    <a:p>
                      <a:pPr marL="0" indent="0">
                        <a:lnSpc>
                          <a:spcPts val="1611"/>
                        </a:lnSpc>
                        <a:buNone/>
                      </a:pPr>
                      <a:r>
                        <a:rPr lang="en-US" sz="1151" b="1" dirty="0">
                          <a:solidFill>
                            <a:srgbClr val="F6F4EE"/>
                          </a:solidFill>
                          <a:latin typeface="Arial" pitchFamily="34" charset="0"/>
                          <a:ea typeface="Arial" pitchFamily="34" charset="-122"/>
                          <a:cs typeface="Arial" pitchFamily="34" charset="-120"/>
                        </a:rPr>
                        <a:t>Rebuilt (ft0)</a:t>
                      </a:r>
                      <a:endParaRPr lang="en-US" sz="1151" dirty="0">
                        <a:latin typeface="Arial" charset="0"/>
                        <a:ea typeface="Arial" charset="0"/>
                        <a:cs typeface="Arial" charset="0"/>
                      </a:endParaRPr>
                    </a:p>
                  </a:txBody>
                  <a:tcPr marL="51145" marR="51145" marT="51145" marB="51145">
                    <a:lnL w="12700" cap="flat" cmpd="sng" algn="ctr">
                      <a:solidFill>
                        <a:srgbClr val="192531"/>
                      </a:solidFill>
                      <a:prstDash val="solid"/>
                      <a:round/>
                      <a:headEnd type="none" w="med" len="med"/>
                      <a:tailEnd type="none" w="med" len="med"/>
                    </a:lnL>
                    <a:lnR w="12700" cap="flat" cmpd="sng" algn="ctr">
                      <a:solidFill>
                        <a:srgbClr val="1925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1"/>
                      </a:solidFill>
                      <a:prstDash val="solid"/>
                      <a:round/>
                      <a:headEnd type="none" w="med" len="med"/>
                      <a:tailEnd type="none" w="med" len="med"/>
                    </a:lnB>
                    <a:solidFill>
                      <a:srgbClr val="1B2A3A"/>
                    </a:solidFill>
                  </a:tcPr>
                </a:tc>
                <a:tc>
                  <a:txBody>
                    <a:bodyPr/>
                    <a:lstStyle/>
                    <a:p>
                      <a:pPr marL="0" indent="0">
                        <a:lnSpc>
                          <a:spcPts val="1611"/>
                        </a:lnSpc>
                        <a:buNone/>
                      </a:pPr>
                      <a:r>
                        <a:rPr lang="en-US" sz="1151" b="1" dirty="0">
                          <a:solidFill>
                            <a:srgbClr val="F6F4EE"/>
                          </a:solidFill>
                          <a:latin typeface="Arial" pitchFamily="34" charset="0"/>
                          <a:ea typeface="Arial" pitchFamily="34" charset="-122"/>
                          <a:cs typeface="Arial" pitchFamily="34" charset="-120"/>
                        </a:rPr>
                        <a:t>Verified by</a:t>
                      </a:r>
                      <a:endParaRPr lang="en-US" sz="1151" dirty="0">
                        <a:latin typeface="Arial" charset="0"/>
                        <a:ea typeface="Arial" charset="0"/>
                        <a:cs typeface="Arial" charset="0"/>
                      </a:endParaRPr>
                    </a:p>
                  </a:txBody>
                  <a:tcPr marL="51145" marR="51145" marT="51145" marB="51145">
                    <a:lnL w="12700" cap="flat" cmpd="sng" algn="ctr">
                      <a:solidFill>
                        <a:srgbClr val="192531"/>
                      </a:solidFill>
                      <a:prstDash val="solid"/>
                      <a:round/>
                      <a:headEnd type="none" w="med" len="med"/>
                      <a:tailEnd type="none" w="med" len="med"/>
                    </a:lnL>
                    <a:lnR w="12700" cap="flat" cmpd="sng" algn="ctr">
                      <a:solidFill>
                        <a:srgbClr val="1925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1"/>
                      </a:solidFill>
                      <a:prstDash val="solid"/>
                      <a:round/>
                      <a:headEnd type="none" w="med" len="med"/>
                      <a:tailEnd type="none" w="med" len="med"/>
                    </a:lnB>
                    <a:solidFill>
                      <a:srgbClr val="1B2A3A"/>
                    </a:solidFill>
                  </a:tcPr>
                </a:tc>
                <a:extLst>
                  <a:ext uri="{0D108BD9-81ED-4DB2-BD59-A6C34878D82A}">
                    <a16:rowId xmlns:a16="http://schemas.microsoft.com/office/drawing/2014/main" val="10000"/>
                  </a:ext>
                </a:extLst>
              </a:tr>
              <a:tr h="521796">
                <a:tc>
                  <a:txBody>
                    <a:bodyPr/>
                    <a:lstStyle/>
                    <a:p>
                      <a:pPr marL="0" indent="0">
                        <a:lnSpc>
                          <a:spcPts val="1611"/>
                        </a:lnSpc>
                        <a:buNone/>
                      </a:pPr>
                      <a:r>
                        <a:rPr lang="en-US" sz="1151" dirty="0">
                          <a:solidFill>
                            <a:srgbClr val="1B2A3A"/>
                          </a:solidFill>
                          <a:latin typeface="Arial" pitchFamily="34" charset="0"/>
                          <a:ea typeface="Arial" pitchFamily="34" charset="-122"/>
                          <a:cs typeface="Arial" pitchFamily="34" charset="-120"/>
                        </a:rPr>
                        <a:t>Spring load</a:t>
                      </a:r>
                      <a:endParaRPr lang="en-US" sz="1151" dirty="0">
                        <a:latin typeface="Arial" charset="0"/>
                        <a:ea typeface="Arial" charset="0"/>
                        <a:cs typeface="Arial" charset="0"/>
                      </a:endParaRPr>
                    </a:p>
                  </a:txBody>
                  <a:tcPr marL="51145" marR="51145" marT="51145" marB="5114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11"/>
                        </a:lnSpc>
                        <a:buNone/>
                      </a:pPr>
                      <a:r>
                        <a:rPr lang="en-US" sz="1151" dirty="0">
                          <a:solidFill>
                            <a:srgbClr val="1B2A3A"/>
                          </a:solidFill>
                          <a:latin typeface="Arial" pitchFamily="34" charset="0"/>
                          <a:ea typeface="Arial" pitchFamily="34" charset="-122"/>
                          <a:cs typeface="Arial" pitchFamily="34" charset="-120"/>
                        </a:rPr>
                        <a:t>2 × 10.35 kN, face traction or density</a:t>
                      </a:r>
                      <a:endParaRPr lang="en-US" sz="1151" dirty="0">
                        <a:latin typeface="Arial" charset="0"/>
                        <a:ea typeface="Arial" charset="0"/>
                        <a:cs typeface="Arial" charset="0"/>
                      </a:endParaRPr>
                    </a:p>
                  </a:txBody>
                  <a:tcPr marL="51145" marR="51145" marT="51145" marB="5114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11"/>
                        </a:lnSpc>
                        <a:buNone/>
                      </a:pPr>
                      <a:r>
                        <a:rPr lang="en-US" sz="1151" dirty="0">
                          <a:solidFill>
                            <a:srgbClr val="1B2A3A"/>
                          </a:solidFill>
                          <a:latin typeface="Arial" pitchFamily="34" charset="0"/>
                          <a:ea typeface="Arial" pitchFamily="34" charset="-122"/>
                          <a:cs typeface="Arial" pitchFamily="34" charset="-120"/>
                        </a:rPr>
                        <a:t>10.35 kN applied force on T_B</a:t>
                      </a:r>
                      <a:endParaRPr lang="en-US" sz="1151" dirty="0">
                        <a:latin typeface="Arial" charset="0"/>
                        <a:ea typeface="Arial" charset="0"/>
                        <a:cs typeface="Arial" charset="0"/>
                      </a:endParaRPr>
                    </a:p>
                  </a:txBody>
                  <a:tcPr marL="51145" marR="51145" marT="51145" marB="5114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11"/>
                        </a:lnSpc>
                        <a:buNone/>
                      </a:pPr>
                      <a:r>
                        <a:rPr lang="en-US" sz="1151" dirty="0">
                          <a:solidFill>
                            <a:srgbClr val="1B2A3A"/>
                          </a:solidFill>
                          <a:latin typeface="Arial" pitchFamily="34" charset="0"/>
                          <a:ea typeface="Arial" pitchFamily="34" charset="-122"/>
                          <a:cs typeface="Arial" pitchFamily="34" charset="-120"/>
                        </a:rPr>
                        <a:t>force read back −10 350 N; base 26.0 kN</a:t>
                      </a:r>
                      <a:endParaRPr lang="en-US" sz="1151" dirty="0">
                        <a:latin typeface="Arial" charset="0"/>
                        <a:ea typeface="Arial" charset="0"/>
                        <a:cs typeface="Arial" charset="0"/>
                      </a:endParaRPr>
                    </a:p>
                  </a:txBody>
                  <a:tcPr marL="51145" marR="51145" marT="51145" marB="5114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521842">
                <a:tc>
                  <a:txBody>
                    <a:bodyPr/>
                    <a:lstStyle/>
                    <a:p>
                      <a:pPr marL="0" indent="0">
                        <a:lnSpc>
                          <a:spcPts val="1611"/>
                        </a:lnSpc>
                        <a:buNone/>
                      </a:pPr>
                      <a:r>
                        <a:rPr lang="en-US" sz="1151" dirty="0">
                          <a:solidFill>
                            <a:srgbClr val="1B2A3A"/>
                          </a:solidFill>
                          <a:latin typeface="Arial" pitchFamily="34" charset="0"/>
                          <a:ea typeface="Arial" pitchFamily="34" charset="-122"/>
                          <a:cs typeface="Arial" pitchFamily="34" charset="-120"/>
                        </a:rPr>
                        <a:t>Joint tension</a:t>
                      </a:r>
                      <a:endParaRPr lang="en-US" sz="1151" dirty="0">
                        <a:latin typeface="Arial" charset="0"/>
                        <a:ea typeface="Arial" charset="0"/>
                        <a:cs typeface="Arial" charset="0"/>
                      </a:endParaRPr>
                    </a:p>
                  </a:txBody>
                  <a:tcPr marL="51145" marR="51145" marT="51145" marB="51145">
                    <a:lnL w="12700" cap="flat" cmpd="sng" algn="ctr">
                      <a:solidFill>
                        <a:srgbClr val="CBCBCB"/>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11"/>
                        </a:lnSpc>
                        <a:buNone/>
                      </a:pPr>
                      <a:r>
                        <a:rPr lang="en-US" sz="1151" dirty="0">
                          <a:solidFill>
                            <a:srgbClr val="1B2A3A"/>
                          </a:solidFill>
                          <a:latin typeface="Arial" pitchFamily="34" charset="0"/>
                          <a:ea typeface="Arial" pitchFamily="34" charset="-122"/>
                          <a:cs typeface="Arial" pitchFamily="34" charset="-120"/>
                        </a:rPr>
                        <a:t>0.344 MPa, c 0.75 MPa</a:t>
                      </a:r>
                      <a:endParaRPr lang="en-US" sz="1151" dirty="0">
                        <a:latin typeface="Arial" charset="0"/>
                        <a:ea typeface="Arial" charset="0"/>
                        <a:cs typeface="Arial" charset="0"/>
                      </a:endParaRPr>
                    </a:p>
                  </a:txBody>
                  <a:tcPr marL="51145" marR="51145" marT="51145" marB="5114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11"/>
                        </a:lnSpc>
                        <a:buNone/>
                      </a:pPr>
                      <a:r>
                        <a:rPr lang="en-US" sz="1151" dirty="0">
                          <a:solidFill>
                            <a:srgbClr val="1B2A3A"/>
                          </a:solidFill>
                          <a:latin typeface="Arial" pitchFamily="34" charset="0"/>
                          <a:ea typeface="Arial" pitchFamily="34" charset="-122"/>
                          <a:cs typeface="Arial" pitchFamily="34" charset="-120"/>
                        </a:rPr>
                        <a:t>0 (UDM branch), c 0.2 MPa, Gs 100 J/m²</a:t>
                      </a:r>
                      <a:endParaRPr lang="en-US" sz="1151" dirty="0">
                        <a:latin typeface="Arial" charset="0"/>
                        <a:ea typeface="Arial" charset="0"/>
                        <a:cs typeface="Arial" charset="0"/>
                      </a:endParaRPr>
                    </a:p>
                  </a:txBody>
                  <a:tcPr marL="51145" marR="51145" marT="51145" marB="5114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11"/>
                        </a:lnSpc>
                        <a:buNone/>
                      </a:pPr>
                      <a:r>
                        <a:rPr lang="en-US" sz="1151" dirty="0">
                          <a:solidFill>
                            <a:srgbClr val="1B2A3A"/>
                          </a:solidFill>
                          <a:latin typeface="Arial" pitchFamily="34" charset="0"/>
                          <a:ea typeface="Arial" pitchFamily="34" charset="-122"/>
                          <a:cs typeface="Arial" pitchFamily="34" charset="-120"/>
                        </a:rPr>
                        <a:t>two-brick joint test; tension read-back</a:t>
                      </a:r>
                      <a:endParaRPr lang="en-US" sz="1151" dirty="0">
                        <a:latin typeface="Arial" charset="0"/>
                        <a:ea typeface="Arial" charset="0"/>
                        <a:cs typeface="Arial" charset="0"/>
                      </a:endParaRPr>
                    </a:p>
                  </a:txBody>
                  <a:tcPr marL="51145" marR="51145" marT="51145" marB="5114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2"/>
                  </a:ext>
                </a:extLst>
              </a:tr>
              <a:tr h="521842">
                <a:tc>
                  <a:txBody>
                    <a:bodyPr/>
                    <a:lstStyle/>
                    <a:p>
                      <a:pPr marL="0" indent="0">
                        <a:lnSpc>
                          <a:spcPts val="1611"/>
                        </a:lnSpc>
                        <a:buNone/>
                      </a:pPr>
                      <a:r>
                        <a:rPr lang="en-US" sz="1151" dirty="0">
                          <a:solidFill>
                            <a:srgbClr val="1B2A3A"/>
                          </a:solidFill>
                          <a:latin typeface="Arial" pitchFamily="34" charset="0"/>
                          <a:ea typeface="Arial" pitchFamily="34" charset="-122"/>
                          <a:cs typeface="Arial" pitchFamily="34" charset="-120"/>
                        </a:rPr>
                        <a:t>Strain mode</a:t>
                      </a:r>
                      <a:endParaRPr lang="en-US" sz="1151" dirty="0">
                        <a:latin typeface="Arial" charset="0"/>
                        <a:ea typeface="Arial" charset="0"/>
                        <a:cs typeface="Arial" charset="0"/>
                      </a:endParaRPr>
                    </a:p>
                  </a:txBody>
                  <a:tcPr marL="51145" marR="51145" marT="51145" marB="5114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11"/>
                        </a:lnSpc>
                        <a:buNone/>
                      </a:pPr>
                      <a:r>
                        <a:rPr lang="en-US" sz="1151" dirty="0">
                          <a:solidFill>
                            <a:srgbClr val="1B2A3A"/>
                          </a:solidFill>
                          <a:latin typeface="Arial" pitchFamily="34" charset="0"/>
                          <a:ea typeface="Arial" pitchFamily="34" charset="-122"/>
                          <a:cs typeface="Arial" pitchFamily="34" charset="-120"/>
                        </a:rPr>
                        <a:t>small</a:t>
                      </a:r>
                      <a:endParaRPr lang="en-US" sz="1151" dirty="0">
                        <a:latin typeface="Arial" charset="0"/>
                        <a:ea typeface="Arial" charset="0"/>
                        <a:cs typeface="Arial" charset="0"/>
                      </a:endParaRPr>
                    </a:p>
                  </a:txBody>
                  <a:tcPr marL="51145" marR="51145" marT="51145" marB="5114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11"/>
                        </a:lnSpc>
                        <a:buNone/>
                      </a:pPr>
                      <a:r>
                        <a:rPr lang="en-US" sz="1151" dirty="0">
                          <a:solidFill>
                            <a:srgbClr val="1B2A3A"/>
                          </a:solidFill>
                          <a:latin typeface="Arial" pitchFamily="34" charset="0"/>
                          <a:ea typeface="Arial" pitchFamily="34" charset="-122"/>
                          <a:cs typeface="Arial" pitchFamily="34" charset="-120"/>
                        </a:rPr>
                        <a:t>large</a:t>
                      </a:r>
                      <a:endParaRPr lang="en-US" sz="1151" dirty="0">
                        <a:latin typeface="Arial" charset="0"/>
                        <a:ea typeface="Arial" charset="0"/>
                        <a:cs typeface="Arial" charset="0"/>
                      </a:endParaRPr>
                    </a:p>
                  </a:txBody>
                  <a:tcPr marL="51145" marR="51145" marT="51145" marB="5114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11"/>
                        </a:lnSpc>
                        <a:buNone/>
                      </a:pPr>
                      <a:r>
                        <a:rPr lang="en-US" sz="1151" dirty="0">
                          <a:solidFill>
                            <a:srgbClr val="1B2A3A"/>
                          </a:solidFill>
                          <a:latin typeface="Arial" pitchFamily="34" charset="0"/>
                          <a:ea typeface="Arial" pitchFamily="34" charset="-122"/>
                          <a:cs typeface="Arial" pitchFamily="34" charset="-120"/>
                        </a:rPr>
                        <a:t>follower-load runaway fixed by the applied force</a:t>
                      </a:r>
                      <a:endParaRPr lang="en-US" sz="1151" dirty="0">
                        <a:latin typeface="Arial" charset="0"/>
                        <a:ea typeface="Arial" charset="0"/>
                        <a:cs typeface="Arial" charset="0"/>
                      </a:endParaRPr>
                    </a:p>
                  </a:txBody>
                  <a:tcPr marL="51145" marR="51145" marT="51145" marB="5114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521842">
                <a:tc>
                  <a:txBody>
                    <a:bodyPr/>
                    <a:lstStyle/>
                    <a:p>
                      <a:pPr marL="0" indent="0">
                        <a:lnSpc>
                          <a:spcPts val="1611"/>
                        </a:lnSpc>
                        <a:buNone/>
                      </a:pPr>
                      <a:r>
                        <a:rPr lang="en-US" sz="1151" dirty="0">
                          <a:solidFill>
                            <a:srgbClr val="1B2A3A"/>
                          </a:solidFill>
                          <a:latin typeface="Arial" pitchFamily="34" charset="0"/>
                          <a:ea typeface="Arial" pitchFamily="34" charset="-122"/>
                          <a:cs typeface="Arial" pitchFamily="34" charset="-120"/>
                        </a:rPr>
                        <a:t>Damping</a:t>
                      </a:r>
                      <a:endParaRPr lang="en-US" sz="1151" dirty="0">
                        <a:latin typeface="Arial" charset="0"/>
                        <a:ea typeface="Arial" charset="0"/>
                        <a:cs typeface="Arial" charset="0"/>
                      </a:endParaRPr>
                    </a:p>
                  </a:txBody>
                  <a:tcPr marL="51145" marR="51145" marT="51145" marB="51145">
                    <a:lnL w="12700" cap="flat" cmpd="sng" algn="ctr">
                      <a:solidFill>
                        <a:srgbClr val="CBCBCB"/>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11"/>
                        </a:lnSpc>
                        <a:buNone/>
                      </a:pPr>
                      <a:r>
                        <a:rPr lang="en-US" sz="1151" dirty="0">
                          <a:solidFill>
                            <a:srgbClr val="1B2A3A"/>
                          </a:solidFill>
                          <a:latin typeface="Arial" pitchFamily="34" charset="0"/>
                          <a:ea typeface="Arial" pitchFamily="34" charset="-122"/>
                          <a:cs typeface="Arial" pitchFamily="34" charset="-120"/>
                        </a:rPr>
                        <a:t>none (ξ = 0.0002 measured)</a:t>
                      </a:r>
                      <a:endParaRPr lang="en-US" sz="1151" dirty="0">
                        <a:latin typeface="Arial" charset="0"/>
                        <a:ea typeface="Arial" charset="0"/>
                        <a:cs typeface="Arial" charset="0"/>
                      </a:endParaRPr>
                    </a:p>
                  </a:txBody>
                  <a:tcPr marL="51145" marR="51145" marT="51145" marB="5114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11"/>
                        </a:lnSpc>
                        <a:buNone/>
                      </a:pPr>
                      <a:r>
                        <a:rPr lang="en-US" sz="1151" dirty="0">
                          <a:solidFill>
                            <a:srgbClr val="1B2A3A"/>
                          </a:solidFill>
                          <a:latin typeface="Arial" pitchFamily="34" charset="0"/>
                          <a:ea typeface="Arial" pitchFamily="34" charset="-122"/>
                          <a:cs typeface="Arial" pitchFamily="34" charset="-120"/>
                        </a:rPr>
                        <a:t>Maxwell 1.5 %, flat 1–25 Hz</a:t>
                      </a:r>
                      <a:endParaRPr lang="en-US" sz="1151" dirty="0">
                        <a:latin typeface="Arial" charset="0"/>
                        <a:ea typeface="Arial" charset="0"/>
                        <a:cs typeface="Arial" charset="0"/>
                      </a:endParaRPr>
                    </a:p>
                  </a:txBody>
                  <a:tcPr marL="51145" marR="51145" marT="51145" marB="5114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11"/>
                        </a:lnSpc>
                        <a:buNone/>
                      </a:pPr>
                      <a:r>
                        <a:rPr lang="en-US" sz="1151" dirty="0">
                          <a:solidFill>
                            <a:srgbClr val="1B2A3A"/>
                          </a:solidFill>
                          <a:latin typeface="Arial" pitchFamily="34" charset="0"/>
                          <a:ea typeface="Arial" pitchFamily="34" charset="-122"/>
                          <a:cs typeface="Arial" pitchFamily="34" charset="-120"/>
                        </a:rPr>
                        <a:t>ring-down: 1.4–1.66 % across the band</a:t>
                      </a:r>
                      <a:endParaRPr lang="en-US" sz="1151" dirty="0">
                        <a:latin typeface="Arial" charset="0"/>
                        <a:ea typeface="Arial" charset="0"/>
                        <a:cs typeface="Arial" charset="0"/>
                      </a:endParaRPr>
                    </a:p>
                  </a:txBody>
                  <a:tcPr marL="51145" marR="51145" marT="51145" marB="5114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4"/>
                  </a:ext>
                </a:extLst>
              </a:tr>
            </a:tbl>
          </a:graphicData>
        </a:graphic>
      </p:graphicFrame>
      <p:sp>
        <p:nvSpPr>
          <p:cNvPr id="8" name="Shape 5"/>
          <p:cNvSpPr/>
          <p:nvPr/>
        </p:nvSpPr>
        <p:spPr>
          <a:xfrm>
            <a:off x="815940" y="4735072"/>
            <a:ext cx="3312595" cy="1103769"/>
          </a:xfrm>
          <a:prstGeom prst="roundRect">
            <a:avLst>
              <a:gd name="adj" fmla="val 8917"/>
            </a:avLst>
          </a:prstGeom>
          <a:solidFill>
            <a:srgbClr val="FFFFFF"/>
          </a:solidFill>
          <a:ln w="6350">
            <a:solidFill>
              <a:srgbClr val="DDD8CC"/>
            </a:solidFill>
            <a:prstDash val="solid"/>
          </a:ln>
        </p:spPr>
        <p:txBody>
          <a:bodyPr/>
          <a:lstStyle/>
          <a:p>
            <a:endParaRPr lang="en-GB"/>
          </a:p>
        </p:txBody>
      </p:sp>
      <p:sp>
        <p:nvSpPr>
          <p:cNvPr id="9" name="Text 6"/>
          <p:cNvSpPr/>
          <p:nvPr/>
        </p:nvSpPr>
        <p:spPr>
          <a:xfrm>
            <a:off x="1047125" y="4915492"/>
            <a:ext cx="2935732" cy="25654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A7179"/>
                </a:solidFill>
                <a:latin typeface="Arial" pitchFamily="34" charset="0"/>
                <a:ea typeface="Arial" pitchFamily="34" charset="-122"/>
                <a:cs typeface="Arial" pitchFamily="34" charset="-120"/>
              </a:rPr>
              <a:t>Ring-down, rebuilt wall</a:t>
            </a:r>
            <a:endParaRPr lang="en-US" sz="1300" dirty="0"/>
          </a:p>
        </p:txBody>
      </p:sp>
      <p:sp>
        <p:nvSpPr>
          <p:cNvPr id="10" name="Text 7"/>
          <p:cNvSpPr/>
          <p:nvPr/>
        </p:nvSpPr>
        <p:spPr>
          <a:xfrm>
            <a:off x="1047125" y="5184722"/>
            <a:ext cx="2935732" cy="380993"/>
          </a:xfrm>
          <a:prstGeom prst="rect">
            <a:avLst/>
          </a:prstGeom>
          <a:noFill/>
          <a:ln/>
        </p:spPr>
        <p:txBody>
          <a:bodyPr wrap="square" lIns="0" tIns="0" rIns="0" bIns="0" rtlCol="0" anchor="t">
            <a:normAutofit/>
          </a:bodyPr>
          <a:lstStyle/>
          <a:p>
            <a:pPr marL="0" indent="0" algn="l">
              <a:lnSpc>
                <a:spcPts val="2800"/>
              </a:lnSpc>
              <a:buNone/>
            </a:pPr>
            <a:r>
              <a:rPr lang="en-US" sz="2800" dirty="0">
                <a:solidFill>
                  <a:srgbClr val="1B2A3A"/>
                </a:solidFill>
                <a:latin typeface="Georgia" pitchFamily="18" charset="0"/>
                <a:ea typeface="Georgia" pitchFamily="18" charset="-122"/>
                <a:cs typeface="Georgia" pitchFamily="18" charset="-120"/>
              </a:rPr>
              <a:t>T1 = 0.103 s</a:t>
            </a:r>
            <a:endParaRPr lang="en-US" sz="2800" dirty="0"/>
          </a:p>
        </p:txBody>
      </p:sp>
      <p:sp>
        <p:nvSpPr>
          <p:cNvPr id="11" name="Shape 8"/>
          <p:cNvSpPr/>
          <p:nvPr/>
        </p:nvSpPr>
        <p:spPr>
          <a:xfrm>
            <a:off x="4439666" y="4735072"/>
            <a:ext cx="3312640" cy="1103769"/>
          </a:xfrm>
          <a:prstGeom prst="roundRect">
            <a:avLst>
              <a:gd name="adj" fmla="val 8917"/>
            </a:avLst>
          </a:prstGeom>
          <a:solidFill>
            <a:srgbClr val="FFFFFF"/>
          </a:solidFill>
          <a:ln w="6350">
            <a:solidFill>
              <a:srgbClr val="DDD8CC"/>
            </a:solidFill>
            <a:prstDash val="solid"/>
          </a:ln>
        </p:spPr>
        <p:txBody>
          <a:bodyPr/>
          <a:lstStyle/>
          <a:p>
            <a:endParaRPr lang="en-GB"/>
          </a:p>
        </p:txBody>
      </p:sp>
      <p:sp>
        <p:nvSpPr>
          <p:cNvPr id="12" name="Text 9"/>
          <p:cNvSpPr/>
          <p:nvPr/>
        </p:nvSpPr>
        <p:spPr>
          <a:xfrm>
            <a:off x="4670851" y="4915492"/>
            <a:ext cx="2935779" cy="198260"/>
          </a:xfrm>
          <a:prstGeom prst="rect">
            <a:avLst/>
          </a:prstGeom>
          <a:noFill/>
          <a:ln/>
        </p:spPr>
        <p:txBody>
          <a:bodyPr wrap="square" lIns="0" tIns="0" rIns="0" bIns="0" rtlCol="0" anchor="t">
            <a:normAutofit/>
          </a:bodyPr>
          <a:lstStyle/>
          <a:p>
            <a:pPr marL="0" indent="0" algn="l">
              <a:lnSpc>
                <a:spcPts val="1371"/>
              </a:lnSpc>
              <a:buNone/>
            </a:pPr>
            <a:r>
              <a:rPr lang="en-US" sz="979" dirty="0">
                <a:solidFill>
                  <a:srgbClr val="6A7179"/>
                </a:solidFill>
                <a:latin typeface="Arial" pitchFamily="34" charset="0"/>
                <a:ea typeface="Arial" pitchFamily="34" charset="-122"/>
                <a:cs typeface="Arial" pitchFamily="34" charset="-120"/>
              </a:rPr>
              <a:t>Masses in the check</a:t>
            </a:r>
            <a:endParaRPr lang="en-US" sz="979" dirty="0"/>
          </a:p>
        </p:txBody>
      </p:sp>
      <p:sp>
        <p:nvSpPr>
          <p:cNvPr id="13" name="Text 10"/>
          <p:cNvSpPr/>
          <p:nvPr/>
        </p:nvSpPr>
        <p:spPr>
          <a:xfrm>
            <a:off x="4670851" y="5126437"/>
            <a:ext cx="3078280" cy="557386"/>
          </a:xfrm>
          <a:prstGeom prst="rect">
            <a:avLst/>
          </a:prstGeom>
          <a:noFill/>
          <a:ln/>
        </p:spPr>
        <p:txBody>
          <a:bodyPr wrap="square" lIns="0" tIns="0" rIns="0" bIns="0" rtlCol="0" anchor="t">
            <a:normAutofit/>
          </a:bodyPr>
          <a:lstStyle/>
          <a:p>
            <a:pPr marL="0" indent="0" algn="l">
              <a:lnSpc>
                <a:spcPts val="2686"/>
              </a:lnSpc>
              <a:buNone/>
            </a:pPr>
            <a:r>
              <a:rPr lang="en-US" sz="2686" dirty="0">
                <a:solidFill>
                  <a:srgbClr val="1B2A3A"/>
                </a:solidFill>
                <a:latin typeface="Georgia" pitchFamily="18" charset="0"/>
                <a:ea typeface="Georgia" pitchFamily="18" charset="-122"/>
                <a:cs typeface="Georgia" pitchFamily="18" charset="-120"/>
              </a:rPr>
              <a:t>1308 + 76 + 213 kg</a:t>
            </a:r>
            <a:endParaRPr lang="en-US" sz="2686" dirty="0"/>
          </a:p>
        </p:txBody>
      </p:sp>
      <p:sp>
        <p:nvSpPr>
          <p:cNvPr id="14" name="Shape 11"/>
          <p:cNvSpPr/>
          <p:nvPr/>
        </p:nvSpPr>
        <p:spPr>
          <a:xfrm>
            <a:off x="8063437" y="4735072"/>
            <a:ext cx="3312595" cy="1103769"/>
          </a:xfrm>
          <a:prstGeom prst="roundRect">
            <a:avLst>
              <a:gd name="adj" fmla="val 8917"/>
            </a:avLst>
          </a:prstGeom>
          <a:solidFill>
            <a:srgbClr val="FFFFFF"/>
          </a:solidFill>
          <a:ln w="6350">
            <a:solidFill>
              <a:srgbClr val="DDD8CC"/>
            </a:solidFill>
            <a:prstDash val="solid"/>
          </a:ln>
        </p:spPr>
        <p:txBody>
          <a:bodyPr/>
          <a:lstStyle/>
          <a:p>
            <a:endParaRPr lang="en-GB"/>
          </a:p>
        </p:txBody>
      </p:sp>
      <p:sp>
        <p:nvSpPr>
          <p:cNvPr id="15" name="Text 12"/>
          <p:cNvSpPr/>
          <p:nvPr/>
        </p:nvSpPr>
        <p:spPr>
          <a:xfrm>
            <a:off x="8294622" y="4915492"/>
            <a:ext cx="2935732" cy="198260"/>
          </a:xfrm>
          <a:prstGeom prst="rect">
            <a:avLst/>
          </a:prstGeom>
          <a:noFill/>
          <a:ln/>
        </p:spPr>
        <p:txBody>
          <a:bodyPr wrap="square" lIns="0" tIns="0" rIns="0" bIns="0" rtlCol="0" anchor="t">
            <a:normAutofit/>
          </a:bodyPr>
          <a:lstStyle/>
          <a:p>
            <a:pPr marL="0" indent="0" algn="l">
              <a:lnSpc>
                <a:spcPts val="1371"/>
              </a:lnSpc>
              <a:buNone/>
            </a:pPr>
            <a:r>
              <a:rPr lang="en-US" sz="979" dirty="0">
                <a:solidFill>
                  <a:srgbClr val="6A7179"/>
                </a:solidFill>
                <a:latin typeface="Arial" pitchFamily="34" charset="0"/>
                <a:ea typeface="Arial" pitchFamily="34" charset="-122"/>
                <a:cs typeface="Arial" pitchFamily="34" charset="-120"/>
              </a:rPr>
              <a:t>Joists</a:t>
            </a:r>
            <a:endParaRPr lang="en-US" sz="979" dirty="0"/>
          </a:p>
        </p:txBody>
      </p:sp>
      <p:sp>
        <p:nvSpPr>
          <p:cNvPr id="16" name="Text 13"/>
          <p:cNvSpPr/>
          <p:nvPr/>
        </p:nvSpPr>
        <p:spPr>
          <a:xfrm>
            <a:off x="8294622" y="5126437"/>
            <a:ext cx="3078235" cy="557386"/>
          </a:xfrm>
          <a:prstGeom prst="rect">
            <a:avLst/>
          </a:prstGeom>
          <a:noFill/>
          <a:ln/>
        </p:spPr>
        <p:txBody>
          <a:bodyPr wrap="square" lIns="0" tIns="0" rIns="0" bIns="0" rtlCol="0" anchor="t">
            <a:normAutofit/>
          </a:bodyPr>
          <a:lstStyle/>
          <a:p>
            <a:pPr marL="0" indent="0" algn="l">
              <a:lnSpc>
                <a:spcPts val="2616"/>
              </a:lnSpc>
              <a:buNone/>
            </a:pPr>
            <a:r>
              <a:rPr lang="en-US" sz="2616" dirty="0">
                <a:solidFill>
                  <a:srgbClr val="1B2A3A"/>
                </a:solidFill>
                <a:latin typeface="Georgia" pitchFamily="18" charset="0"/>
                <a:ea typeface="Georgia" pitchFamily="18" charset="-122"/>
                <a:cs typeface="Georgia" pitchFamily="18" charset="-120"/>
              </a:rPr>
              <a:t>on rollers, as tested</a:t>
            </a:r>
            <a:endParaRPr lang="en-US" sz="2616" dirty="0"/>
          </a:p>
        </p:txBody>
      </p:sp>
      <p:sp>
        <p:nvSpPr>
          <p:cNvPr id="17" name="Text 14"/>
          <p:cNvSpPr/>
          <p:nvPr/>
        </p:nvSpPr>
        <p:spPr>
          <a:xfrm>
            <a:off x="812765" y="6238280"/>
            <a:ext cx="7725048"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Arial" pitchFamily="34" charset="0"/>
                <a:ea typeface="Arial" pitchFamily="34" charset="-122"/>
                <a:cs typeface="Arial" pitchFamily="34" charset="-120"/>
              </a:rPr>
              <a:t>Part_I_MASON_v8_LargeStrain_springforce_ft0.sav · masonry / joist share into the wall / beam</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EDE9DF"/>
        </a:solidFill>
        <a:effectLst/>
      </p:bgPr>
    </p:bg>
    <p:spTree>
      <p:nvGrpSpPr>
        <p:cNvPr id="1" name=""/>
        <p:cNvGrpSpPr/>
        <p:nvPr/>
      </p:nvGrpSpPr>
      <p:grpSpPr>
        <a:xfrm>
          <a:off x="0" y="0"/>
          <a:ext cx="0" cy="0"/>
          <a:chOff x="0" y="0"/>
          <a:chExt cx="0" cy="0"/>
        </a:xfrm>
      </p:grpSpPr>
      <p:sp>
        <p:nvSpPr>
          <p:cNvPr id="2" name="Text 0"/>
          <p:cNvSpPr/>
          <p:nvPr/>
        </p:nvSpPr>
        <p:spPr>
          <a:xfrm>
            <a:off x="812765" y="812766"/>
            <a:ext cx="10883436" cy="220858"/>
          </a:xfrm>
          <a:prstGeom prst="rect">
            <a:avLst/>
          </a:prstGeom>
          <a:noFill/>
          <a:ln/>
        </p:spPr>
        <p:txBody>
          <a:bodyPr wrap="square" lIns="0" tIns="0" rIns="0" bIns="0" rtlCol="0" anchor="t">
            <a:normAutofit/>
          </a:bodyPr>
          <a:lstStyle/>
          <a:p>
            <a:pPr marL="0" indent="0" algn="l">
              <a:lnSpc>
                <a:spcPts val="1570"/>
              </a:lnSpc>
              <a:buNone/>
            </a:pPr>
            <a:r>
              <a:rPr lang="en-US" sz="1121" b="1" kern="0" spc="100" dirty="0">
                <a:solidFill>
                  <a:srgbClr val="B4491A"/>
                </a:solidFill>
                <a:latin typeface="Arial" pitchFamily="34" charset="0"/>
                <a:ea typeface="Arial" pitchFamily="34" charset="-122"/>
                <a:cs typeface="Arial" pitchFamily="34" charset="-120"/>
              </a:rPr>
              <a:t>3 · TWO WAYS TO PUSH THE WALL</a:t>
            </a:r>
            <a:endParaRPr lang="en-US" sz="1121" dirty="0"/>
          </a:p>
        </p:txBody>
      </p:sp>
      <p:sp>
        <p:nvSpPr>
          <p:cNvPr id="3" name="Text 1"/>
          <p:cNvSpPr>
            <a:spLocks noGrp="1"/>
          </p:cNvSpPr>
          <p:nvPr>
            <p:ph type="title"/>
          </p:nvPr>
        </p:nvSpPr>
        <p:spPr>
          <a:xfrm>
            <a:off x="812765" y="1313005"/>
            <a:ext cx="10883436" cy="828836"/>
          </a:xfrm>
          <a:prstGeom prst="rect">
            <a:avLst/>
          </a:prstGeom>
          <a:noFill/>
          <a:ln/>
        </p:spPr>
        <p:txBody>
          <a:bodyPr wrap="square" lIns="0" tIns="0" rIns="0" bIns="0" rtlCol="0" anchor="t">
            <a:normAutofit/>
          </a:bodyPr>
          <a:lstStyle/>
          <a:p>
            <a:pPr marL="0" indent="0" algn="l">
              <a:lnSpc>
                <a:spcPts val="3179"/>
              </a:lnSpc>
              <a:buNone/>
            </a:pPr>
            <a:r>
              <a:rPr lang="en-US" sz="2890" b="0" i="0" dirty="0">
                <a:solidFill>
                  <a:srgbClr val="1B2A3A"/>
                </a:solidFill>
                <a:latin typeface="Georgia" pitchFamily="18" charset="0"/>
                <a:ea typeface="Georgia" pitchFamily="18" charset="-122"/>
                <a:cs typeface="Georgia" pitchFamily="18" charset="-120"/>
              </a:rPr>
              <a:t>Gravity tilt loads everything; the masonry-only push loads the wall</a:t>
            </a:r>
            <a:endParaRPr lang="en-US" sz="2890" dirty="0"/>
          </a:p>
        </p:txBody>
      </p:sp>
      <p:sp>
        <p:nvSpPr>
          <p:cNvPr id="4" name="Shape 2"/>
          <p:cNvSpPr/>
          <p:nvPr/>
        </p:nvSpPr>
        <p:spPr>
          <a:xfrm>
            <a:off x="815940" y="2424398"/>
            <a:ext cx="5124481" cy="2401784"/>
          </a:xfrm>
          <a:prstGeom prst="roundRect">
            <a:avLst>
              <a:gd name="adj" fmla="val 4098"/>
            </a:avLst>
          </a:prstGeom>
          <a:solidFill>
            <a:srgbClr val="FFFFFF"/>
          </a:solidFill>
          <a:ln w="6350">
            <a:solidFill>
              <a:srgbClr val="DDD8CC"/>
            </a:solidFill>
            <a:prstDash val="solid"/>
          </a:ln>
        </p:spPr>
        <p:txBody>
          <a:bodyPr/>
          <a:lstStyle/>
          <a:p>
            <a:endParaRPr lang="en-GB"/>
          </a:p>
        </p:txBody>
      </p:sp>
      <p:sp>
        <p:nvSpPr>
          <p:cNvPr id="5" name="Text 3"/>
          <p:cNvSpPr/>
          <p:nvPr/>
        </p:nvSpPr>
        <p:spPr>
          <a:xfrm>
            <a:off x="1072531" y="2680987"/>
            <a:ext cx="4749638" cy="244498"/>
          </a:xfrm>
          <a:prstGeom prst="rect">
            <a:avLst/>
          </a:prstGeom>
          <a:noFill/>
          <a:ln/>
        </p:spPr>
        <p:txBody>
          <a:bodyPr wrap="square" lIns="0" tIns="0" rIns="0" bIns="0" rtlCol="0" anchor="t">
            <a:normAutofit/>
          </a:bodyPr>
          <a:lstStyle/>
          <a:p>
            <a:pPr marL="0" indent="0" algn="l">
              <a:lnSpc>
                <a:spcPts val="1774"/>
              </a:lnSpc>
              <a:buNone/>
            </a:pPr>
            <a:r>
              <a:rPr lang="en-US" sz="1268" b="1" kern="0" spc="50" dirty="0">
                <a:solidFill>
                  <a:srgbClr val="C2521C"/>
                </a:solidFill>
                <a:latin typeface="Arial" pitchFamily="34" charset="0"/>
                <a:ea typeface="Arial" pitchFamily="34" charset="-122"/>
                <a:cs typeface="Arial" pitchFamily="34" charset="-120"/>
              </a:rPr>
              <a:t>GRAVITY TILT (V4)</a:t>
            </a:r>
            <a:endParaRPr lang="en-US" sz="1268" dirty="0"/>
          </a:p>
        </p:txBody>
      </p:sp>
      <p:sp>
        <p:nvSpPr>
          <p:cNvPr id="6" name="Text 4"/>
          <p:cNvSpPr/>
          <p:nvPr/>
        </p:nvSpPr>
        <p:spPr>
          <a:xfrm>
            <a:off x="1072531" y="3001665"/>
            <a:ext cx="4749638" cy="354047"/>
          </a:xfrm>
          <a:prstGeom prst="rect">
            <a:avLst/>
          </a:prstGeom>
          <a:noFill/>
          <a:ln/>
        </p:spPr>
        <p:txBody>
          <a:bodyPr wrap="square" lIns="0" tIns="0" rIns="0" bIns="0" rtlCol="0" anchor="t">
            <a:normAutofit/>
          </a:bodyPr>
          <a:lstStyle/>
          <a:p>
            <a:pPr marL="0" indent="0" algn="l">
              <a:lnSpc>
                <a:spcPts val="2619"/>
              </a:lnSpc>
              <a:buNone/>
            </a:pPr>
            <a:r>
              <a:rPr lang="en-US" sz="2494" dirty="0">
                <a:solidFill>
                  <a:srgbClr val="1B2A3A"/>
                </a:solidFill>
                <a:latin typeface="Georgia" pitchFamily="18" charset="0"/>
                <a:ea typeface="Georgia" pitchFamily="18" charset="-122"/>
                <a:cs typeface="Georgia" pitchFamily="18" charset="-120"/>
              </a:rPr>
              <a:t>g rotated: a·m on every block</a:t>
            </a:r>
            <a:endParaRPr lang="en-US" sz="2494" dirty="0"/>
          </a:p>
        </p:txBody>
      </p:sp>
      <p:sp>
        <p:nvSpPr>
          <p:cNvPr id="7" name="Text 5"/>
          <p:cNvSpPr/>
          <p:nvPr/>
        </p:nvSpPr>
        <p:spPr>
          <a:xfrm>
            <a:off x="1072531" y="3431890"/>
            <a:ext cx="4749638" cy="1163099"/>
          </a:xfrm>
          <a:prstGeom prst="rect">
            <a:avLst/>
          </a:prstGeom>
          <a:noFill/>
          <a:ln/>
        </p:spPr>
        <p:txBody>
          <a:bodyPr wrap="square" lIns="0" tIns="0" rIns="0" bIns="0" rtlCol="0" anchor="t">
            <a:normAutofit/>
          </a:bodyPr>
          <a:lstStyle/>
          <a:p>
            <a:pPr marL="0" indent="0" algn="l">
              <a:lnSpc>
                <a:spcPts val="1790"/>
              </a:lnSpc>
              <a:buNone/>
            </a:pPr>
            <a:r>
              <a:rPr lang="en-US" sz="1278" dirty="0">
                <a:solidFill>
                  <a:srgbClr val="4A5568"/>
                </a:solidFill>
                <a:latin typeface="Arial" pitchFamily="34" charset="0"/>
                <a:ea typeface="Arial" pitchFamily="34" charset="-122"/>
                <a:cs typeface="Arial" pitchFamily="34" charset="-120"/>
              </a:rPr>
              <a:t>Wall, beam and joists all feel the lateral acceleration. The joists lie along the push direction, so a sustained force slides them out of the pocket at 17 mm (pocket_open 281 mm). A shake table reverses that force every half-cycle; a static push never does.</a:t>
            </a:r>
            <a:endParaRPr lang="en-US" sz="1278" dirty="0"/>
          </a:p>
        </p:txBody>
      </p:sp>
      <p:sp>
        <p:nvSpPr>
          <p:cNvPr id="8" name="Shape 6"/>
          <p:cNvSpPr/>
          <p:nvPr/>
        </p:nvSpPr>
        <p:spPr>
          <a:xfrm>
            <a:off x="6251552" y="2424398"/>
            <a:ext cx="5124481" cy="2401784"/>
          </a:xfrm>
          <a:prstGeom prst="roundRect">
            <a:avLst>
              <a:gd name="adj" fmla="val 4098"/>
            </a:avLst>
          </a:prstGeom>
          <a:solidFill>
            <a:srgbClr val="FFFFFF"/>
          </a:solidFill>
          <a:ln w="6350">
            <a:solidFill>
              <a:srgbClr val="DDD8CC"/>
            </a:solidFill>
            <a:prstDash val="solid"/>
          </a:ln>
        </p:spPr>
        <p:txBody>
          <a:bodyPr/>
          <a:lstStyle/>
          <a:p>
            <a:endParaRPr lang="en-GB"/>
          </a:p>
        </p:txBody>
      </p:sp>
      <p:sp>
        <p:nvSpPr>
          <p:cNvPr id="9" name="Text 7"/>
          <p:cNvSpPr/>
          <p:nvPr/>
        </p:nvSpPr>
        <p:spPr>
          <a:xfrm>
            <a:off x="6508143" y="2680987"/>
            <a:ext cx="4749638" cy="208722"/>
          </a:xfrm>
          <a:prstGeom prst="rect">
            <a:avLst/>
          </a:prstGeom>
          <a:noFill/>
          <a:ln/>
        </p:spPr>
        <p:txBody>
          <a:bodyPr wrap="square" lIns="0" tIns="0" rIns="0" bIns="0" rtlCol="0" anchor="t">
            <a:normAutofit/>
          </a:bodyPr>
          <a:lstStyle/>
          <a:p>
            <a:pPr marL="0" indent="0" algn="l">
              <a:lnSpc>
                <a:spcPts val="1473"/>
              </a:lnSpc>
              <a:buNone/>
            </a:pPr>
            <a:r>
              <a:rPr lang="en-US" sz="1052" b="1" kern="0" spc="50" dirty="0">
                <a:solidFill>
                  <a:srgbClr val="2F6BA6"/>
                </a:solidFill>
                <a:latin typeface="Arial" pitchFamily="34" charset="0"/>
                <a:ea typeface="Arial" pitchFamily="34" charset="-122"/>
                <a:cs typeface="Arial" pitchFamily="34" charset="-120"/>
              </a:rPr>
              <a:t>MASONRY-ONLY PUSH (V5)</a:t>
            </a:r>
            <a:endParaRPr lang="en-US" sz="1052" dirty="0"/>
          </a:p>
        </p:txBody>
      </p:sp>
      <p:sp>
        <p:nvSpPr>
          <p:cNvPr id="10" name="Text 8"/>
          <p:cNvSpPr/>
          <p:nvPr/>
        </p:nvSpPr>
        <p:spPr>
          <a:xfrm>
            <a:off x="6508143" y="2965887"/>
            <a:ext cx="4749638" cy="575455"/>
          </a:xfrm>
          <a:prstGeom prst="rect">
            <a:avLst/>
          </a:prstGeom>
          <a:noFill/>
          <a:ln/>
        </p:spPr>
        <p:txBody>
          <a:bodyPr wrap="square" lIns="0" tIns="0" rIns="0" bIns="0" rtlCol="0" anchor="t">
            <a:normAutofit/>
          </a:bodyPr>
          <a:lstStyle/>
          <a:p>
            <a:pPr marL="0" indent="0" algn="l">
              <a:lnSpc>
                <a:spcPts val="2184"/>
              </a:lnSpc>
              <a:buNone/>
            </a:pPr>
            <a:r>
              <a:rPr lang="en-US" sz="2080" dirty="0">
                <a:solidFill>
                  <a:srgbClr val="1B2A3A"/>
                </a:solidFill>
                <a:latin typeface="Georgia" pitchFamily="18" charset="0"/>
                <a:ea typeface="Georgia" pitchFamily="18" charset="-122"/>
                <a:cs typeface="Georgia" pitchFamily="18" charset="-120"/>
              </a:rPr>
              <a:t>block.force.app = a·m on the 1308 kg of masonry</a:t>
            </a:r>
            <a:endParaRPr lang="en-US" sz="2080" dirty="0"/>
          </a:p>
        </p:txBody>
      </p:sp>
      <p:sp>
        <p:nvSpPr>
          <p:cNvPr id="11" name="Text 9"/>
          <p:cNvSpPr/>
          <p:nvPr/>
        </p:nvSpPr>
        <p:spPr>
          <a:xfrm>
            <a:off x="6508143" y="3617522"/>
            <a:ext cx="4749638" cy="977468"/>
          </a:xfrm>
          <a:prstGeom prst="rect">
            <a:avLst/>
          </a:prstGeom>
          <a:noFill/>
          <a:ln/>
        </p:spPr>
        <p:txBody>
          <a:bodyPr wrap="square" lIns="0" tIns="0" rIns="0" bIns="0" rtlCol="0" anchor="t">
            <a:normAutofit/>
          </a:bodyPr>
          <a:lstStyle/>
          <a:p>
            <a:pPr marL="0" indent="0" algn="l">
              <a:lnSpc>
                <a:spcPts val="1843"/>
              </a:lnSpc>
              <a:buNone/>
            </a:pPr>
            <a:r>
              <a:rPr lang="en-US" sz="1316" dirty="0">
                <a:solidFill>
                  <a:srgbClr val="4A5568"/>
                </a:solidFill>
                <a:latin typeface="Arial" pitchFamily="34" charset="0"/>
                <a:ea typeface="Arial" pitchFamily="34" charset="-122"/>
                <a:cs typeface="Arial" pitchFamily="34" charset="-120"/>
              </a:rPr>
              <a:t>Gravity stays vertical; joists and beam are loaded only through their contacts with the wall. The joists keep bearing (joist N 3.0 → 4.7 → 4.2 kN) and the curve runs to 81 mm. This is the wall’s own capacity, which is what the backbone needs.</a:t>
            </a:r>
            <a:endParaRPr lang="en-US" sz="1316" dirty="0"/>
          </a:p>
        </p:txBody>
      </p:sp>
      <p:sp>
        <p:nvSpPr>
          <p:cNvPr id="12" name="Shape 10"/>
          <p:cNvSpPr/>
          <p:nvPr/>
        </p:nvSpPr>
        <p:spPr>
          <a:xfrm>
            <a:off x="815940" y="5137311"/>
            <a:ext cx="10560093" cy="701530"/>
          </a:xfrm>
          <a:prstGeom prst="roundRect">
            <a:avLst>
              <a:gd name="adj" fmla="val 14030"/>
            </a:avLst>
          </a:prstGeom>
          <a:solidFill>
            <a:srgbClr val="FFFFFF"/>
          </a:solidFill>
          <a:ln w="6350">
            <a:solidFill>
              <a:srgbClr val="DDD8CC"/>
            </a:solidFill>
            <a:prstDash val="solid"/>
          </a:ln>
        </p:spPr>
        <p:txBody>
          <a:bodyPr/>
          <a:lstStyle/>
          <a:p>
            <a:endParaRPr lang="en-GB"/>
          </a:p>
        </p:txBody>
      </p:sp>
      <p:pic>
        <p:nvPicPr>
          <p:cNvPr id="13" name="Image 0" descr="Lightbulb"/>
          <p:cNvPicPr>
            <a:picLocks noChangeAspect="1"/>
          </p:cNvPicPr>
          <p:nvPr/>
        </p:nvPicPr>
        <p:blipFill>
          <a:blip r:embed="rId3"/>
          <a:srcRect t="-287" b="-287"/>
          <a:stretch/>
        </p:blipFill>
        <p:spPr>
          <a:xfrm>
            <a:off x="1072531" y="5361071"/>
            <a:ext cx="157825" cy="253969"/>
          </a:xfrm>
          <a:prstGeom prst="rect">
            <a:avLst/>
          </a:prstGeom>
        </p:spPr>
      </p:pic>
      <p:sp>
        <p:nvSpPr>
          <p:cNvPr id="14" name="Text 11"/>
          <p:cNvSpPr/>
          <p:nvPr/>
        </p:nvSpPr>
        <p:spPr>
          <a:xfrm>
            <a:off x="1382747" y="5256637"/>
            <a:ext cx="10028796" cy="488323"/>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1B2A3A"/>
                </a:solidFill>
                <a:latin typeface="Arial" pitchFamily="34" charset="0"/>
                <a:ea typeface="Arial" pitchFamily="34" charset="-122"/>
                <a:cs typeface="Arial" pitchFamily="34" charset="-120"/>
              </a:rPr>
              <a:t>Same servo, same reactions (F_tot = base + joist supports + top joint), same 10 kN plateau up to the point where v4 lost its joist. The dynamic runs still carry joist inertia; only the static backbone leaves it out.</a:t>
            </a:r>
            <a:endParaRPr lang="en-US" sz="1350" dirty="0"/>
          </a:p>
        </p:txBody>
      </p:sp>
      <p:sp>
        <p:nvSpPr>
          <p:cNvPr id="15" name="Text 12"/>
          <p:cNvSpPr/>
          <p:nvPr/>
        </p:nvSpPr>
        <p:spPr>
          <a:xfrm>
            <a:off x="812765" y="6238280"/>
            <a:ext cx="10152393"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Arial" pitchFamily="34" charset="0"/>
                <a:ea typeface="Arial" pitchFamily="34" charset="-122"/>
                <a:cs typeface="Arial" pitchFamily="34" charset="-120"/>
              </a:rPr>
              <a:t>pushover_oop_3dec_v4 (gravity tilt, ±) · v5: po_push FISH, POCKET_EXIT_MM abort guard, masonry mass from block.mass</a:t>
            </a:r>
            <a:endParaRPr lang="en-US" sz="1200" dirty="0"/>
          </a:p>
        </p:txBody>
      </p:sp>
    </p:spTree>
    <p:extLst>
      <p:ext uri="{BB962C8B-B14F-4D97-AF65-F5344CB8AC3E}">
        <p14:creationId xmlns:p14="http://schemas.microsoft.com/office/powerpoint/2010/main" val="3894131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5" y="609563"/>
            <a:ext cx="10883436" cy="239336"/>
          </a:xfrm>
          <a:prstGeom prst="rect">
            <a:avLst/>
          </a:prstGeom>
          <a:noFill/>
          <a:ln/>
        </p:spPr>
        <p:txBody>
          <a:bodyPr wrap="square" lIns="0" tIns="0" rIns="0" bIns="0" rtlCol="0" anchor="t">
            <a:normAutofit/>
          </a:bodyPr>
          <a:lstStyle/>
          <a:p>
            <a:pPr marL="0" indent="0" algn="l">
              <a:lnSpc>
                <a:spcPts val="1723"/>
              </a:lnSpc>
              <a:buNone/>
            </a:pPr>
            <a:r>
              <a:rPr lang="en-US" sz="1231" b="1" kern="0" spc="100" dirty="0">
                <a:solidFill>
                  <a:srgbClr val="B4491A"/>
                </a:solidFill>
                <a:latin typeface="Arial" pitchFamily="34" charset="0"/>
                <a:ea typeface="Arial" pitchFamily="34" charset="-122"/>
                <a:cs typeface="Arial" pitchFamily="34" charset="-120"/>
              </a:rPr>
              <a:t>3 · OLD VS NEW PUSHOVER</a:t>
            </a:r>
            <a:endParaRPr lang="en-US" sz="1231" dirty="0"/>
          </a:p>
        </p:txBody>
      </p:sp>
      <p:sp>
        <p:nvSpPr>
          <p:cNvPr id="3" name="Text 1"/>
          <p:cNvSpPr>
            <a:spLocks noGrp="1"/>
          </p:cNvSpPr>
          <p:nvPr>
            <p:ph type="title"/>
          </p:nvPr>
        </p:nvSpPr>
        <p:spPr>
          <a:xfrm>
            <a:off x="812765" y="950485"/>
            <a:ext cx="10883436" cy="439187"/>
          </a:xfrm>
          <a:prstGeom prst="rect">
            <a:avLst/>
          </a:prstGeom>
          <a:noFill/>
          <a:ln/>
        </p:spPr>
        <p:txBody>
          <a:bodyPr wrap="square" lIns="0" tIns="0" rIns="0" bIns="0" rtlCol="0" anchor="t">
            <a:normAutofit/>
          </a:bodyPr>
          <a:lstStyle/>
          <a:p>
            <a:pPr marL="0" indent="0" algn="l">
              <a:lnSpc>
                <a:spcPts val="3267"/>
              </a:lnSpc>
              <a:buNone/>
            </a:pPr>
            <a:r>
              <a:rPr lang="en-US" sz="2970" b="0" i="0" dirty="0">
                <a:solidFill>
                  <a:srgbClr val="1B2A3A"/>
                </a:solidFill>
                <a:latin typeface="Georgia" pitchFamily="18" charset="0"/>
                <a:ea typeface="Georgia" pitchFamily="18" charset="-122"/>
                <a:cs typeface="Georgia" pitchFamily="18" charset="-120"/>
              </a:rPr>
              <a:t>29 kN was the bond; 10–11 kN is the wall</a:t>
            </a:r>
            <a:endParaRPr lang="en-US" sz="2970" dirty="0"/>
          </a:p>
        </p:txBody>
      </p:sp>
      <p:sp>
        <p:nvSpPr>
          <p:cNvPr id="4" name="Shape 2"/>
          <p:cNvSpPr/>
          <p:nvPr/>
        </p:nvSpPr>
        <p:spPr>
          <a:xfrm>
            <a:off x="812765" y="1491255"/>
            <a:ext cx="10566398" cy="4350763"/>
          </a:xfrm>
          <a:prstGeom prst="roundRect">
            <a:avLst>
              <a:gd name="adj" fmla="val 2335"/>
            </a:avLst>
          </a:prstGeom>
          <a:solidFill>
            <a:srgbClr val="FFFFFF"/>
          </a:solidFill>
          <a:ln/>
        </p:spPr>
        <p:txBody>
          <a:bodyPr/>
          <a:lstStyle/>
          <a:p>
            <a:endParaRPr lang="en-GB"/>
          </a:p>
        </p:txBody>
      </p:sp>
      <p:pic>
        <p:nvPicPr>
          <p:cNvPr id="5" name="Image 0" descr="Total lateral reaction versus displacement: the old bonded build rises to 29 kN, drops to 13.6 kN at the base bond failure and plateaus at 14.3 kN; the two new-build pushovers peak at 10 to 11 kN inside the test plateau band and the three-hinge range"/>
          <p:cNvPicPr>
            <a:picLocks noChangeAspect="1"/>
          </p:cNvPicPr>
          <p:nvPr/>
        </p:nvPicPr>
        <p:blipFill>
          <a:blip r:embed="rId3"/>
          <a:stretch>
            <a:fillRect/>
          </a:stretch>
        </p:blipFill>
        <p:spPr>
          <a:xfrm>
            <a:off x="1280714" y="1497605"/>
            <a:ext cx="9630500" cy="4338063"/>
          </a:xfrm>
          <a:prstGeom prst="rect">
            <a:avLst/>
          </a:prstGeom>
        </p:spPr>
      </p:pic>
      <p:sp>
        <p:nvSpPr>
          <p:cNvPr id="6" name="Shape 3"/>
          <p:cNvSpPr/>
          <p:nvPr/>
        </p:nvSpPr>
        <p:spPr>
          <a:xfrm>
            <a:off x="815940" y="1494430"/>
            <a:ext cx="10560048" cy="4344413"/>
          </a:xfrm>
          <a:prstGeom prst="roundRect">
            <a:avLst>
              <a:gd name="adj" fmla="val 2266"/>
            </a:avLst>
          </a:prstGeom>
          <a:noFill/>
          <a:ln w="6350">
            <a:solidFill>
              <a:srgbClr val="DDD8CC"/>
            </a:solidFill>
            <a:prstDash val="solid"/>
          </a:ln>
        </p:spPr>
        <p:txBody>
          <a:bodyPr/>
          <a:lstStyle/>
          <a:p>
            <a:endParaRPr lang="en-GB"/>
          </a:p>
        </p:txBody>
      </p:sp>
      <p:sp>
        <p:nvSpPr>
          <p:cNvPr id="7" name="Text 4"/>
          <p:cNvSpPr/>
          <p:nvPr/>
        </p:nvSpPr>
        <p:spPr>
          <a:xfrm>
            <a:off x="812765" y="6024931"/>
            <a:ext cx="11720584"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Arial" pitchFamily="34" charset="0"/>
                <a:ea typeface="Arial" pitchFamily="34" charset="-122"/>
                <a:cs typeface="Arial" pitchFamily="34" charset="-120"/>
              </a:rPr>
              <a:t>K1 6.1 / 5.3 / 5.1 kN/mm → T1 0.095 / 0.103 / 0.104 s · plateau 20–60 mm: 14.3 / – / 10.7 kN · top-joint shear plateaus at 6.8 / 3.7 kN (ratio 1.84 = ratio of top normal forces)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5" y="812763"/>
            <a:ext cx="10883436" cy="241826"/>
          </a:xfrm>
          <a:prstGeom prst="rect">
            <a:avLst/>
          </a:prstGeom>
          <a:noFill/>
          <a:ln/>
        </p:spPr>
        <p:txBody>
          <a:bodyPr wrap="square" lIns="0" tIns="0" rIns="0" bIns="0" rtlCol="0" anchor="t">
            <a:normAutofit/>
          </a:bodyPr>
          <a:lstStyle/>
          <a:p>
            <a:pPr marL="0" indent="0" algn="l">
              <a:lnSpc>
                <a:spcPts val="1723"/>
              </a:lnSpc>
              <a:buNone/>
            </a:pPr>
            <a:r>
              <a:rPr lang="en-US" sz="1231" b="1" kern="0" spc="100" dirty="0">
                <a:solidFill>
                  <a:srgbClr val="B4491A"/>
                </a:solidFill>
                <a:latin typeface="Arial" pitchFamily="34" charset="0"/>
                <a:ea typeface="Arial" pitchFamily="34" charset="-122"/>
                <a:cs typeface="Arial" pitchFamily="34" charset="-120"/>
              </a:rPr>
              <a:t>3 · DEFORMED SHAPE AT 81 MM (× 10)</a:t>
            </a:r>
            <a:endParaRPr lang="en-US" sz="1231" dirty="0"/>
          </a:p>
        </p:txBody>
      </p:sp>
      <p:sp>
        <p:nvSpPr>
          <p:cNvPr id="3" name="Text 1"/>
          <p:cNvSpPr>
            <a:spLocks noGrp="1"/>
          </p:cNvSpPr>
          <p:nvPr>
            <p:ph type="title"/>
          </p:nvPr>
        </p:nvSpPr>
        <p:spPr>
          <a:xfrm>
            <a:off x="812765" y="1206990"/>
            <a:ext cx="11379235" cy="914926"/>
          </a:xfrm>
          <a:prstGeom prst="rect">
            <a:avLst/>
          </a:prstGeom>
          <a:noFill/>
          <a:ln/>
        </p:spPr>
        <p:txBody>
          <a:bodyPr wrap="square" lIns="0" tIns="0" rIns="0" bIns="0" rtlCol="0" anchor="t">
            <a:normAutofit/>
          </a:bodyPr>
          <a:lstStyle/>
          <a:p>
            <a:pPr marL="0" indent="0" algn="l">
              <a:lnSpc>
                <a:spcPts val="3611"/>
              </a:lnSpc>
              <a:buNone/>
            </a:pPr>
            <a:r>
              <a:rPr lang="en-US" sz="3283" b="0" i="0" dirty="0">
                <a:solidFill>
                  <a:srgbClr val="1B2A3A"/>
                </a:solidFill>
                <a:latin typeface="Georgia" pitchFamily="18" charset="0"/>
                <a:ea typeface="Georgia" pitchFamily="18" charset="-122"/>
                <a:cs typeface="Georgia" pitchFamily="18" charset="-120"/>
              </a:rPr>
              <a:t>One rigid rotation about the base, sliding under the beam</a:t>
            </a:r>
            <a:endParaRPr lang="en-US" sz="3283" dirty="0"/>
          </a:p>
        </p:txBody>
      </p:sp>
      <p:sp>
        <p:nvSpPr>
          <p:cNvPr id="4" name="Shape 2"/>
          <p:cNvSpPr/>
          <p:nvPr/>
        </p:nvSpPr>
        <p:spPr>
          <a:xfrm>
            <a:off x="812765" y="2274311"/>
            <a:ext cx="6349955" cy="3809991"/>
          </a:xfrm>
          <a:prstGeom prst="roundRect">
            <a:avLst>
              <a:gd name="adj" fmla="val 2667"/>
            </a:avLst>
          </a:prstGeom>
          <a:solidFill>
            <a:srgbClr val="FFFFFF"/>
          </a:solidFill>
          <a:ln/>
        </p:spPr>
        <p:txBody>
          <a:bodyPr/>
          <a:lstStyle/>
          <a:p>
            <a:endParaRPr lang="en-GB"/>
          </a:p>
        </p:txBody>
      </p:sp>
      <p:pic>
        <p:nvPicPr>
          <p:cNvPr id="5" name="Image 0" descr="3DEC deformed shape, Z displacement contours: the wall leans as one straight body from the base, the top beam stays at zero, the upper joist moves with the wall, the lower joist stays on its support"/>
          <p:cNvPicPr>
            <a:picLocks noChangeAspect="1"/>
          </p:cNvPicPr>
          <p:nvPr/>
        </p:nvPicPr>
        <p:blipFill>
          <a:blip r:embed="rId3"/>
          <a:stretch>
            <a:fillRect/>
          </a:stretch>
        </p:blipFill>
        <p:spPr>
          <a:xfrm>
            <a:off x="918898" y="2280661"/>
            <a:ext cx="6137689" cy="3797291"/>
          </a:xfrm>
          <a:prstGeom prst="rect">
            <a:avLst/>
          </a:prstGeom>
        </p:spPr>
      </p:pic>
      <p:sp>
        <p:nvSpPr>
          <p:cNvPr id="6" name="Shape 3"/>
          <p:cNvSpPr/>
          <p:nvPr/>
        </p:nvSpPr>
        <p:spPr>
          <a:xfrm>
            <a:off x="815940" y="2277486"/>
            <a:ext cx="6343605" cy="3803641"/>
          </a:xfrm>
          <a:prstGeom prst="roundRect">
            <a:avLst>
              <a:gd name="adj" fmla="val 2588"/>
            </a:avLst>
          </a:prstGeom>
          <a:noFill/>
          <a:ln w="6350">
            <a:solidFill>
              <a:srgbClr val="DDD8CC"/>
            </a:solidFill>
            <a:prstDash val="solid"/>
          </a:ln>
        </p:spPr>
        <p:txBody>
          <a:bodyPr/>
          <a:lstStyle/>
          <a:p>
            <a:endParaRPr lang="en-GB"/>
          </a:p>
        </p:txBody>
      </p:sp>
      <p:pic>
        <p:nvPicPr>
          <p:cNvPr id="7" name="Image 1" descr="ellipse"/>
          <p:cNvPicPr>
            <a:picLocks noChangeAspect="1"/>
          </p:cNvPicPr>
          <p:nvPr/>
        </p:nvPicPr>
        <p:blipFill>
          <a:blip r:embed="rId4"/>
          <a:srcRect/>
          <a:stretch/>
        </p:blipFill>
        <p:spPr>
          <a:xfrm>
            <a:off x="7467502" y="2274311"/>
            <a:ext cx="126985" cy="126985"/>
          </a:xfrm>
          <a:prstGeom prst="rect">
            <a:avLst/>
          </a:prstGeom>
        </p:spPr>
      </p:pic>
      <p:sp>
        <p:nvSpPr>
          <p:cNvPr id="8" name="Text 4"/>
          <p:cNvSpPr/>
          <p:nvPr/>
        </p:nvSpPr>
        <p:spPr>
          <a:xfrm>
            <a:off x="7696065" y="2274311"/>
            <a:ext cx="3793637" cy="1020988"/>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A3A"/>
                </a:solidFill>
                <a:latin typeface="Arial" pitchFamily="34" charset="0"/>
                <a:ea typeface="Arial" pitchFamily="34" charset="-122"/>
                <a:cs typeface="Arial" pitchFamily="34" charset="-120"/>
              </a:rPr>
              <a:t>Straight wall, hinge at the base.</a:t>
            </a:r>
            <a:r>
              <a:rPr lang="en-US" sz="1400" dirty="0">
                <a:solidFill>
                  <a:srgbClr val="1B2A3A"/>
                </a:solidFill>
                <a:latin typeface="Arial" pitchFamily="34" charset="0"/>
                <a:ea typeface="Arial" pitchFamily="34" charset="-122"/>
                <a:cs typeface="Arial" pitchFamily="34" charset="-120"/>
              </a:rPr>
              <a:t> Displacement grows linearly with height: no mid-height hinge, unlike the test’s bulged Fig. 15 shapes.</a:t>
            </a:r>
            <a:endParaRPr lang="en-US" sz="1400" dirty="0"/>
          </a:p>
        </p:txBody>
      </p:sp>
      <p:pic>
        <p:nvPicPr>
          <p:cNvPr id="9" name="Image 2" descr="ellipse"/>
          <p:cNvPicPr>
            <a:picLocks noChangeAspect="1"/>
          </p:cNvPicPr>
          <p:nvPr/>
        </p:nvPicPr>
        <p:blipFill>
          <a:blip r:embed="rId5"/>
          <a:srcRect/>
          <a:stretch/>
        </p:blipFill>
        <p:spPr>
          <a:xfrm>
            <a:off x="7467502" y="3447697"/>
            <a:ext cx="126985" cy="126985"/>
          </a:xfrm>
          <a:prstGeom prst="rect">
            <a:avLst/>
          </a:prstGeom>
        </p:spPr>
      </p:pic>
      <p:sp>
        <p:nvSpPr>
          <p:cNvPr id="10" name="Text 5"/>
          <p:cNvSpPr/>
          <p:nvPr/>
        </p:nvSpPr>
        <p:spPr>
          <a:xfrm>
            <a:off x="7696065" y="3447697"/>
            <a:ext cx="3793637" cy="1020988"/>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A3A"/>
                </a:solidFill>
                <a:latin typeface="Arial" pitchFamily="34" charset="0"/>
                <a:ea typeface="Arial" pitchFamily="34" charset="-122"/>
                <a:cs typeface="Arial" pitchFamily="34" charset="-120"/>
              </a:rPr>
              <a:t>Top course slides under the fixed beam.</a:t>
            </a:r>
            <a:r>
              <a:rPr lang="en-US" sz="1400" dirty="0">
                <a:solidFill>
                  <a:srgbClr val="1B2A3A"/>
                </a:solidFill>
                <a:latin typeface="Arial" pitchFamily="34" charset="0"/>
                <a:ea typeface="Arial" pitchFamily="34" charset="-122"/>
                <a:cs typeface="Arial" pitchFamily="34" charset="-120"/>
              </a:rPr>
              <a:t> The beam stays at zero; the top joint carries 3.7–6.8 kN of friction. That is the F_top plateau.</a:t>
            </a:r>
            <a:endParaRPr lang="en-US" sz="1400" dirty="0"/>
          </a:p>
        </p:txBody>
      </p:sp>
      <p:pic>
        <p:nvPicPr>
          <p:cNvPr id="11" name="Image 3" descr="ellipse"/>
          <p:cNvPicPr>
            <a:picLocks noChangeAspect="1"/>
          </p:cNvPicPr>
          <p:nvPr/>
        </p:nvPicPr>
        <p:blipFill>
          <a:blip r:embed="rId6"/>
          <a:srcRect/>
          <a:stretch/>
        </p:blipFill>
        <p:spPr>
          <a:xfrm>
            <a:off x="7467502" y="4621082"/>
            <a:ext cx="126985" cy="126985"/>
          </a:xfrm>
          <a:prstGeom prst="rect">
            <a:avLst/>
          </a:prstGeom>
        </p:spPr>
      </p:pic>
      <p:sp>
        <p:nvSpPr>
          <p:cNvPr id="12" name="Text 6"/>
          <p:cNvSpPr/>
          <p:nvPr/>
        </p:nvSpPr>
        <p:spPr>
          <a:xfrm>
            <a:off x="7696065" y="4621082"/>
            <a:ext cx="3793637" cy="77209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A3A"/>
                </a:solidFill>
                <a:latin typeface="Arial" pitchFamily="34" charset="0"/>
                <a:ea typeface="Arial" pitchFamily="34" charset="-122"/>
                <a:cs typeface="Arial" pitchFamily="34" charset="-120"/>
              </a:rPr>
              <a:t>Upper joist travels with the wall, 80 mm along its support.</a:t>
            </a:r>
            <a:r>
              <a:rPr lang="en-US" sz="1400" dirty="0">
                <a:solidFill>
                  <a:srgbClr val="1B2A3A"/>
                </a:solidFill>
                <a:latin typeface="Arial" pitchFamily="34" charset="0"/>
                <a:ea typeface="Arial" pitchFamily="34" charset="-122"/>
                <a:cs typeface="Arial" pitchFamily="34" charset="-120"/>
              </a:rPr>
              <a:t> The lower joist stays. The pocket drags one joist and releases the other.</a:t>
            </a:r>
            <a:endParaRPr lang="en-US" sz="1400" dirty="0"/>
          </a:p>
        </p:txBody>
      </p:sp>
      <p:sp>
        <p:nvSpPr>
          <p:cNvPr id="13" name="Text 7"/>
          <p:cNvSpPr/>
          <p:nvPr/>
        </p:nvSpPr>
        <p:spPr>
          <a:xfrm>
            <a:off x="812765" y="6238280"/>
            <a:ext cx="11665636"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Arial" pitchFamily="34" charset="0"/>
                <a:ea typeface="Arial" pitchFamily="34" charset="-122"/>
                <a:cs typeface="Arial" pitchFamily="34" charset="-120"/>
              </a:rPr>
              <a:t>Block Z displacement, deformed factor 10, old build at the end of the gravity-tilt push · the mechanism to compare against Fig. 15 before trusting the three-hinge reading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5" y="812763"/>
            <a:ext cx="10883436" cy="256545"/>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491A"/>
                </a:solidFill>
                <a:latin typeface="Arial" pitchFamily="34" charset="0"/>
                <a:ea typeface="Arial" pitchFamily="34" charset="-122"/>
                <a:cs typeface="Arial" pitchFamily="34" charset="-120"/>
              </a:rPr>
              <a:t>4 · WHY A SINGLE T_EFF FAILS ON THIS CURVE</a:t>
            </a:r>
            <a:endParaRPr lang="en-US" sz="1300" dirty="0"/>
          </a:p>
        </p:txBody>
      </p:sp>
      <p:sp>
        <p:nvSpPr>
          <p:cNvPr id="3" name="Text 1"/>
          <p:cNvSpPr>
            <a:spLocks noGrp="1"/>
          </p:cNvSpPr>
          <p:nvPr>
            <p:ph type="title"/>
          </p:nvPr>
        </p:nvSpPr>
        <p:spPr>
          <a:xfrm>
            <a:off x="812765" y="1297874"/>
            <a:ext cx="10883436" cy="500370"/>
          </a:xfrm>
          <a:prstGeom prst="rect">
            <a:avLst/>
          </a:prstGeom>
          <a:noFill/>
          <a:ln/>
        </p:spPr>
        <p:txBody>
          <a:bodyPr wrap="square" lIns="0" tIns="0" rIns="0" bIns="0" rtlCol="0" anchor="t">
            <a:normAutofit/>
          </a:bodyPr>
          <a:lstStyle/>
          <a:p>
            <a:pPr marL="0" indent="0" algn="l">
              <a:lnSpc>
                <a:spcPts val="3740"/>
              </a:lnSpc>
              <a:buNone/>
            </a:pPr>
            <a:r>
              <a:rPr lang="en-US" sz="3400" b="0" i="0" dirty="0">
                <a:solidFill>
                  <a:srgbClr val="1B2A3A"/>
                </a:solidFill>
                <a:latin typeface="Georgia" pitchFamily="18" charset="0"/>
                <a:ea typeface="Georgia" pitchFamily="18" charset="-122"/>
                <a:cs typeface="Georgia" pitchFamily="18" charset="-120"/>
              </a:rPr>
              <a:t>The bilinear gives T_eff = 0.73 s for every run</a:t>
            </a:r>
            <a:endParaRPr lang="en-US" sz="3400" dirty="0"/>
          </a:p>
        </p:txBody>
      </p:sp>
      <p:sp>
        <p:nvSpPr>
          <p:cNvPr id="4" name="Text 2"/>
          <p:cNvSpPr/>
          <p:nvPr/>
        </p:nvSpPr>
        <p:spPr>
          <a:xfrm>
            <a:off x="812765" y="2026816"/>
            <a:ext cx="4944709" cy="25654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A7179"/>
                </a:solidFill>
                <a:latin typeface="Arial" pitchFamily="34" charset="0"/>
                <a:ea typeface="Arial" pitchFamily="34" charset="-122"/>
                <a:cs typeface="Arial" pitchFamily="34" charset="-120"/>
              </a:rPr>
              <a:t>Ductility-based period</a:t>
            </a:r>
            <a:endParaRPr lang="en-US" sz="1300" dirty="0"/>
          </a:p>
        </p:txBody>
      </p:sp>
      <p:sp>
        <p:nvSpPr>
          <p:cNvPr id="5" name="Text 3"/>
          <p:cNvSpPr/>
          <p:nvPr/>
        </p:nvSpPr>
        <p:spPr>
          <a:xfrm>
            <a:off x="812765" y="2296046"/>
            <a:ext cx="4944709" cy="406399"/>
          </a:xfrm>
          <a:prstGeom prst="rect">
            <a:avLst/>
          </a:prstGeom>
          <a:noFill/>
          <a:ln/>
        </p:spPr>
        <p:txBody>
          <a:bodyPr wrap="square" lIns="0" tIns="0" rIns="0" bIns="0" rtlCol="0" anchor="t">
            <a:normAutofit/>
          </a:bodyPr>
          <a:lstStyle/>
          <a:p>
            <a:pPr marL="0" indent="0" algn="l">
              <a:lnSpc>
                <a:spcPts val="3000"/>
              </a:lnSpc>
              <a:buNone/>
            </a:pPr>
            <a:r>
              <a:rPr lang="en-US" sz="3000" dirty="0">
                <a:solidFill>
                  <a:srgbClr val="1B2A3A"/>
                </a:solidFill>
                <a:latin typeface="Georgia" pitchFamily="18" charset="0"/>
                <a:ea typeface="Georgia" pitchFamily="18" charset="-122"/>
                <a:cs typeface="Georgia" pitchFamily="18" charset="-120"/>
              </a:rPr>
              <a:t>T_eff = T1·√μ</a:t>
            </a:r>
            <a:endParaRPr lang="en-US" sz="3000" dirty="0"/>
          </a:p>
        </p:txBody>
      </p:sp>
      <p:sp>
        <p:nvSpPr>
          <p:cNvPr id="6" name="Text 4"/>
          <p:cNvSpPr/>
          <p:nvPr/>
        </p:nvSpPr>
        <p:spPr>
          <a:xfrm>
            <a:off x="812765" y="2715133"/>
            <a:ext cx="4944709" cy="505442"/>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A5568"/>
                </a:solidFill>
                <a:latin typeface="Arial" pitchFamily="34" charset="0"/>
                <a:ea typeface="Arial" pitchFamily="34" charset="-122"/>
                <a:cs typeface="Arial" pitchFamily="34" charset="-120"/>
              </a:rPr>
              <a:t>d_y 2.5 mm, d_u 75 mm → μ ≈ 30 → 0.7 s. Right for a run that reaches d_u; meaningless for run 1 at 0.4 mm.</a:t>
            </a:r>
            <a:endParaRPr lang="en-US" sz="1350" dirty="0"/>
          </a:p>
        </p:txBody>
      </p:sp>
      <p:sp>
        <p:nvSpPr>
          <p:cNvPr id="7" name="Text 5"/>
          <p:cNvSpPr/>
          <p:nvPr/>
        </p:nvSpPr>
        <p:spPr>
          <a:xfrm>
            <a:off x="812765" y="3372972"/>
            <a:ext cx="4944709" cy="25654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A7179"/>
                </a:solidFill>
                <a:latin typeface="Arial" pitchFamily="34" charset="0"/>
                <a:ea typeface="Arial" pitchFamily="34" charset="-122"/>
                <a:cs typeface="Arial" pitchFamily="34" charset="-120"/>
              </a:rPr>
              <a:t>On a rocking backbone</a:t>
            </a:r>
            <a:endParaRPr lang="en-US" sz="1300" dirty="0"/>
          </a:p>
        </p:txBody>
      </p:sp>
      <p:sp>
        <p:nvSpPr>
          <p:cNvPr id="8" name="Text 6"/>
          <p:cNvSpPr/>
          <p:nvPr/>
        </p:nvSpPr>
        <p:spPr>
          <a:xfrm>
            <a:off x="812765" y="3642202"/>
            <a:ext cx="4944709" cy="505442"/>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A5568"/>
                </a:solidFill>
                <a:latin typeface="Arial" pitchFamily="34" charset="0"/>
                <a:ea typeface="Arial" pitchFamily="34" charset="-122"/>
                <a:cs typeface="Arial" pitchFamily="34" charset="-120"/>
              </a:rPr>
              <a:t>No yield point: the secant period runs continuously from 0.10 to 0.73 s. A single μ is arbitrary.</a:t>
            </a:r>
            <a:endParaRPr lang="en-US" sz="1350" dirty="0"/>
          </a:p>
        </p:txBody>
      </p:sp>
      <p:sp>
        <p:nvSpPr>
          <p:cNvPr id="9" name="Text 7"/>
          <p:cNvSpPr/>
          <p:nvPr/>
        </p:nvSpPr>
        <p:spPr>
          <a:xfrm>
            <a:off x="812765" y="4300041"/>
            <a:ext cx="4944709" cy="505442"/>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1B2A3A"/>
                </a:solidFill>
                <a:latin typeface="Arial" pitchFamily="34" charset="0"/>
                <a:ea typeface="Arial" pitchFamily="34" charset="-122"/>
                <a:cs typeface="Arial" pitchFamily="34" charset="-120"/>
              </a:rPr>
              <a:t>Kept in the paper as the standard N2-style variant — with this table as the reason it cannot work here.</a:t>
            </a:r>
            <a:endParaRPr lang="en-US" sz="1350" dirty="0"/>
          </a:p>
        </p:txBody>
      </p:sp>
      <p:sp>
        <p:nvSpPr>
          <p:cNvPr id="10" name="Shape 8"/>
          <p:cNvSpPr/>
          <p:nvPr/>
        </p:nvSpPr>
        <p:spPr>
          <a:xfrm>
            <a:off x="5918235" y="2026816"/>
            <a:ext cx="5460972" cy="2618763"/>
          </a:xfrm>
          <a:prstGeom prst="rect">
            <a:avLst/>
          </a:prstGeom>
          <a:solidFill>
            <a:srgbClr val="FFFFFF"/>
          </a:solidFill>
          <a:ln/>
        </p:spPr>
        <p:txBody>
          <a:bodyPr/>
          <a:lstStyle/>
          <a:p>
            <a:endParaRPr lang="en-GB"/>
          </a:p>
        </p:txBody>
      </p:sp>
      <p:sp>
        <p:nvSpPr>
          <p:cNvPr id="11" name="Shape 9"/>
          <p:cNvSpPr/>
          <p:nvPr/>
        </p:nvSpPr>
        <p:spPr>
          <a:xfrm>
            <a:off x="11376032" y="2026816"/>
            <a:ext cx="0" cy="2618763"/>
          </a:xfrm>
          <a:prstGeom prst="line">
            <a:avLst/>
          </a:prstGeom>
          <a:noFill/>
          <a:ln w="6350">
            <a:solidFill>
              <a:srgbClr val="DDD8CC"/>
            </a:solidFill>
            <a:prstDash val="solid"/>
          </a:ln>
        </p:spPr>
        <p:txBody>
          <a:bodyPr/>
          <a:lstStyle/>
          <a:p>
            <a:endParaRPr lang="en-GB"/>
          </a:p>
        </p:txBody>
      </p:sp>
      <p:sp>
        <p:nvSpPr>
          <p:cNvPr id="12" name="Shape 10"/>
          <p:cNvSpPr/>
          <p:nvPr/>
        </p:nvSpPr>
        <p:spPr>
          <a:xfrm>
            <a:off x="5918235" y="4642404"/>
            <a:ext cx="5460972" cy="0"/>
          </a:xfrm>
          <a:prstGeom prst="line">
            <a:avLst/>
          </a:prstGeom>
          <a:noFill/>
          <a:ln w="6350">
            <a:solidFill>
              <a:srgbClr val="DDD8CC"/>
            </a:solidFill>
            <a:prstDash val="solid"/>
          </a:ln>
        </p:spPr>
        <p:txBody>
          <a:bodyPr/>
          <a:lstStyle/>
          <a:p>
            <a:endParaRPr lang="en-GB"/>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929828" y="2038409"/>
          <a:ext cx="5443583" cy="2601375"/>
        </p:xfrm>
        <a:graphic>
          <a:graphicData uri="http://schemas.openxmlformats.org/drawingml/2006/table">
            <a:tbl>
              <a:tblPr/>
              <a:tblGrid>
                <a:gridCol w="762102">
                  <a:extLst>
                    <a:ext uri="{9D8B030D-6E8A-4147-A177-3AD203B41FA5}">
                      <a16:colId xmlns:a16="http://schemas.microsoft.com/office/drawing/2014/main" val="20000"/>
                    </a:ext>
                  </a:extLst>
                </a:gridCol>
                <a:gridCol w="1633075">
                  <a:extLst>
                    <a:ext uri="{9D8B030D-6E8A-4147-A177-3AD203B41FA5}">
                      <a16:colId xmlns:a16="http://schemas.microsoft.com/office/drawing/2014/main" val="20001"/>
                    </a:ext>
                  </a:extLst>
                </a:gridCol>
                <a:gridCol w="1306460">
                  <a:extLst>
                    <a:ext uri="{9D8B030D-6E8A-4147-A177-3AD203B41FA5}">
                      <a16:colId xmlns:a16="http://schemas.microsoft.com/office/drawing/2014/main" val="20002"/>
                    </a:ext>
                  </a:extLst>
                </a:gridCol>
                <a:gridCol w="1741946">
                  <a:extLst>
                    <a:ext uri="{9D8B030D-6E8A-4147-A177-3AD203B41FA5}">
                      <a16:colId xmlns:a16="http://schemas.microsoft.com/office/drawing/2014/main" val="20003"/>
                    </a:ext>
                  </a:extLst>
                </a:gridCol>
              </a:tblGrid>
              <a:tr h="371625">
                <a:tc>
                  <a:txBody>
                    <a:bodyPr/>
                    <a:lstStyle/>
                    <a:p>
                      <a:pPr marL="0" indent="0">
                        <a:lnSpc>
                          <a:spcPts val="1890"/>
                        </a:lnSpc>
                        <a:buNone/>
                      </a:pPr>
                      <a:r>
                        <a:rPr lang="en-US" sz="1350" b="1" dirty="0">
                          <a:solidFill>
                            <a:srgbClr val="F6F4EE"/>
                          </a:solidFill>
                          <a:latin typeface="Arial" pitchFamily="34" charset="0"/>
                          <a:ea typeface="Arial" pitchFamily="34" charset="-122"/>
                          <a:cs typeface="Arial" pitchFamily="34" charset="-120"/>
                        </a:rPr>
                        <a:t>Run</a:t>
                      </a:r>
                      <a:endParaRPr lang="en-US" sz="1350" dirty="0">
                        <a:latin typeface="Arial" charset="0"/>
                        <a:ea typeface="Arial" charset="0"/>
                        <a:cs typeface="Arial"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1925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1"/>
                      </a:solidFill>
                      <a:prstDash val="solid"/>
                      <a:round/>
                      <a:headEnd type="none" w="med" len="med"/>
                      <a:tailEnd type="none" w="med" len="med"/>
                    </a:lnB>
                    <a:solidFill>
                      <a:srgbClr val="1B2A3A"/>
                    </a:solidFill>
                  </a:tcPr>
                </a:tc>
                <a:tc>
                  <a:txBody>
                    <a:bodyPr/>
                    <a:lstStyle/>
                    <a:p>
                      <a:pPr marL="0" indent="0">
                        <a:lnSpc>
                          <a:spcPts val="1890"/>
                        </a:lnSpc>
                        <a:buNone/>
                      </a:pPr>
                      <a:r>
                        <a:rPr lang="en-US" sz="1350" b="1" dirty="0">
                          <a:solidFill>
                            <a:srgbClr val="F6F4EE"/>
                          </a:solidFill>
                          <a:latin typeface="Arial" pitchFamily="34" charset="0"/>
                          <a:ea typeface="Arial" pitchFamily="34" charset="-122"/>
                          <a:cs typeface="Arial" pitchFamily="34" charset="-120"/>
                        </a:rPr>
                        <a:t>Record × s</a:t>
                      </a:r>
                      <a:endParaRPr lang="en-US" sz="1350" dirty="0">
                        <a:latin typeface="Arial" charset="0"/>
                        <a:ea typeface="Arial" charset="0"/>
                        <a:cs typeface="Arial" charset="0"/>
                      </a:endParaRPr>
                    </a:p>
                  </a:txBody>
                  <a:tcPr marL="60007" marR="60007" marT="60007" marB="60007">
                    <a:lnL w="12700" cap="flat" cmpd="sng" algn="ctr">
                      <a:solidFill>
                        <a:srgbClr val="192531"/>
                      </a:solidFill>
                      <a:prstDash val="solid"/>
                      <a:round/>
                      <a:headEnd type="none" w="med" len="med"/>
                      <a:tailEnd type="none" w="med" len="med"/>
                    </a:lnL>
                    <a:lnR w="12700" cap="flat" cmpd="sng" algn="ctr">
                      <a:solidFill>
                        <a:srgbClr val="1925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1"/>
                      </a:solidFill>
                      <a:prstDash val="solid"/>
                      <a:round/>
                      <a:headEnd type="none" w="med" len="med"/>
                      <a:tailEnd type="none" w="med" len="med"/>
                    </a:lnB>
                    <a:solidFill>
                      <a:srgbClr val="1B2A3A"/>
                    </a:solidFill>
                  </a:tcPr>
                </a:tc>
                <a:tc>
                  <a:txBody>
                    <a:bodyPr/>
                    <a:lstStyle/>
                    <a:p>
                      <a:pPr marL="0" indent="0" algn="r">
                        <a:lnSpc>
                          <a:spcPts val="1890"/>
                        </a:lnSpc>
                        <a:buNone/>
                      </a:pPr>
                      <a:r>
                        <a:rPr lang="en-US" sz="1350" b="1" dirty="0">
                          <a:solidFill>
                            <a:srgbClr val="F6F4EE"/>
                          </a:solidFill>
                          <a:latin typeface="Arial" pitchFamily="34" charset="0"/>
                          <a:ea typeface="Arial" pitchFamily="34" charset="-122"/>
                          <a:cs typeface="Arial" pitchFamily="34" charset="-120"/>
                        </a:rPr>
                        <a:t>d* (mm)</a:t>
                      </a:r>
                      <a:endParaRPr lang="en-US" sz="1350" dirty="0">
                        <a:latin typeface="Arial" charset="0"/>
                        <a:ea typeface="Arial" charset="0"/>
                        <a:cs typeface="Arial" charset="0"/>
                      </a:endParaRPr>
                    </a:p>
                  </a:txBody>
                  <a:tcPr marL="60007" marR="60007" marT="60007" marB="60007">
                    <a:lnL w="12700" cap="flat" cmpd="sng" algn="ctr">
                      <a:solidFill>
                        <a:srgbClr val="192531"/>
                      </a:solidFill>
                      <a:prstDash val="solid"/>
                      <a:round/>
                      <a:headEnd type="none" w="med" len="med"/>
                      <a:tailEnd type="none" w="med" len="med"/>
                    </a:lnL>
                    <a:lnR w="12700" cap="flat" cmpd="sng" algn="ctr">
                      <a:solidFill>
                        <a:srgbClr val="1925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1"/>
                      </a:solidFill>
                      <a:prstDash val="solid"/>
                      <a:round/>
                      <a:headEnd type="none" w="med" len="med"/>
                      <a:tailEnd type="none" w="med" len="med"/>
                    </a:lnB>
                    <a:solidFill>
                      <a:srgbClr val="1B2A3A"/>
                    </a:solidFill>
                  </a:tcPr>
                </a:tc>
                <a:tc>
                  <a:txBody>
                    <a:bodyPr/>
                    <a:lstStyle/>
                    <a:p>
                      <a:pPr marL="0" indent="0" algn="r">
                        <a:lnSpc>
                          <a:spcPts val="1890"/>
                        </a:lnSpc>
                        <a:buNone/>
                      </a:pPr>
                      <a:r>
                        <a:rPr lang="en-US" sz="1350" b="1" dirty="0">
                          <a:solidFill>
                            <a:srgbClr val="F6F4EE"/>
                          </a:solidFill>
                          <a:latin typeface="Arial" pitchFamily="34" charset="0"/>
                          <a:ea typeface="Arial" pitchFamily="34" charset="-122"/>
                          <a:cs typeface="Arial" pitchFamily="34" charset="-120"/>
                        </a:rPr>
                        <a:t>s·Sd(0.73 s)</a:t>
                      </a:r>
                      <a:endParaRPr lang="en-US" sz="1350" dirty="0">
                        <a:latin typeface="Arial" charset="0"/>
                        <a:ea typeface="Arial" charset="0"/>
                        <a:cs typeface="Arial" charset="0"/>
                      </a:endParaRPr>
                    </a:p>
                  </a:txBody>
                  <a:tcPr marL="60007" marR="60007" marT="60007" marB="60007">
                    <a:lnL w="12700" cap="flat" cmpd="sng" algn="ctr">
                      <a:solidFill>
                        <a:srgbClr val="192531"/>
                      </a:solidFill>
                      <a:prstDash val="solid"/>
                      <a:round/>
                      <a:headEnd type="none" w="med" len="med"/>
                      <a:tailEnd type="none" w="med" len="med"/>
                    </a:lnL>
                    <a:lnR w="12700" cap="flat" cmpd="sng" algn="ctr">
                      <a:solidFill>
                        <a:srgbClr val="1925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1"/>
                      </a:solidFill>
                      <a:prstDash val="solid"/>
                      <a:round/>
                      <a:headEnd type="none" w="med" len="med"/>
                      <a:tailEnd type="none" w="med" len="med"/>
                    </a:lnB>
                    <a:solidFill>
                      <a:srgbClr val="1B2A3A"/>
                    </a:solidFill>
                  </a:tcPr>
                </a:tc>
                <a:extLst>
                  <a:ext uri="{0D108BD9-81ED-4DB2-BD59-A6C34878D82A}">
                    <a16:rowId xmlns:a16="http://schemas.microsoft.com/office/drawing/2014/main" val="10000"/>
                  </a:ext>
                </a:extLst>
              </a:tr>
              <a:tr h="371625">
                <a:tc>
                  <a:txBody>
                    <a:bodyPr/>
                    <a:lstStyle/>
                    <a:p>
                      <a:pPr marL="0" indent="0">
                        <a:lnSpc>
                          <a:spcPts val="1890"/>
                        </a:lnSpc>
                        <a:buNone/>
                      </a:pPr>
                      <a:r>
                        <a:rPr lang="en-US" sz="1350" dirty="0">
                          <a:solidFill>
                            <a:srgbClr val="1B2A3A"/>
                          </a:solidFill>
                          <a:latin typeface="Arial" pitchFamily="34" charset="0"/>
                          <a:ea typeface="Arial" pitchFamily="34" charset="-122"/>
                          <a:cs typeface="Arial" pitchFamily="34" charset="-120"/>
                        </a:rPr>
                        <a:t>1</a:t>
                      </a:r>
                      <a:endParaRPr lang="en-US" sz="1350" dirty="0">
                        <a:latin typeface="Arial" charset="0"/>
                        <a:ea typeface="Arial" charset="0"/>
                        <a:cs typeface="Arial"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90"/>
                        </a:lnSpc>
                        <a:buNone/>
                      </a:pPr>
                      <a:r>
                        <a:rPr lang="en-US" sz="1350" dirty="0">
                          <a:solidFill>
                            <a:srgbClr val="1B2A3A"/>
                          </a:solidFill>
                          <a:latin typeface="Arial" pitchFamily="34" charset="0"/>
                          <a:ea typeface="Arial" pitchFamily="34" charset="-122"/>
                          <a:cs typeface="Arial" pitchFamily="34" charset="-120"/>
                        </a:rPr>
                        <a:t>HU12 × 0.5</a:t>
                      </a:r>
                      <a:endParaRPr lang="en-US" sz="1350" dirty="0">
                        <a:latin typeface="Arial" charset="0"/>
                        <a:ea typeface="Arial" charset="0"/>
                        <a:cs typeface="Arial"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90"/>
                        </a:lnSpc>
                        <a:buNone/>
                      </a:pPr>
                      <a:r>
                        <a:rPr lang="en-US" sz="1350" dirty="0">
                          <a:solidFill>
                            <a:srgbClr val="1B2A3A"/>
                          </a:solidFill>
                          <a:latin typeface="Arial" pitchFamily="34" charset="0"/>
                          <a:ea typeface="Arial" pitchFamily="34" charset="-122"/>
                          <a:cs typeface="Arial" pitchFamily="34" charset="-120"/>
                        </a:rPr>
                        <a:t>0.45</a:t>
                      </a:r>
                      <a:endParaRPr lang="en-US" sz="1350" dirty="0">
                        <a:latin typeface="Arial" charset="0"/>
                        <a:ea typeface="Arial" charset="0"/>
                        <a:cs typeface="Arial"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90"/>
                        </a:lnSpc>
                        <a:buNone/>
                      </a:pPr>
                      <a:r>
                        <a:rPr lang="en-US" sz="1350" dirty="0">
                          <a:solidFill>
                            <a:srgbClr val="1B2A3A"/>
                          </a:solidFill>
                          <a:latin typeface="Arial" pitchFamily="34" charset="0"/>
                          <a:ea typeface="Arial" pitchFamily="34" charset="-122"/>
                          <a:cs typeface="Arial" pitchFamily="34" charset="-120"/>
                        </a:rPr>
                        <a:t>1.8</a:t>
                      </a:r>
                      <a:endParaRPr lang="en-US" sz="1350" dirty="0">
                        <a:latin typeface="Arial" charset="0"/>
                        <a:ea typeface="Arial" charset="0"/>
                        <a:cs typeface="Arial"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71625">
                <a:tc>
                  <a:txBody>
                    <a:bodyPr/>
                    <a:lstStyle/>
                    <a:p>
                      <a:pPr marL="0" indent="0">
                        <a:lnSpc>
                          <a:spcPts val="1890"/>
                        </a:lnSpc>
                        <a:buNone/>
                      </a:pPr>
                      <a:r>
                        <a:rPr lang="en-US" sz="1350" dirty="0">
                          <a:solidFill>
                            <a:srgbClr val="1B2A3A"/>
                          </a:solidFill>
                          <a:latin typeface="Arial" pitchFamily="34" charset="0"/>
                          <a:ea typeface="Arial" pitchFamily="34" charset="-122"/>
                          <a:cs typeface="Arial" pitchFamily="34" charset="-120"/>
                        </a:rPr>
                        <a:t>3</a:t>
                      </a:r>
                      <a:endParaRPr lang="en-US" sz="1350" dirty="0">
                        <a:latin typeface="Arial" charset="0"/>
                        <a:ea typeface="Arial" charset="0"/>
                        <a:cs typeface="Arial"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890"/>
                        </a:lnSpc>
                        <a:buNone/>
                      </a:pPr>
                      <a:r>
                        <a:rPr lang="en-US" sz="1350" dirty="0">
                          <a:solidFill>
                            <a:srgbClr val="1B2A3A"/>
                          </a:solidFill>
                          <a:latin typeface="Arial" pitchFamily="34" charset="0"/>
                          <a:ea typeface="Arial" pitchFamily="34" charset="-122"/>
                          <a:cs typeface="Arial" pitchFamily="34" charset="-120"/>
                        </a:rPr>
                        <a:t>EC40 × 0.2</a:t>
                      </a:r>
                      <a:endParaRPr lang="en-US" sz="1350" dirty="0">
                        <a:latin typeface="Arial" charset="0"/>
                        <a:ea typeface="Arial" charset="0"/>
                        <a:cs typeface="Arial" charset="0"/>
                      </a:endParaRPr>
                    </a:p>
                  </a:txBody>
                  <a:tcPr marL="60007" marR="60007" marT="60007" marB="60007">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890"/>
                        </a:lnSpc>
                        <a:buNone/>
                      </a:pPr>
                      <a:r>
                        <a:rPr lang="en-US" sz="1350" dirty="0">
                          <a:solidFill>
                            <a:srgbClr val="1B2A3A"/>
                          </a:solidFill>
                          <a:latin typeface="Arial" pitchFamily="34" charset="0"/>
                          <a:ea typeface="Arial" pitchFamily="34" charset="-122"/>
                          <a:cs typeface="Arial" pitchFamily="34" charset="-120"/>
                        </a:rPr>
                        <a:t>0.40</a:t>
                      </a:r>
                      <a:endParaRPr lang="en-US" sz="1350" dirty="0">
                        <a:latin typeface="Arial" charset="0"/>
                        <a:ea typeface="Arial" charset="0"/>
                        <a:cs typeface="Arial" charset="0"/>
                      </a:endParaRPr>
                    </a:p>
                  </a:txBody>
                  <a:tcPr marL="60007" marR="60007" marT="60007" marB="60007">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890"/>
                        </a:lnSpc>
                        <a:buNone/>
                      </a:pPr>
                      <a:r>
                        <a:rPr lang="en-US" sz="1350" dirty="0">
                          <a:solidFill>
                            <a:srgbClr val="B4491A"/>
                          </a:solidFill>
                          <a:latin typeface="Arial" pitchFamily="34" charset="0"/>
                          <a:ea typeface="Arial" pitchFamily="34" charset="-122"/>
                          <a:cs typeface="Arial" pitchFamily="34" charset="-120"/>
                        </a:rPr>
                        <a:t>14.6</a:t>
                      </a:r>
                      <a:endParaRPr lang="en-US" sz="1350" dirty="0">
                        <a:latin typeface="Arial" charset="0"/>
                        <a:ea typeface="Arial" charset="0"/>
                        <a:cs typeface="Arial" charset="0"/>
                      </a:endParaRPr>
                    </a:p>
                  </a:txBody>
                  <a:tcPr marL="60007" marR="60007" marT="60007" marB="60007">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2"/>
                  </a:ext>
                </a:extLst>
              </a:tr>
              <a:tr h="371625">
                <a:tc>
                  <a:txBody>
                    <a:bodyPr/>
                    <a:lstStyle/>
                    <a:p>
                      <a:pPr marL="0" indent="0">
                        <a:lnSpc>
                          <a:spcPts val="1890"/>
                        </a:lnSpc>
                        <a:buNone/>
                      </a:pPr>
                      <a:r>
                        <a:rPr lang="en-US" sz="1350" dirty="0">
                          <a:solidFill>
                            <a:srgbClr val="1B2A3A"/>
                          </a:solidFill>
                          <a:latin typeface="Arial" pitchFamily="34" charset="0"/>
                          <a:ea typeface="Arial" pitchFamily="34" charset="-122"/>
                          <a:cs typeface="Arial" pitchFamily="34" charset="-120"/>
                        </a:rPr>
                        <a:t>11</a:t>
                      </a:r>
                      <a:endParaRPr lang="en-US" sz="1350" dirty="0">
                        <a:latin typeface="Arial" charset="0"/>
                        <a:ea typeface="Arial" charset="0"/>
                        <a:cs typeface="Arial"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90"/>
                        </a:lnSpc>
                        <a:buNone/>
                      </a:pPr>
                      <a:r>
                        <a:rPr lang="en-US" sz="1350" dirty="0">
                          <a:solidFill>
                            <a:srgbClr val="1B2A3A"/>
                          </a:solidFill>
                          <a:latin typeface="Arial" pitchFamily="34" charset="0"/>
                          <a:ea typeface="Arial" pitchFamily="34" charset="-122"/>
                          <a:cs typeface="Arial" pitchFamily="34" charset="-120"/>
                        </a:rPr>
                        <a:t>EC40 × 0.5</a:t>
                      </a:r>
                      <a:endParaRPr lang="en-US" sz="1350" dirty="0">
                        <a:latin typeface="Arial" charset="0"/>
                        <a:ea typeface="Arial" charset="0"/>
                        <a:cs typeface="Arial"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90"/>
                        </a:lnSpc>
                        <a:buNone/>
                      </a:pPr>
                      <a:r>
                        <a:rPr lang="en-US" sz="1350" dirty="0">
                          <a:solidFill>
                            <a:srgbClr val="1B2A3A"/>
                          </a:solidFill>
                          <a:latin typeface="Arial" pitchFamily="34" charset="0"/>
                          <a:ea typeface="Arial" pitchFamily="34" charset="-122"/>
                          <a:cs typeface="Arial" pitchFamily="34" charset="-120"/>
                        </a:rPr>
                        <a:t>2.0</a:t>
                      </a:r>
                      <a:endParaRPr lang="en-US" sz="1350" dirty="0">
                        <a:latin typeface="Arial" charset="0"/>
                        <a:ea typeface="Arial" charset="0"/>
                        <a:cs typeface="Arial"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90"/>
                        </a:lnSpc>
                        <a:buNone/>
                      </a:pPr>
                      <a:r>
                        <a:rPr lang="en-US" sz="1350" dirty="0">
                          <a:solidFill>
                            <a:srgbClr val="B4491A"/>
                          </a:solidFill>
                          <a:latin typeface="Arial" pitchFamily="34" charset="0"/>
                          <a:ea typeface="Arial" pitchFamily="34" charset="-122"/>
                          <a:cs typeface="Arial" pitchFamily="34" charset="-120"/>
                        </a:rPr>
                        <a:t>36.5</a:t>
                      </a:r>
                      <a:endParaRPr lang="en-US" sz="1350" dirty="0">
                        <a:latin typeface="Arial" charset="0"/>
                        <a:ea typeface="Arial" charset="0"/>
                        <a:cs typeface="Arial"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71625">
                <a:tc>
                  <a:txBody>
                    <a:bodyPr/>
                    <a:lstStyle/>
                    <a:p>
                      <a:pPr marL="0" indent="0">
                        <a:lnSpc>
                          <a:spcPts val="1890"/>
                        </a:lnSpc>
                        <a:buNone/>
                      </a:pPr>
                      <a:r>
                        <a:rPr lang="en-US" sz="1350" dirty="0">
                          <a:solidFill>
                            <a:srgbClr val="1B2A3A"/>
                          </a:solidFill>
                          <a:latin typeface="Arial" pitchFamily="34" charset="0"/>
                          <a:ea typeface="Arial" pitchFamily="34" charset="-122"/>
                          <a:cs typeface="Arial" pitchFamily="34" charset="-120"/>
                        </a:rPr>
                        <a:t>19</a:t>
                      </a:r>
                      <a:endParaRPr lang="en-US" sz="1350" dirty="0">
                        <a:latin typeface="Arial" charset="0"/>
                        <a:ea typeface="Arial" charset="0"/>
                        <a:cs typeface="Arial"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890"/>
                        </a:lnSpc>
                        <a:buNone/>
                      </a:pPr>
                      <a:r>
                        <a:rPr lang="en-US" sz="1350" dirty="0">
                          <a:solidFill>
                            <a:srgbClr val="1B2A3A"/>
                          </a:solidFill>
                          <a:latin typeface="Arial" pitchFamily="34" charset="0"/>
                          <a:ea typeface="Arial" pitchFamily="34" charset="-122"/>
                          <a:cs typeface="Arial" pitchFamily="34" charset="-120"/>
                        </a:rPr>
                        <a:t>HU12 × 5.0</a:t>
                      </a:r>
                      <a:endParaRPr lang="en-US" sz="1350" dirty="0">
                        <a:latin typeface="Arial" charset="0"/>
                        <a:ea typeface="Arial" charset="0"/>
                        <a:cs typeface="Arial" charset="0"/>
                      </a:endParaRPr>
                    </a:p>
                  </a:txBody>
                  <a:tcPr marL="60007" marR="60007" marT="60007" marB="60007">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890"/>
                        </a:lnSpc>
                        <a:buNone/>
                      </a:pPr>
                      <a:r>
                        <a:rPr lang="en-US" sz="1350" dirty="0">
                          <a:solidFill>
                            <a:srgbClr val="1B2A3A"/>
                          </a:solidFill>
                          <a:latin typeface="Arial" pitchFamily="34" charset="0"/>
                          <a:ea typeface="Arial" pitchFamily="34" charset="-122"/>
                          <a:cs typeface="Arial" pitchFamily="34" charset="-120"/>
                        </a:rPr>
                        <a:t>8.95</a:t>
                      </a:r>
                      <a:endParaRPr lang="en-US" sz="1350" dirty="0">
                        <a:latin typeface="Arial" charset="0"/>
                        <a:ea typeface="Arial" charset="0"/>
                        <a:cs typeface="Arial" charset="0"/>
                      </a:endParaRPr>
                    </a:p>
                  </a:txBody>
                  <a:tcPr marL="60007" marR="60007" marT="60007" marB="60007">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890"/>
                        </a:lnSpc>
                        <a:buNone/>
                      </a:pPr>
                      <a:r>
                        <a:rPr lang="en-US" sz="1350" dirty="0">
                          <a:solidFill>
                            <a:srgbClr val="1B2A3A"/>
                          </a:solidFill>
                          <a:latin typeface="Arial" pitchFamily="34" charset="0"/>
                          <a:ea typeface="Arial" pitchFamily="34" charset="-122"/>
                          <a:cs typeface="Arial" pitchFamily="34" charset="-120"/>
                        </a:rPr>
                        <a:t>18.5</a:t>
                      </a:r>
                      <a:endParaRPr lang="en-US" sz="1350" dirty="0">
                        <a:latin typeface="Arial" charset="0"/>
                        <a:ea typeface="Arial" charset="0"/>
                        <a:cs typeface="Arial" charset="0"/>
                      </a:endParaRPr>
                    </a:p>
                  </a:txBody>
                  <a:tcPr marL="60007" marR="60007" marT="60007" marB="60007">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4"/>
                  </a:ext>
                </a:extLst>
              </a:tr>
              <a:tr h="371625">
                <a:tc>
                  <a:txBody>
                    <a:bodyPr/>
                    <a:lstStyle/>
                    <a:p>
                      <a:pPr marL="0" indent="0">
                        <a:lnSpc>
                          <a:spcPts val="1890"/>
                        </a:lnSpc>
                        <a:buNone/>
                      </a:pPr>
                      <a:r>
                        <a:rPr lang="en-US" sz="1350" dirty="0">
                          <a:solidFill>
                            <a:srgbClr val="1B2A3A"/>
                          </a:solidFill>
                          <a:latin typeface="Arial" pitchFamily="34" charset="0"/>
                          <a:ea typeface="Arial" pitchFamily="34" charset="-122"/>
                          <a:cs typeface="Arial" pitchFamily="34" charset="-120"/>
                        </a:rPr>
                        <a:t>22</a:t>
                      </a:r>
                      <a:endParaRPr lang="en-US" sz="1350" dirty="0">
                        <a:latin typeface="Arial" charset="0"/>
                        <a:ea typeface="Arial" charset="0"/>
                        <a:cs typeface="Arial"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90"/>
                        </a:lnSpc>
                        <a:buNone/>
                      </a:pPr>
                      <a:r>
                        <a:rPr lang="en-US" sz="1350" dirty="0">
                          <a:solidFill>
                            <a:srgbClr val="1B2A3A"/>
                          </a:solidFill>
                          <a:latin typeface="Arial" pitchFamily="34" charset="0"/>
                          <a:ea typeface="Arial" pitchFamily="34" charset="-122"/>
                          <a:cs typeface="Arial" pitchFamily="34" charset="-120"/>
                        </a:rPr>
                        <a:t>FR76 × 1.0</a:t>
                      </a:r>
                      <a:endParaRPr lang="en-US" sz="1350" dirty="0">
                        <a:latin typeface="Arial" charset="0"/>
                        <a:ea typeface="Arial" charset="0"/>
                        <a:cs typeface="Arial"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90"/>
                        </a:lnSpc>
                        <a:buNone/>
                      </a:pPr>
                      <a:r>
                        <a:rPr lang="en-US" sz="1350" dirty="0">
                          <a:solidFill>
                            <a:srgbClr val="1B2A3A"/>
                          </a:solidFill>
                          <a:latin typeface="Arial" pitchFamily="34" charset="0"/>
                          <a:ea typeface="Arial" pitchFamily="34" charset="-122"/>
                          <a:cs typeface="Arial" pitchFamily="34" charset="-120"/>
                        </a:rPr>
                        <a:t>29</a:t>
                      </a:r>
                      <a:endParaRPr lang="en-US" sz="1350" dirty="0">
                        <a:latin typeface="Arial" charset="0"/>
                        <a:ea typeface="Arial" charset="0"/>
                        <a:cs typeface="Arial"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90"/>
                        </a:lnSpc>
                        <a:buNone/>
                      </a:pPr>
                      <a:r>
                        <a:rPr lang="en-US" sz="1350" dirty="0">
                          <a:solidFill>
                            <a:srgbClr val="B4491A"/>
                          </a:solidFill>
                          <a:latin typeface="Arial" pitchFamily="34" charset="0"/>
                          <a:ea typeface="Arial" pitchFamily="34" charset="-122"/>
                          <a:cs typeface="Arial" pitchFamily="34" charset="-120"/>
                        </a:rPr>
                        <a:t>45 (tipping 40)</a:t>
                      </a:r>
                      <a:endParaRPr lang="en-US" sz="1350" dirty="0">
                        <a:latin typeface="Arial" charset="0"/>
                        <a:ea typeface="Arial" charset="0"/>
                        <a:cs typeface="Arial"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71625">
                <a:tc>
                  <a:txBody>
                    <a:bodyPr/>
                    <a:lstStyle/>
                    <a:p>
                      <a:pPr marL="0" indent="0">
                        <a:lnSpc>
                          <a:spcPts val="1890"/>
                        </a:lnSpc>
                        <a:buNone/>
                      </a:pPr>
                      <a:r>
                        <a:rPr lang="en-US" sz="1350" dirty="0">
                          <a:solidFill>
                            <a:srgbClr val="1B2A3A"/>
                          </a:solidFill>
                          <a:latin typeface="Arial" pitchFamily="34" charset="0"/>
                          <a:ea typeface="Arial" pitchFamily="34" charset="-122"/>
                          <a:cs typeface="Arial" pitchFamily="34" charset="-120"/>
                        </a:rPr>
                        <a:t>25</a:t>
                      </a:r>
                      <a:endParaRPr lang="en-US" sz="1350" dirty="0">
                        <a:latin typeface="Arial" charset="0"/>
                        <a:ea typeface="Arial" charset="0"/>
                        <a:cs typeface="Arial"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890"/>
                        </a:lnSpc>
                        <a:buNone/>
                      </a:pPr>
                      <a:r>
                        <a:rPr lang="en-US" sz="1350" dirty="0">
                          <a:solidFill>
                            <a:srgbClr val="1B2A3A"/>
                          </a:solidFill>
                          <a:latin typeface="Arial" pitchFamily="34" charset="0"/>
                          <a:ea typeface="Arial" pitchFamily="34" charset="-122"/>
                          <a:cs typeface="Arial" pitchFamily="34" charset="-120"/>
                        </a:rPr>
                        <a:t>FR76 × 2.0</a:t>
                      </a:r>
                      <a:endParaRPr lang="en-US" sz="1350" dirty="0">
                        <a:latin typeface="Arial" charset="0"/>
                        <a:ea typeface="Arial" charset="0"/>
                        <a:cs typeface="Arial" charset="0"/>
                      </a:endParaRPr>
                    </a:p>
                  </a:txBody>
                  <a:tcPr marL="60007" marR="60007" marT="60007" marB="60007">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890"/>
                        </a:lnSpc>
                        <a:buNone/>
                      </a:pPr>
                      <a:r>
                        <a:rPr lang="en-US" sz="1350" dirty="0">
                          <a:solidFill>
                            <a:srgbClr val="1B2A3A"/>
                          </a:solidFill>
                          <a:latin typeface="Arial" pitchFamily="34" charset="0"/>
                          <a:ea typeface="Arial" pitchFamily="34" charset="-122"/>
                          <a:cs typeface="Arial" pitchFamily="34" charset="-120"/>
                        </a:rPr>
                        <a:t>61</a:t>
                      </a:r>
                      <a:endParaRPr lang="en-US" sz="1350" dirty="0">
                        <a:latin typeface="Arial" charset="0"/>
                        <a:ea typeface="Arial" charset="0"/>
                        <a:cs typeface="Arial" charset="0"/>
                      </a:endParaRPr>
                    </a:p>
                  </a:txBody>
                  <a:tcPr marL="60007" marR="60007" marT="60007" marB="60007">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890"/>
                        </a:lnSpc>
                        <a:buNone/>
                      </a:pPr>
                      <a:r>
                        <a:rPr lang="en-US" sz="1350" dirty="0">
                          <a:solidFill>
                            <a:srgbClr val="B4491A"/>
                          </a:solidFill>
                          <a:latin typeface="Arial" pitchFamily="34" charset="0"/>
                          <a:ea typeface="Arial" pitchFamily="34" charset="-122"/>
                          <a:cs typeface="Arial" pitchFamily="34" charset="-120"/>
                        </a:rPr>
                        <a:t>90 (tipping 65)</a:t>
                      </a:r>
                      <a:endParaRPr lang="en-US" sz="1350" dirty="0">
                        <a:latin typeface="Arial" charset="0"/>
                        <a:ea typeface="Arial" charset="0"/>
                        <a:cs typeface="Arial" charset="0"/>
                      </a:endParaRPr>
                    </a:p>
                  </a:txBody>
                  <a:tcPr marL="60007" marR="60007" marT="60007" marB="60007">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6"/>
                  </a:ext>
                </a:extLst>
              </a:tr>
            </a:tbl>
          </a:graphicData>
        </a:graphic>
      </p:graphicFrame>
      <p:sp>
        <p:nvSpPr>
          <p:cNvPr id="14" name="Text 11"/>
          <p:cNvSpPr/>
          <p:nvPr/>
        </p:nvSpPr>
        <p:spPr>
          <a:xfrm>
            <a:off x="812765" y="6238273"/>
            <a:ext cx="8633034"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Arial" pitchFamily="34" charset="0"/>
                <a:ea typeface="Arial" pitchFamily="34" charset="-122"/>
                <a:cs typeface="Arial" pitchFamily="34" charset="-120"/>
              </a:rPr>
              <a:t>d* with m_eff = 1635 kg · orange: an elastic run targeted past the knee, or a target beyond the tipping point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5" y="812769"/>
            <a:ext cx="10883436" cy="228693"/>
          </a:xfrm>
          <a:prstGeom prst="rect">
            <a:avLst/>
          </a:prstGeom>
          <a:noFill/>
          <a:ln/>
        </p:spPr>
        <p:txBody>
          <a:bodyPr wrap="square" lIns="0" tIns="0" rIns="0" bIns="0" rtlCol="0" anchor="t">
            <a:normAutofit/>
          </a:bodyPr>
          <a:lstStyle/>
          <a:p>
            <a:pPr marL="0" indent="0" algn="l">
              <a:lnSpc>
                <a:spcPts val="1621"/>
              </a:lnSpc>
              <a:buNone/>
            </a:pPr>
            <a:r>
              <a:rPr lang="en-US" sz="1158" b="1" kern="0" spc="100" dirty="0">
                <a:solidFill>
                  <a:srgbClr val="B4491A"/>
                </a:solidFill>
                <a:latin typeface="Arial" pitchFamily="34" charset="0"/>
                <a:ea typeface="Arial" pitchFamily="34" charset="-122"/>
                <a:cs typeface="Arial" pitchFamily="34" charset="-120"/>
              </a:rPr>
              <a:t>4 · THE CAPACITY-ADAPTIVE TARGET</a:t>
            </a:r>
            <a:endParaRPr lang="en-US" sz="1158" dirty="0"/>
          </a:p>
        </p:txBody>
      </p:sp>
      <p:sp>
        <p:nvSpPr>
          <p:cNvPr id="3" name="Text 1"/>
          <p:cNvSpPr>
            <a:spLocks noGrp="1"/>
          </p:cNvSpPr>
          <p:nvPr>
            <p:ph type="title"/>
          </p:nvPr>
        </p:nvSpPr>
        <p:spPr>
          <a:xfrm>
            <a:off x="812765" y="1193856"/>
            <a:ext cx="10883436" cy="443217"/>
          </a:xfrm>
          <a:prstGeom prst="rect">
            <a:avLst/>
          </a:prstGeom>
          <a:noFill/>
          <a:ln/>
        </p:spPr>
        <p:txBody>
          <a:bodyPr wrap="square" lIns="0" tIns="0" rIns="0" bIns="0" rtlCol="0" anchor="t">
            <a:normAutofit/>
          </a:bodyPr>
          <a:lstStyle/>
          <a:p>
            <a:pPr marL="0" indent="0" algn="l">
              <a:lnSpc>
                <a:spcPts val="3319"/>
              </a:lnSpc>
              <a:buNone/>
            </a:pPr>
            <a:r>
              <a:rPr lang="en-US" sz="3017" b="0" i="0" dirty="0">
                <a:solidFill>
                  <a:srgbClr val="1B2A3A"/>
                </a:solidFill>
                <a:latin typeface="Georgia" pitchFamily="18" charset="0"/>
                <a:ea typeface="Georgia" pitchFamily="18" charset="-122"/>
                <a:cs typeface="Georgia" pitchFamily="18" charset="-120"/>
              </a:rPr>
              <a:t>Read the record where the wall sits on its own curve</a:t>
            </a:r>
            <a:endParaRPr lang="en-US" sz="3017" dirty="0"/>
          </a:p>
        </p:txBody>
      </p:sp>
      <p:sp>
        <p:nvSpPr>
          <p:cNvPr id="4" name="Shape 2"/>
          <p:cNvSpPr/>
          <p:nvPr/>
        </p:nvSpPr>
        <p:spPr>
          <a:xfrm>
            <a:off x="812765" y="1789472"/>
            <a:ext cx="10566398" cy="3241323"/>
          </a:xfrm>
          <a:prstGeom prst="roundRect">
            <a:avLst>
              <a:gd name="adj" fmla="val 3135"/>
            </a:avLst>
          </a:prstGeom>
          <a:solidFill>
            <a:srgbClr val="FFFFFF"/>
          </a:solidFill>
          <a:ln/>
        </p:spPr>
        <p:txBody>
          <a:bodyPr/>
          <a:lstStyle/>
          <a:p>
            <a:endParaRPr lang="en-GB"/>
          </a:p>
        </p:txBody>
      </p:sp>
      <p:pic>
        <p:nvPicPr>
          <p:cNvPr id="5" name="Image 0" descr="Three panels: pushover backbone with secant periods; demand curves s times Sd at the secant period crossing the 45-degree line at the fixed point d-star, with tipping points; d-star per run on a log scale"/>
          <p:cNvPicPr>
            <a:picLocks noChangeAspect="1"/>
          </p:cNvPicPr>
          <p:nvPr/>
        </p:nvPicPr>
        <p:blipFill>
          <a:blip r:embed="rId3"/>
          <a:stretch>
            <a:fillRect/>
          </a:stretch>
        </p:blipFill>
        <p:spPr>
          <a:xfrm>
            <a:off x="1312819" y="1795822"/>
            <a:ext cx="9566291" cy="3228623"/>
          </a:xfrm>
          <a:prstGeom prst="rect">
            <a:avLst/>
          </a:prstGeom>
        </p:spPr>
      </p:pic>
      <p:sp>
        <p:nvSpPr>
          <p:cNvPr id="6" name="Shape 3"/>
          <p:cNvSpPr/>
          <p:nvPr/>
        </p:nvSpPr>
        <p:spPr>
          <a:xfrm>
            <a:off x="815940" y="1792647"/>
            <a:ext cx="10560048" cy="3234973"/>
          </a:xfrm>
          <a:prstGeom prst="roundRect">
            <a:avLst>
              <a:gd name="adj" fmla="val 3043"/>
            </a:avLst>
          </a:prstGeom>
          <a:noFill/>
          <a:ln w="6350">
            <a:solidFill>
              <a:srgbClr val="DDD8CC"/>
            </a:solidFill>
            <a:prstDash val="solid"/>
          </a:ln>
        </p:spPr>
        <p:txBody>
          <a:bodyPr/>
          <a:lstStyle/>
          <a:p>
            <a:endParaRPr lang="en-GB"/>
          </a:p>
        </p:txBody>
      </p:sp>
      <p:sp>
        <p:nvSpPr>
          <p:cNvPr id="7" name="Text 4"/>
          <p:cNvSpPr/>
          <p:nvPr/>
        </p:nvSpPr>
        <p:spPr>
          <a:xfrm>
            <a:off x="812765" y="5208588"/>
            <a:ext cx="3453404" cy="658829"/>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4A5568"/>
                </a:solidFill>
                <a:latin typeface="Arial" pitchFamily="34" charset="0"/>
                <a:ea typeface="Arial" pitchFamily="34" charset="-122"/>
                <a:cs typeface="Arial" pitchFamily="34" charset="-120"/>
              </a:rPr>
              <a:t>(a)</a:t>
            </a:r>
            <a:r>
              <a:rPr lang="en-US" sz="1350" dirty="0">
                <a:solidFill>
                  <a:srgbClr val="4A5568"/>
                </a:solidFill>
                <a:latin typeface="Arial" pitchFamily="34" charset="0"/>
                <a:ea typeface="Arial" pitchFamily="34" charset="-122"/>
                <a:cs typeface="Arial" pitchFamily="34" charset="-120"/>
              </a:rPr>
              <a:t> every displacement has its own secant period, T_sec(d) = 2π√(m_eff·d/F(d))</a:t>
            </a:r>
            <a:endParaRPr lang="en-US" sz="1350" dirty="0"/>
          </a:p>
        </p:txBody>
      </p:sp>
      <p:sp>
        <p:nvSpPr>
          <p:cNvPr id="8" name="Text 5"/>
          <p:cNvSpPr/>
          <p:nvPr/>
        </p:nvSpPr>
        <p:spPr>
          <a:xfrm>
            <a:off x="4419554" y="5208588"/>
            <a:ext cx="3453451" cy="658829"/>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4A5568"/>
                </a:solidFill>
                <a:latin typeface="Arial" pitchFamily="34" charset="0"/>
                <a:ea typeface="Arial" pitchFamily="34" charset="-122"/>
                <a:cs typeface="Arial" pitchFamily="34" charset="-120"/>
              </a:rPr>
              <a:t>(b)</a:t>
            </a:r>
            <a:r>
              <a:rPr lang="en-US" sz="1350" dirty="0">
                <a:solidFill>
                  <a:srgbClr val="4A5568"/>
                </a:solidFill>
                <a:latin typeface="Arial" pitchFamily="34" charset="0"/>
                <a:ea typeface="Arial" pitchFamily="34" charset="-122"/>
                <a:cs typeface="Arial" pitchFamily="34" charset="-120"/>
              </a:rPr>
              <a:t> d* = s·Sd(T_sec(d*)): crossing from above is stable; from below is a tipping point</a:t>
            </a:r>
            <a:endParaRPr lang="en-US" sz="1350" dirty="0"/>
          </a:p>
        </p:txBody>
      </p:sp>
      <p:sp>
        <p:nvSpPr>
          <p:cNvPr id="9" name="Text 6"/>
          <p:cNvSpPr/>
          <p:nvPr/>
        </p:nvSpPr>
        <p:spPr>
          <a:xfrm>
            <a:off x="8026388" y="5208588"/>
            <a:ext cx="3453404" cy="658829"/>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4A5568"/>
                </a:solidFill>
                <a:latin typeface="Arial" pitchFamily="34" charset="0"/>
                <a:ea typeface="Arial" pitchFamily="34" charset="-122"/>
                <a:cs typeface="Arial" pitchFamily="34" charset="-120"/>
              </a:rPr>
              <a:t>(c)</a:t>
            </a:r>
            <a:r>
              <a:rPr lang="en-US" sz="1350" dirty="0">
                <a:solidFill>
                  <a:srgbClr val="4A5568"/>
                </a:solidFill>
                <a:latin typeface="Arial" pitchFamily="34" charset="0"/>
                <a:ea typeface="Arial" pitchFamily="34" charset="-122"/>
                <a:cs typeface="Arial" pitchFamily="34" charset="-120"/>
              </a:rPr>
              <a:t> one target per run; T* = T1·√μ_run — the bilinear is the case μ_run = μ_ultimate</a:t>
            </a:r>
            <a:endParaRPr lang="en-US" sz="1350" dirty="0"/>
          </a:p>
        </p:txBody>
      </p:sp>
      <p:sp>
        <p:nvSpPr>
          <p:cNvPr id="10" name="Text 7"/>
          <p:cNvSpPr/>
          <p:nvPr/>
        </p:nvSpPr>
        <p:spPr>
          <a:xfrm>
            <a:off x="812765" y="6238280"/>
            <a:ext cx="8449079"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Arial" pitchFamily="34" charset="0"/>
                <a:ea typeface="Arial" pitchFamily="34" charset="-122"/>
                <a:cs typeface="Arial" pitchFamily="34" charset="-120"/>
              </a:rPr>
              <a:t>Figure at m_eff = 1635 kg; the driver matches m_eff to the measured T1 (1406 kg), shortening T* by 7 %</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EDE9DF"/>
        </a:solidFill>
        <a:effectLst/>
      </p:bgPr>
    </p:bg>
    <p:spTree>
      <p:nvGrpSpPr>
        <p:cNvPr id="1" name=""/>
        <p:cNvGrpSpPr/>
        <p:nvPr/>
      </p:nvGrpSpPr>
      <p:grpSpPr>
        <a:xfrm>
          <a:off x="0" y="0"/>
          <a:ext cx="0" cy="0"/>
          <a:chOff x="0" y="0"/>
          <a:chExt cx="0" cy="0"/>
        </a:xfrm>
      </p:grpSpPr>
      <p:sp>
        <p:nvSpPr>
          <p:cNvPr id="2" name="Text 0"/>
          <p:cNvSpPr/>
          <p:nvPr/>
        </p:nvSpPr>
        <p:spPr>
          <a:xfrm>
            <a:off x="812765" y="711181"/>
            <a:ext cx="10883436" cy="256545"/>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491A"/>
                </a:solidFill>
                <a:latin typeface="Arial" pitchFamily="34" charset="0"/>
                <a:ea typeface="Arial" pitchFamily="34" charset="-122"/>
                <a:cs typeface="Arial" pitchFamily="34" charset="-120"/>
              </a:rPr>
              <a:t>4 · THE EQUATIONS, RUN BY RUN</a:t>
            </a:r>
            <a:endParaRPr lang="en-US" sz="1300" dirty="0"/>
          </a:p>
        </p:txBody>
      </p:sp>
      <p:sp>
        <p:nvSpPr>
          <p:cNvPr id="3" name="Text 1"/>
          <p:cNvSpPr>
            <a:spLocks noGrp="1"/>
          </p:cNvSpPr>
          <p:nvPr>
            <p:ph type="title"/>
          </p:nvPr>
        </p:nvSpPr>
        <p:spPr>
          <a:xfrm>
            <a:off x="812765" y="1170893"/>
            <a:ext cx="10883436" cy="472428"/>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B2A3A"/>
                </a:solidFill>
                <a:latin typeface="Georgia" pitchFamily="18" charset="0"/>
                <a:ea typeface="Georgia" pitchFamily="18" charset="-122"/>
                <a:cs typeface="Georgia" pitchFamily="18" charset="-120"/>
              </a:rPr>
              <a:t>Before the run: find d*. After the run: check it.</a:t>
            </a:r>
            <a:endParaRPr lang="en-US" sz="3200" dirty="0"/>
          </a:p>
        </p:txBody>
      </p:sp>
      <p:sp>
        <p:nvSpPr>
          <p:cNvPr id="4" name="Shape 2"/>
          <p:cNvSpPr/>
          <p:nvPr/>
        </p:nvSpPr>
        <p:spPr>
          <a:xfrm>
            <a:off x="815940" y="1849661"/>
            <a:ext cx="6067084" cy="3620908"/>
          </a:xfrm>
          <a:prstGeom prst="roundRect">
            <a:avLst>
              <a:gd name="adj" fmla="val 2718"/>
            </a:avLst>
          </a:prstGeom>
          <a:solidFill>
            <a:srgbClr val="FFFFFF"/>
          </a:solidFill>
          <a:ln w="6350">
            <a:solidFill>
              <a:srgbClr val="DDD8CC"/>
            </a:solidFill>
            <a:prstDash val="solid"/>
          </a:ln>
        </p:spPr>
        <p:txBody>
          <a:bodyPr/>
          <a:lstStyle/>
          <a:p>
            <a:endParaRPr lang="en-GB"/>
          </a:p>
        </p:txBody>
      </p:sp>
      <p:sp>
        <p:nvSpPr>
          <p:cNvPr id="5" name="Text 3"/>
          <p:cNvSpPr/>
          <p:nvPr/>
        </p:nvSpPr>
        <p:spPr>
          <a:xfrm>
            <a:off x="1097937" y="2106247"/>
            <a:ext cx="5668182" cy="238747"/>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F6BA6"/>
                </a:solidFill>
                <a:latin typeface="Arial" pitchFamily="34" charset="0"/>
                <a:ea typeface="Arial" pitchFamily="34" charset="-122"/>
                <a:cs typeface="Arial" pitchFamily="34" charset="-120"/>
              </a:rPr>
              <a:t>BEFORE — TARGET</a:t>
            </a:r>
            <a:endParaRPr lang="en-US" sz="1200" dirty="0"/>
          </a:p>
        </p:txBody>
      </p:sp>
      <p:sp>
        <p:nvSpPr>
          <p:cNvPr id="6" name="Text 4"/>
          <p:cNvSpPr/>
          <p:nvPr/>
        </p:nvSpPr>
        <p:spPr>
          <a:xfrm>
            <a:off x="1097937" y="2459261"/>
            <a:ext cx="4185880" cy="696009"/>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1B2A3A"/>
                </a:solidFill>
                <a:latin typeface="Georgia" pitchFamily="18" charset="0"/>
                <a:ea typeface="Georgia" pitchFamily="18" charset="-122"/>
                <a:cs typeface="Georgia" pitchFamily="18" charset="-120"/>
              </a:rPr>
              <a:t>T_sec(d) = 2π √( m_eff · d / F(d) )</a:t>
            </a:r>
            <a:endParaRPr lang="en-US" sz="2200" dirty="0"/>
          </a:p>
        </p:txBody>
      </p:sp>
      <p:sp>
        <p:nvSpPr>
          <p:cNvPr id="7" name="Text 5"/>
          <p:cNvSpPr/>
          <p:nvPr/>
        </p:nvSpPr>
        <p:spPr>
          <a:xfrm>
            <a:off x="5339694" y="2552005"/>
            <a:ext cx="1312132" cy="4876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A7179"/>
                </a:solidFill>
                <a:latin typeface="Arial" pitchFamily="34" charset="0"/>
                <a:ea typeface="Arial" pitchFamily="34" charset="-122"/>
                <a:cs typeface="Arial" pitchFamily="34" charset="-120"/>
              </a:rPr>
              <a:t>secant period on the backbone</a:t>
            </a:r>
            <a:endParaRPr lang="en-US" sz="1300" dirty="0"/>
          </a:p>
        </p:txBody>
      </p:sp>
      <p:sp>
        <p:nvSpPr>
          <p:cNvPr id="8" name="Text 6"/>
          <p:cNvSpPr/>
          <p:nvPr/>
        </p:nvSpPr>
        <p:spPr>
          <a:xfrm>
            <a:off x="1097937" y="3269537"/>
            <a:ext cx="4185880" cy="360705"/>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1B2A3A"/>
                </a:solidFill>
                <a:latin typeface="Georgia" pitchFamily="18" charset="0"/>
                <a:ea typeface="Georgia" pitchFamily="18" charset="-122"/>
                <a:cs typeface="Georgia" pitchFamily="18" charset="-120"/>
              </a:rPr>
              <a:t>G(d) = s · Sd( T_sec(d) )</a:t>
            </a:r>
            <a:endParaRPr lang="en-US" sz="2200" dirty="0"/>
          </a:p>
        </p:txBody>
      </p:sp>
      <p:sp>
        <p:nvSpPr>
          <p:cNvPr id="9" name="Text 7"/>
          <p:cNvSpPr/>
          <p:nvPr/>
        </p:nvSpPr>
        <p:spPr>
          <a:xfrm>
            <a:off x="5339694" y="3362282"/>
            <a:ext cx="1312132" cy="4876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A7179"/>
                </a:solidFill>
                <a:latin typeface="Arial" pitchFamily="34" charset="0"/>
                <a:ea typeface="Arial" pitchFamily="34" charset="-122"/>
                <a:cs typeface="Arial" pitchFamily="34" charset="-120"/>
              </a:rPr>
              <a:t>record demand at that period</a:t>
            </a:r>
            <a:endParaRPr lang="en-US" sz="1300" dirty="0"/>
          </a:p>
        </p:txBody>
      </p:sp>
      <p:sp>
        <p:nvSpPr>
          <p:cNvPr id="10" name="Text 8"/>
          <p:cNvSpPr/>
          <p:nvPr/>
        </p:nvSpPr>
        <p:spPr>
          <a:xfrm>
            <a:off x="1097937" y="3964236"/>
            <a:ext cx="4185880" cy="360705"/>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1B2A3A"/>
                </a:solidFill>
                <a:latin typeface="Georgia" pitchFamily="18" charset="0"/>
                <a:ea typeface="Georgia" pitchFamily="18" charset="-122"/>
                <a:cs typeface="Georgia" pitchFamily="18" charset="-120"/>
              </a:rPr>
              <a:t>G(d*) = d*</a:t>
            </a:r>
            <a:endParaRPr lang="en-US" sz="2200" dirty="0"/>
          </a:p>
        </p:txBody>
      </p:sp>
      <p:sp>
        <p:nvSpPr>
          <p:cNvPr id="11" name="Text 9"/>
          <p:cNvSpPr/>
          <p:nvPr/>
        </p:nvSpPr>
        <p:spPr>
          <a:xfrm>
            <a:off x="5339694" y="4056986"/>
            <a:ext cx="1312132" cy="4876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A7179"/>
                </a:solidFill>
                <a:latin typeface="Arial" pitchFamily="34" charset="0"/>
                <a:ea typeface="Arial" pitchFamily="34" charset="-122"/>
                <a:cs typeface="Arial" pitchFamily="34" charset="-120"/>
              </a:rPr>
              <a:t>scanned, not iterated</a:t>
            </a:r>
            <a:endParaRPr lang="en-US" sz="1300" dirty="0"/>
          </a:p>
        </p:txBody>
      </p:sp>
      <p:sp>
        <p:nvSpPr>
          <p:cNvPr id="12" name="Text 10"/>
          <p:cNvSpPr/>
          <p:nvPr/>
        </p:nvSpPr>
        <p:spPr>
          <a:xfrm>
            <a:off x="1097937" y="4658940"/>
            <a:ext cx="4185880" cy="360705"/>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1B2A3A"/>
                </a:solidFill>
                <a:latin typeface="Georgia" pitchFamily="18" charset="0"/>
                <a:ea typeface="Georgia" pitchFamily="18" charset="-122"/>
                <a:cs typeface="Georgia" pitchFamily="18" charset="-120"/>
              </a:rPr>
              <a:t>T* = T_sec(d*)</a:t>
            </a:r>
            <a:endParaRPr lang="en-US" sz="2200" dirty="0"/>
          </a:p>
        </p:txBody>
      </p:sp>
      <p:sp>
        <p:nvSpPr>
          <p:cNvPr id="13" name="Text 11"/>
          <p:cNvSpPr/>
          <p:nvPr/>
        </p:nvSpPr>
        <p:spPr>
          <a:xfrm>
            <a:off x="5339694" y="4751685"/>
            <a:ext cx="1312132" cy="4876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A7179"/>
                </a:solidFill>
                <a:latin typeface="Arial" pitchFamily="34" charset="0"/>
                <a:ea typeface="Arial" pitchFamily="34" charset="-122"/>
                <a:cs typeface="Arial" pitchFamily="34" charset="-120"/>
              </a:rPr>
              <a:t>wave B target: d* at T*</a:t>
            </a:r>
            <a:endParaRPr lang="en-US" sz="1300" dirty="0"/>
          </a:p>
        </p:txBody>
      </p:sp>
      <p:sp>
        <p:nvSpPr>
          <p:cNvPr id="14" name="Shape 12"/>
          <p:cNvSpPr/>
          <p:nvPr/>
        </p:nvSpPr>
        <p:spPr>
          <a:xfrm>
            <a:off x="7143342" y="1849661"/>
            <a:ext cx="4232690" cy="3620908"/>
          </a:xfrm>
          <a:prstGeom prst="roundRect">
            <a:avLst>
              <a:gd name="adj" fmla="val 2718"/>
            </a:avLst>
          </a:prstGeom>
          <a:solidFill>
            <a:srgbClr val="FFFFFF"/>
          </a:solidFill>
          <a:ln w="6350">
            <a:solidFill>
              <a:srgbClr val="DDD8CC"/>
            </a:solidFill>
            <a:prstDash val="solid"/>
          </a:ln>
        </p:spPr>
        <p:txBody>
          <a:bodyPr/>
          <a:lstStyle/>
          <a:p>
            <a:endParaRPr lang="en-GB"/>
          </a:p>
        </p:txBody>
      </p:sp>
      <p:sp>
        <p:nvSpPr>
          <p:cNvPr id="15" name="Text 13"/>
          <p:cNvSpPr/>
          <p:nvPr/>
        </p:nvSpPr>
        <p:spPr>
          <a:xfrm>
            <a:off x="7425340" y="2106247"/>
            <a:ext cx="3778757" cy="238747"/>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B4491A"/>
                </a:solidFill>
                <a:latin typeface="Arial" pitchFamily="34" charset="0"/>
                <a:ea typeface="Arial" pitchFamily="34" charset="-122"/>
                <a:cs typeface="Arial" pitchFamily="34" charset="-120"/>
              </a:rPr>
              <a:t>AFTER — CHECK</a:t>
            </a:r>
            <a:endParaRPr lang="en-US" sz="1200" dirty="0"/>
          </a:p>
        </p:txBody>
      </p:sp>
      <p:sp>
        <p:nvSpPr>
          <p:cNvPr id="16" name="Text 14"/>
          <p:cNvSpPr/>
          <p:nvPr/>
        </p:nvSpPr>
        <p:spPr>
          <a:xfrm>
            <a:off x="7425340" y="2459261"/>
            <a:ext cx="3778757" cy="360705"/>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1B2A3A"/>
                </a:solidFill>
                <a:latin typeface="Georgia" pitchFamily="18" charset="0"/>
                <a:ea typeface="Georgia" pitchFamily="18" charset="-122"/>
                <a:cs typeface="Georgia" pitchFamily="18" charset="-120"/>
              </a:rPr>
              <a:t>d_ach / d*</a:t>
            </a:r>
            <a:endParaRPr lang="en-US" sz="2200" dirty="0"/>
          </a:p>
        </p:txBody>
      </p:sp>
      <p:sp>
        <p:nvSpPr>
          <p:cNvPr id="17" name="Text 15"/>
          <p:cNvSpPr/>
          <p:nvPr/>
        </p:nvSpPr>
        <p:spPr>
          <a:xfrm>
            <a:off x="7425340" y="2819927"/>
            <a:ext cx="3778757" cy="25654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A7179"/>
                </a:solidFill>
                <a:latin typeface="Arial" pitchFamily="34" charset="0"/>
                <a:ea typeface="Arial" pitchFamily="34" charset="-122"/>
                <a:cs typeface="Arial" pitchFamily="34" charset="-120"/>
              </a:rPr>
              <a:t>did it get there</a:t>
            </a:r>
            <a:endParaRPr lang="en-US" sz="1300" dirty="0"/>
          </a:p>
        </p:txBody>
      </p:sp>
      <p:sp>
        <p:nvSpPr>
          <p:cNvPr id="18" name="Text 16"/>
          <p:cNvSpPr/>
          <p:nvPr/>
        </p:nvSpPr>
        <p:spPr>
          <a:xfrm>
            <a:off x="7425340" y="3190739"/>
            <a:ext cx="3778757" cy="360705"/>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1B2A3A"/>
                </a:solidFill>
                <a:latin typeface="Georgia" pitchFamily="18" charset="0"/>
                <a:ea typeface="Georgia" pitchFamily="18" charset="-122"/>
                <a:cs typeface="Georgia" pitchFamily="18" charset="-120"/>
              </a:rPr>
              <a:t>T_ach / T*</a:t>
            </a:r>
            <a:endParaRPr lang="en-US" sz="2200" dirty="0"/>
          </a:p>
        </p:txBody>
      </p:sp>
      <p:sp>
        <p:nvSpPr>
          <p:cNvPr id="19" name="Text 17"/>
          <p:cNvSpPr/>
          <p:nvPr/>
        </p:nvSpPr>
        <p:spPr>
          <a:xfrm>
            <a:off x="7425340" y="3551399"/>
            <a:ext cx="3778757" cy="25654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A7179"/>
                </a:solidFill>
                <a:latin typeface="Arial" pitchFamily="34" charset="0"/>
                <a:ea typeface="Arial" pitchFamily="34" charset="-122"/>
                <a:cs typeface="Arial" pitchFamily="34" charset="-120"/>
              </a:rPr>
              <a:t>at the period the backbone said</a:t>
            </a:r>
            <a:endParaRPr lang="en-US" sz="1300" dirty="0"/>
          </a:p>
        </p:txBody>
      </p:sp>
      <p:sp>
        <p:nvSpPr>
          <p:cNvPr id="20" name="Text 18"/>
          <p:cNvSpPr/>
          <p:nvPr/>
        </p:nvSpPr>
        <p:spPr>
          <a:xfrm>
            <a:off x="7425340" y="3922210"/>
            <a:ext cx="3947518" cy="360705"/>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1B2A3A"/>
                </a:solidFill>
                <a:latin typeface="Georgia" pitchFamily="18" charset="0"/>
                <a:ea typeface="Georgia" pitchFamily="18" charset="-122"/>
                <a:cs typeface="Georgia" pitchFamily="18" charset="-120"/>
              </a:rPr>
              <a:t>T_ach = 2 · |t_peak − t_opp|</a:t>
            </a:r>
            <a:endParaRPr lang="en-US" sz="2200" dirty="0"/>
          </a:p>
        </p:txBody>
      </p:sp>
      <p:sp>
        <p:nvSpPr>
          <p:cNvPr id="21" name="Text 19"/>
          <p:cNvSpPr/>
          <p:nvPr/>
        </p:nvSpPr>
        <p:spPr>
          <a:xfrm>
            <a:off x="7425340" y="4282877"/>
            <a:ext cx="3778757" cy="25654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A7179"/>
                </a:solidFill>
                <a:latin typeface="Arial" pitchFamily="34" charset="0"/>
                <a:ea typeface="Arial" pitchFamily="34" charset="-122"/>
                <a:cs typeface="Arial" pitchFamily="34" charset="-120"/>
              </a:rPr>
              <a:t>duration of the largest swing</a:t>
            </a:r>
            <a:endParaRPr lang="en-US" sz="1300" dirty="0"/>
          </a:p>
        </p:txBody>
      </p:sp>
      <p:sp>
        <p:nvSpPr>
          <p:cNvPr id="22" name="Text 20"/>
          <p:cNvSpPr/>
          <p:nvPr/>
        </p:nvSpPr>
        <p:spPr>
          <a:xfrm>
            <a:off x="812765" y="6238273"/>
            <a:ext cx="11379235"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Arial" pitchFamily="34" charset="0"/>
                <a:ea typeface="Arial" pitchFamily="34" charset="-122"/>
                <a:cs typeface="Arial" pitchFamily="34" charset="-120"/>
              </a:rPr>
              <a:t>F(d): v5 pushover at 2.06 m · m_eff 1406 kg (T_sec at the first point = T1 0.103 s) · Sd 5 %-damped · wave A target s·Sd(T1); both amplitudes fitted jointly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5" y="609563"/>
            <a:ext cx="10883436" cy="239336"/>
          </a:xfrm>
          <a:prstGeom prst="rect">
            <a:avLst/>
          </a:prstGeom>
          <a:noFill/>
          <a:ln/>
        </p:spPr>
        <p:txBody>
          <a:bodyPr wrap="square" lIns="0" tIns="0" rIns="0" bIns="0" rtlCol="0" anchor="t">
            <a:normAutofit/>
          </a:bodyPr>
          <a:lstStyle/>
          <a:p>
            <a:pPr marL="0" indent="0" algn="l">
              <a:lnSpc>
                <a:spcPts val="1723"/>
              </a:lnSpc>
              <a:buNone/>
            </a:pPr>
            <a:r>
              <a:rPr lang="en-US" sz="1231" b="1" kern="0" spc="100" dirty="0">
                <a:solidFill>
                  <a:srgbClr val="B4491A"/>
                </a:solidFill>
                <a:latin typeface="Arial" pitchFamily="34" charset="0"/>
                <a:ea typeface="Arial" pitchFamily="34" charset="-122"/>
                <a:cs typeface="Arial" pitchFamily="34" charset="-120"/>
              </a:rPr>
              <a:t>4 · THE SCAN, RUN 25 (FR76 × 2.0)</a:t>
            </a:r>
            <a:endParaRPr lang="en-US" sz="1231" dirty="0"/>
          </a:p>
        </p:txBody>
      </p:sp>
      <p:sp>
        <p:nvSpPr>
          <p:cNvPr id="3" name="Text 1"/>
          <p:cNvSpPr>
            <a:spLocks noGrp="1"/>
          </p:cNvSpPr>
          <p:nvPr>
            <p:ph type="title"/>
          </p:nvPr>
        </p:nvSpPr>
        <p:spPr>
          <a:xfrm>
            <a:off x="812765" y="950485"/>
            <a:ext cx="10883436" cy="439187"/>
          </a:xfrm>
          <a:prstGeom prst="rect">
            <a:avLst/>
          </a:prstGeom>
          <a:noFill/>
          <a:ln/>
        </p:spPr>
        <p:txBody>
          <a:bodyPr wrap="square" lIns="0" tIns="0" rIns="0" bIns="0" rtlCol="0" anchor="t">
            <a:normAutofit/>
          </a:bodyPr>
          <a:lstStyle/>
          <a:p>
            <a:pPr marL="0" indent="0" algn="l">
              <a:lnSpc>
                <a:spcPts val="3267"/>
              </a:lnSpc>
              <a:buNone/>
            </a:pPr>
            <a:r>
              <a:rPr lang="en-US" sz="2970" b="0" i="0" dirty="0">
                <a:solidFill>
                  <a:srgbClr val="1B2A3A"/>
                </a:solidFill>
                <a:latin typeface="Georgia" pitchFamily="18" charset="0"/>
                <a:ea typeface="Georgia" pitchFamily="18" charset="-122"/>
                <a:cs typeface="Georgia" pitchFamily="18" charset="-120"/>
              </a:rPr>
              <a:t>A fixed point in principle, a root scan in the driver</a:t>
            </a:r>
            <a:endParaRPr lang="en-US" sz="2970" dirty="0"/>
          </a:p>
        </p:txBody>
      </p:sp>
      <p:sp>
        <p:nvSpPr>
          <p:cNvPr id="4" name="Shape 2"/>
          <p:cNvSpPr/>
          <p:nvPr/>
        </p:nvSpPr>
        <p:spPr>
          <a:xfrm>
            <a:off x="812765" y="1491258"/>
            <a:ext cx="10566398" cy="4350763"/>
          </a:xfrm>
          <a:prstGeom prst="roundRect">
            <a:avLst>
              <a:gd name="adj" fmla="val 2335"/>
            </a:avLst>
          </a:prstGeom>
          <a:solidFill>
            <a:srgbClr val="FFFFFF"/>
          </a:solidFill>
          <a:ln/>
        </p:spPr>
        <p:txBody>
          <a:bodyPr/>
          <a:lstStyle/>
          <a:p>
            <a:endParaRPr lang="en-GB"/>
          </a:p>
        </p:txBody>
      </p:sp>
      <p:pic>
        <p:nvPicPr>
          <p:cNvPr id="5" name="Image 0" descr="Left: demand G(d) against trial displacement d for run 25 with the 45-degree line; a cobweb iteration from 5 mm converges to d* = 64.4 mm and one from 82 mm runs away past the tipping point at 78 mm. Middle: g(d) = G(d) minus d evaluated on the 0.02 mm grid, drawn as points; the plus-to-minus zero is the stable d*, the minus-to-plus zero is the tipping point. Right: zoom on the consecutive grid points around the sign change, with the linear interpolation that gives d* = 64.393 mm."/>
          <p:cNvPicPr>
            <a:picLocks noChangeAspect="1"/>
          </p:cNvPicPr>
          <p:nvPr/>
        </p:nvPicPr>
        <p:blipFill>
          <a:blip r:embed="rId3"/>
          <a:stretch>
            <a:fillRect/>
          </a:stretch>
        </p:blipFill>
        <p:spPr>
          <a:xfrm>
            <a:off x="819115" y="1603511"/>
            <a:ext cx="10553698" cy="4126258"/>
          </a:xfrm>
          <a:prstGeom prst="rect">
            <a:avLst/>
          </a:prstGeom>
        </p:spPr>
      </p:pic>
      <p:sp>
        <p:nvSpPr>
          <p:cNvPr id="6" name="Shape 3"/>
          <p:cNvSpPr/>
          <p:nvPr/>
        </p:nvSpPr>
        <p:spPr>
          <a:xfrm>
            <a:off x="815940" y="1494433"/>
            <a:ext cx="10560048" cy="4344413"/>
          </a:xfrm>
          <a:prstGeom prst="roundRect">
            <a:avLst>
              <a:gd name="adj" fmla="val 2266"/>
            </a:avLst>
          </a:prstGeom>
          <a:noFill/>
          <a:ln w="6350">
            <a:solidFill>
              <a:srgbClr val="DDD8CC"/>
            </a:solidFill>
            <a:prstDash val="solid"/>
          </a:ln>
        </p:spPr>
        <p:txBody>
          <a:bodyPr/>
          <a:lstStyle/>
          <a:p>
            <a:endParaRPr lang="en-GB"/>
          </a:p>
        </p:txBody>
      </p:sp>
      <p:sp>
        <p:nvSpPr>
          <p:cNvPr id="7" name="Text 4"/>
          <p:cNvSpPr/>
          <p:nvPr/>
        </p:nvSpPr>
        <p:spPr>
          <a:xfrm>
            <a:off x="812765" y="6024935"/>
            <a:ext cx="11720584"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Arial" pitchFamily="34" charset="0"/>
                <a:ea typeface="Arial" pitchFamily="34" charset="-122"/>
                <a:cs typeface="Arial" pitchFamily="34" charset="-120"/>
              </a:rPr>
              <a:t>(a) iterating d ← G(d) reaches only the stable crossing · (b) the driver scans g(d) on 6000 points and keeps every sign change · (c) d* interpolated between the bracketing pair · grey: backbone extrapolated beyond 81 mm</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1B2A3A"/>
        </a:solidFill>
        <a:effectLst/>
      </p:bgPr>
    </p:bg>
    <p:spTree>
      <p:nvGrpSpPr>
        <p:cNvPr id="1" name=""/>
        <p:cNvGrpSpPr/>
        <p:nvPr/>
      </p:nvGrpSpPr>
      <p:grpSpPr>
        <a:xfrm>
          <a:off x="0" y="0"/>
          <a:ext cx="0" cy="0"/>
          <a:chOff x="0" y="0"/>
          <a:chExt cx="0" cy="0"/>
        </a:xfrm>
      </p:grpSpPr>
      <p:sp>
        <p:nvSpPr>
          <p:cNvPr id="2" name="Text 0"/>
          <p:cNvSpPr/>
          <p:nvPr/>
        </p:nvSpPr>
        <p:spPr>
          <a:xfrm>
            <a:off x="812765" y="812763"/>
            <a:ext cx="10883436" cy="256545"/>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D9A77A"/>
                </a:solidFill>
                <a:latin typeface="Arial" pitchFamily="34" charset="0"/>
                <a:ea typeface="Arial" pitchFamily="34" charset="-122"/>
                <a:cs typeface="Arial" pitchFamily="34" charset="-120"/>
              </a:rPr>
              <a:t>4 · A FINDING FROM THE PREFLIGHT</a:t>
            </a:r>
            <a:endParaRPr lang="en-US" sz="1300" dirty="0"/>
          </a:p>
        </p:txBody>
      </p:sp>
      <p:sp>
        <p:nvSpPr>
          <p:cNvPr id="3" name="Text 1"/>
          <p:cNvSpPr>
            <a:spLocks noGrp="1"/>
          </p:cNvSpPr>
          <p:nvPr>
            <p:ph type="title"/>
          </p:nvPr>
        </p:nvSpPr>
        <p:spPr>
          <a:xfrm>
            <a:off x="812765" y="1348687"/>
            <a:ext cx="10883436" cy="975339"/>
          </a:xfrm>
          <a:prstGeom prst="rect">
            <a:avLst/>
          </a:prstGeom>
          <a:noFill/>
          <a:ln/>
        </p:spPr>
        <p:txBody>
          <a:bodyPr wrap="square" lIns="0" tIns="0" rIns="0" bIns="0" rtlCol="0" anchor="t">
            <a:normAutofit/>
          </a:bodyPr>
          <a:lstStyle/>
          <a:p>
            <a:pPr marL="0" indent="0" algn="l">
              <a:lnSpc>
                <a:spcPts val="3740"/>
              </a:lnSpc>
              <a:buNone/>
            </a:pPr>
            <a:r>
              <a:rPr lang="en-US" sz="3400" b="0" i="0" dirty="0">
                <a:solidFill>
                  <a:srgbClr val="F6F4EE"/>
                </a:solidFill>
                <a:latin typeface="Georgia" pitchFamily="18" charset="0"/>
                <a:ea typeface="Georgia" pitchFamily="18" charset="-122"/>
                <a:cs typeface="Georgia" pitchFamily="18" charset="-120"/>
              </a:rPr>
              <a:t>The record’s carrier cannot deliver the target once the wall has softened</a:t>
            </a:r>
            <a:endParaRPr lang="en-US" sz="3400" dirty="0"/>
          </a:p>
        </p:txBody>
      </p:sp>
      <p:sp>
        <p:nvSpPr>
          <p:cNvPr id="4" name="Shape 2"/>
          <p:cNvSpPr/>
          <p:nvPr/>
        </p:nvSpPr>
        <p:spPr>
          <a:xfrm>
            <a:off x="812765" y="2603407"/>
            <a:ext cx="5156237" cy="2186862"/>
          </a:xfrm>
          <a:prstGeom prst="roundRect">
            <a:avLst>
              <a:gd name="adj" fmla="val 4646"/>
            </a:avLst>
          </a:prstGeom>
          <a:solidFill>
            <a:srgbClr val="24364A"/>
          </a:solidFill>
          <a:ln/>
        </p:spPr>
        <p:txBody>
          <a:bodyPr/>
          <a:lstStyle/>
          <a:p>
            <a:endParaRPr lang="en-GB"/>
          </a:p>
        </p:txBody>
      </p:sp>
      <p:sp>
        <p:nvSpPr>
          <p:cNvPr id="5" name="Text 3"/>
          <p:cNvSpPr/>
          <p:nvPr/>
        </p:nvSpPr>
        <p:spPr>
          <a:xfrm>
            <a:off x="1066734" y="2857376"/>
            <a:ext cx="4902268" cy="25654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D8D5"/>
                </a:solidFill>
                <a:latin typeface="Arial" pitchFamily="34" charset="0"/>
                <a:ea typeface="Arial" pitchFamily="34" charset="-122"/>
                <a:cs typeface="Arial" pitchFamily="34" charset="-120"/>
              </a:rPr>
              <a:t>Wave B at the record’s T_p = 0.26 s, target 60 mm at T* = 0.6 s</a:t>
            </a:r>
            <a:endParaRPr lang="en-US" sz="1300" dirty="0"/>
          </a:p>
        </p:txBody>
      </p:sp>
      <p:sp>
        <p:nvSpPr>
          <p:cNvPr id="6" name="Text 4"/>
          <p:cNvSpPr/>
          <p:nvPr/>
        </p:nvSpPr>
        <p:spPr>
          <a:xfrm>
            <a:off x="1066734" y="3177418"/>
            <a:ext cx="4787747" cy="584196"/>
          </a:xfrm>
          <a:prstGeom prst="rect">
            <a:avLst/>
          </a:prstGeom>
          <a:noFill/>
          <a:ln/>
        </p:spPr>
        <p:txBody>
          <a:bodyPr wrap="square" lIns="0" tIns="0" rIns="0" bIns="0" rtlCol="0" anchor="t">
            <a:normAutofit/>
          </a:bodyPr>
          <a:lstStyle/>
          <a:p>
            <a:pPr marL="0" indent="0" algn="l">
              <a:lnSpc>
                <a:spcPts val="4400"/>
              </a:lnSpc>
              <a:buNone/>
            </a:pPr>
            <a:r>
              <a:rPr lang="en-US" sz="4400" dirty="0">
                <a:solidFill>
                  <a:srgbClr val="F2B36B"/>
                </a:solidFill>
                <a:latin typeface="Georgia" pitchFamily="18" charset="0"/>
                <a:ea typeface="Georgia" pitchFamily="18" charset="-122"/>
                <a:cs typeface="Georgia" pitchFamily="18" charset="-120"/>
              </a:rPr>
              <a:t>1.5–1.7 g</a:t>
            </a:r>
            <a:endParaRPr lang="en-US" sz="4400" dirty="0"/>
          </a:p>
        </p:txBody>
      </p:sp>
      <p:sp>
        <p:nvSpPr>
          <p:cNvPr id="7" name="Text 5"/>
          <p:cNvSpPr/>
          <p:nvPr/>
        </p:nvSpPr>
        <p:spPr>
          <a:xfrm>
            <a:off x="1066734" y="3825118"/>
            <a:ext cx="4787747" cy="505442"/>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BFD8D5"/>
                </a:solidFill>
                <a:latin typeface="Arial" pitchFamily="34" charset="0"/>
                <a:ea typeface="Arial" pitchFamily="34" charset="-122"/>
                <a:cs typeface="Arial" pitchFamily="34" charset="-120"/>
              </a:rPr>
              <a:t>2.5–2.8× the record’s PGA. Frequency ratio 2.3 → amplification 0.23; the oscillator gets a kick, not a cycle.</a:t>
            </a:r>
            <a:endParaRPr lang="en-US" sz="1350" dirty="0"/>
          </a:p>
        </p:txBody>
      </p:sp>
      <p:sp>
        <p:nvSpPr>
          <p:cNvPr id="8" name="Shape 6"/>
          <p:cNvSpPr/>
          <p:nvPr/>
        </p:nvSpPr>
        <p:spPr>
          <a:xfrm>
            <a:off x="6222971" y="2603407"/>
            <a:ext cx="5156237" cy="2186862"/>
          </a:xfrm>
          <a:prstGeom prst="roundRect">
            <a:avLst>
              <a:gd name="adj" fmla="val 4646"/>
            </a:avLst>
          </a:prstGeom>
          <a:solidFill>
            <a:srgbClr val="24364A"/>
          </a:solidFill>
          <a:ln/>
        </p:spPr>
        <p:txBody>
          <a:bodyPr/>
          <a:lstStyle/>
          <a:p>
            <a:endParaRPr lang="en-GB"/>
          </a:p>
        </p:txBody>
      </p:sp>
      <p:sp>
        <p:nvSpPr>
          <p:cNvPr id="9" name="Text 7"/>
          <p:cNvSpPr/>
          <p:nvPr/>
        </p:nvSpPr>
        <p:spPr>
          <a:xfrm>
            <a:off x="6476940" y="2857376"/>
            <a:ext cx="4787747" cy="4876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D8D5"/>
                </a:solidFill>
                <a:latin typeface="Arial" pitchFamily="34" charset="0"/>
                <a:ea typeface="Arial" pitchFamily="34" charset="-122"/>
                <a:cs typeface="Arial" pitchFamily="34" charset="-120"/>
              </a:rPr>
              <a:t>Wave B carrier at max(T_p, T*), cycles and phase from the record</a:t>
            </a:r>
            <a:endParaRPr lang="en-US" sz="1300" dirty="0"/>
          </a:p>
        </p:txBody>
      </p:sp>
      <p:sp>
        <p:nvSpPr>
          <p:cNvPr id="10" name="Text 8"/>
          <p:cNvSpPr/>
          <p:nvPr/>
        </p:nvSpPr>
        <p:spPr>
          <a:xfrm>
            <a:off x="6476940" y="3408567"/>
            <a:ext cx="4787747" cy="584196"/>
          </a:xfrm>
          <a:prstGeom prst="rect">
            <a:avLst/>
          </a:prstGeom>
          <a:noFill/>
          <a:ln/>
        </p:spPr>
        <p:txBody>
          <a:bodyPr wrap="square" lIns="0" tIns="0" rIns="0" bIns="0" rtlCol="0" anchor="t">
            <a:normAutofit/>
          </a:bodyPr>
          <a:lstStyle/>
          <a:p>
            <a:pPr marL="0" indent="0" algn="l">
              <a:lnSpc>
                <a:spcPts val="4400"/>
              </a:lnSpc>
              <a:buNone/>
            </a:pPr>
            <a:r>
              <a:rPr lang="en-US" sz="4400" dirty="0">
                <a:solidFill>
                  <a:srgbClr val="8FC1E3"/>
                </a:solidFill>
                <a:latin typeface="Georgia" pitchFamily="18" charset="0"/>
                <a:ea typeface="Georgia" pitchFamily="18" charset="-122"/>
                <a:cs typeface="Georgia" pitchFamily="18" charset="-120"/>
              </a:rPr>
              <a:t>0.33–0.46 g</a:t>
            </a:r>
            <a:endParaRPr lang="en-US" sz="4400" dirty="0"/>
          </a:p>
        </p:txBody>
      </p:sp>
      <p:sp>
        <p:nvSpPr>
          <p:cNvPr id="11" name="Text 9"/>
          <p:cNvSpPr/>
          <p:nvPr/>
        </p:nvSpPr>
        <p:spPr>
          <a:xfrm>
            <a:off x="6476940" y="4056261"/>
            <a:ext cx="4787747" cy="505442"/>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BFD8D5"/>
                </a:solidFill>
                <a:latin typeface="Arial" pitchFamily="34" charset="0"/>
                <a:ea typeface="Arial" pitchFamily="34" charset="-122"/>
                <a:cs typeface="Arial" pitchFamily="34" charset="-120"/>
              </a:rPr>
              <a:t>0.6× the record’s PGA, both targets met exactly. The v13 default; the record-T_p variant stays switchable.</a:t>
            </a:r>
            <a:endParaRPr lang="en-US" sz="1350" dirty="0"/>
          </a:p>
        </p:txBody>
      </p:sp>
      <p:sp>
        <p:nvSpPr>
          <p:cNvPr id="12" name="Text 10"/>
          <p:cNvSpPr/>
          <p:nvPr/>
        </p:nvSpPr>
        <p:spPr>
          <a:xfrm>
            <a:off x="812765" y="5095050"/>
            <a:ext cx="10464792" cy="540947"/>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F6F4EE"/>
                </a:solidFill>
                <a:latin typeface="Arial" pitchFamily="34" charset="0"/>
                <a:ea typeface="Arial" pitchFamily="34" charset="-122"/>
                <a:cs typeface="Arial" pitchFamily="34" charset="-120"/>
              </a:rPr>
              <a:t>“Periods from the record” holds while T* ≈ T_p — HU12 to about run 14 — and breaks when the wall’s secant period leaves the record’s band.</a:t>
            </a:r>
            <a:endParaRPr lang="en-US" sz="1400" dirty="0"/>
          </a:p>
        </p:txBody>
      </p:sp>
      <p:sp>
        <p:nvSpPr>
          <p:cNvPr id="13" name="Text 11"/>
          <p:cNvSpPr/>
          <p:nvPr/>
        </p:nvSpPr>
        <p:spPr>
          <a:xfrm>
            <a:off x="812765" y="6238273"/>
            <a:ext cx="7832379"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8D5"/>
                </a:solidFill>
                <a:latin typeface="Arial" pitchFamily="34" charset="0"/>
                <a:ea typeface="Arial" pitchFamily="34" charset="-122"/>
                <a:cs typeface="Arial" pitchFamily="34" charset="-120"/>
              </a:rPr>
              <a:t>m2fp_targets_preflight_v5backbone.csv · HU12 × 5.5–6.0 also exceed 1 g with the record carrier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5" y="812769"/>
            <a:ext cx="10883436" cy="211711"/>
          </a:xfrm>
          <a:prstGeom prst="rect">
            <a:avLst/>
          </a:prstGeom>
          <a:noFill/>
          <a:ln/>
        </p:spPr>
        <p:txBody>
          <a:bodyPr wrap="square" lIns="0" tIns="0" rIns="0" bIns="0" rtlCol="0" anchor="t">
            <a:normAutofit/>
          </a:bodyPr>
          <a:lstStyle/>
          <a:p>
            <a:pPr marL="0" indent="0" algn="l">
              <a:lnSpc>
                <a:spcPts val="1473"/>
              </a:lnSpc>
              <a:buNone/>
            </a:pPr>
            <a:r>
              <a:rPr lang="en-US" sz="1052" b="1" kern="0" spc="100" dirty="0">
                <a:solidFill>
                  <a:srgbClr val="B4491A"/>
                </a:solidFill>
                <a:latin typeface="Arial" pitchFamily="34" charset="0"/>
                <a:ea typeface="Arial" pitchFamily="34" charset="-122"/>
                <a:cs typeface="Arial" pitchFamily="34" charset="-120"/>
              </a:rPr>
              <a:t>4 · THE TARGETS THE DRIVER WILL RUN</a:t>
            </a:r>
            <a:endParaRPr lang="en-US" sz="1052" dirty="0"/>
          </a:p>
        </p:txBody>
      </p:sp>
      <p:sp>
        <p:nvSpPr>
          <p:cNvPr id="3" name="Text 1"/>
          <p:cNvSpPr>
            <a:spLocks noGrp="1"/>
          </p:cNvSpPr>
          <p:nvPr>
            <p:ph type="title"/>
          </p:nvPr>
        </p:nvSpPr>
        <p:spPr>
          <a:xfrm>
            <a:off x="812765" y="1227640"/>
            <a:ext cx="11379235" cy="791157"/>
          </a:xfrm>
          <a:prstGeom prst="rect">
            <a:avLst/>
          </a:prstGeom>
          <a:noFill/>
          <a:ln/>
        </p:spPr>
        <p:txBody>
          <a:bodyPr wrap="square" lIns="0" tIns="0" rIns="0" bIns="0" rtlCol="0" anchor="t">
            <a:normAutofit/>
          </a:bodyPr>
          <a:lstStyle/>
          <a:p>
            <a:pPr marL="0" indent="0" algn="l">
              <a:lnSpc>
                <a:spcPts val="3401"/>
              </a:lnSpc>
              <a:buNone/>
            </a:pPr>
            <a:r>
              <a:rPr lang="en-US" sz="3092" b="0" i="0" dirty="0">
                <a:solidFill>
                  <a:srgbClr val="1B2A3A"/>
                </a:solidFill>
                <a:latin typeface="Georgia" pitchFamily="18" charset="0"/>
                <a:ea typeface="Georgia" pitchFamily="18" charset="-122"/>
                <a:cs typeface="Georgia" pitchFamily="18" charset="-120"/>
              </a:rPr>
              <a:t>Fixed-point targets on the v5 backbone, m_eff matched to T1</a:t>
            </a:r>
            <a:endParaRPr lang="en-US" sz="3092" dirty="0"/>
          </a:p>
        </p:txBody>
      </p:sp>
      <p:sp>
        <p:nvSpPr>
          <p:cNvPr id="4" name="Shape 2"/>
          <p:cNvSpPr/>
          <p:nvPr/>
        </p:nvSpPr>
        <p:spPr>
          <a:xfrm>
            <a:off x="812765" y="2221960"/>
            <a:ext cx="10566443" cy="2713549"/>
          </a:xfrm>
          <a:prstGeom prst="rect">
            <a:avLst/>
          </a:prstGeom>
          <a:solidFill>
            <a:srgbClr val="FFFFFF"/>
          </a:solidFill>
          <a:ln/>
        </p:spPr>
        <p:txBody>
          <a:bodyPr/>
          <a:lstStyle/>
          <a:p>
            <a:endParaRPr lang="en-GB"/>
          </a:p>
        </p:txBody>
      </p:sp>
      <p:sp>
        <p:nvSpPr>
          <p:cNvPr id="5" name="Shape 3"/>
          <p:cNvSpPr/>
          <p:nvPr/>
        </p:nvSpPr>
        <p:spPr>
          <a:xfrm>
            <a:off x="11376033" y="2221960"/>
            <a:ext cx="0" cy="2713549"/>
          </a:xfrm>
          <a:prstGeom prst="line">
            <a:avLst/>
          </a:prstGeom>
          <a:noFill/>
          <a:ln w="6350">
            <a:solidFill>
              <a:srgbClr val="DDD8CC"/>
            </a:solidFill>
            <a:prstDash val="solid"/>
          </a:ln>
        </p:spPr>
        <p:txBody>
          <a:bodyPr/>
          <a:lstStyle/>
          <a:p>
            <a:endParaRPr lang="en-GB"/>
          </a:p>
        </p:txBody>
      </p:sp>
      <p:sp>
        <p:nvSpPr>
          <p:cNvPr id="6" name="Shape 4"/>
          <p:cNvSpPr/>
          <p:nvPr/>
        </p:nvSpPr>
        <p:spPr>
          <a:xfrm>
            <a:off x="812765" y="4932334"/>
            <a:ext cx="10566443" cy="0"/>
          </a:xfrm>
          <a:prstGeom prst="line">
            <a:avLst/>
          </a:prstGeom>
          <a:noFill/>
          <a:ln w="6350">
            <a:solidFill>
              <a:srgbClr val="DDD8CC"/>
            </a:solidFill>
            <a:prstDash val="solid"/>
          </a:ln>
        </p:spPr>
        <p:txBody>
          <a:bodyPr/>
          <a:lstStyle/>
          <a:p>
            <a:endParaRPr lang="en-GB"/>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4358" y="2233554"/>
          <a:ext cx="10549052" cy="2696159"/>
        </p:xfrm>
        <a:graphic>
          <a:graphicData uri="http://schemas.openxmlformats.org/drawingml/2006/table">
            <a:tbl>
              <a:tblPr/>
              <a:tblGrid>
                <a:gridCol w="843924">
                  <a:extLst>
                    <a:ext uri="{9D8B030D-6E8A-4147-A177-3AD203B41FA5}">
                      <a16:colId xmlns:a16="http://schemas.microsoft.com/office/drawing/2014/main" val="20000"/>
                    </a:ext>
                  </a:extLst>
                </a:gridCol>
                <a:gridCol w="1898829">
                  <a:extLst>
                    <a:ext uri="{9D8B030D-6E8A-4147-A177-3AD203B41FA5}">
                      <a16:colId xmlns:a16="http://schemas.microsoft.com/office/drawing/2014/main" val="20001"/>
                    </a:ext>
                  </a:extLst>
                </a:gridCol>
                <a:gridCol w="1371377">
                  <a:extLst>
                    <a:ext uri="{9D8B030D-6E8A-4147-A177-3AD203B41FA5}">
                      <a16:colId xmlns:a16="http://schemas.microsoft.com/office/drawing/2014/main" val="20002"/>
                    </a:ext>
                  </a:extLst>
                </a:gridCol>
                <a:gridCol w="1265886">
                  <a:extLst>
                    <a:ext uri="{9D8B030D-6E8A-4147-A177-3AD203B41FA5}">
                      <a16:colId xmlns:a16="http://schemas.microsoft.com/office/drawing/2014/main" val="20003"/>
                    </a:ext>
                  </a:extLst>
                </a:gridCol>
                <a:gridCol w="1476867">
                  <a:extLst>
                    <a:ext uri="{9D8B030D-6E8A-4147-A177-3AD203B41FA5}">
                      <a16:colId xmlns:a16="http://schemas.microsoft.com/office/drawing/2014/main" val="20004"/>
                    </a:ext>
                  </a:extLst>
                </a:gridCol>
                <a:gridCol w="1160396">
                  <a:extLst>
                    <a:ext uri="{9D8B030D-6E8A-4147-A177-3AD203B41FA5}">
                      <a16:colId xmlns:a16="http://schemas.microsoft.com/office/drawing/2014/main" val="20005"/>
                    </a:ext>
                  </a:extLst>
                </a:gridCol>
                <a:gridCol w="1265886">
                  <a:extLst>
                    <a:ext uri="{9D8B030D-6E8A-4147-A177-3AD203B41FA5}">
                      <a16:colId xmlns:a16="http://schemas.microsoft.com/office/drawing/2014/main" val="20006"/>
                    </a:ext>
                  </a:extLst>
                </a:gridCol>
                <a:gridCol w="1265886">
                  <a:extLst>
                    <a:ext uri="{9D8B030D-6E8A-4147-A177-3AD203B41FA5}">
                      <a16:colId xmlns:a16="http://schemas.microsoft.com/office/drawing/2014/main" val="20007"/>
                    </a:ext>
                  </a:extLst>
                </a:gridCol>
              </a:tblGrid>
              <a:tr h="299573">
                <a:tc>
                  <a:txBody>
                    <a:bodyPr/>
                    <a:lstStyle/>
                    <a:p>
                      <a:pPr marL="0" indent="0">
                        <a:lnSpc>
                          <a:spcPts val="1512"/>
                        </a:lnSpc>
                        <a:buNone/>
                      </a:pPr>
                      <a:r>
                        <a:rPr lang="en-US" sz="1080" b="1" dirty="0">
                          <a:solidFill>
                            <a:srgbClr val="F6F4EE"/>
                          </a:solidFill>
                          <a:latin typeface="Arial" pitchFamily="34" charset="0"/>
                          <a:ea typeface="Arial" pitchFamily="34" charset="-122"/>
                          <a:cs typeface="Arial" pitchFamily="34" charset="-120"/>
                        </a:rPr>
                        <a:t>Run</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1925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1"/>
                      </a:solidFill>
                      <a:prstDash val="solid"/>
                      <a:round/>
                      <a:headEnd type="none" w="med" len="med"/>
                      <a:tailEnd type="none" w="med" len="med"/>
                    </a:lnB>
                    <a:solidFill>
                      <a:srgbClr val="1B2A3A"/>
                    </a:solidFill>
                  </a:tcPr>
                </a:tc>
                <a:tc>
                  <a:txBody>
                    <a:bodyPr/>
                    <a:lstStyle/>
                    <a:p>
                      <a:pPr marL="0" indent="0">
                        <a:lnSpc>
                          <a:spcPts val="1512"/>
                        </a:lnSpc>
                        <a:buNone/>
                      </a:pPr>
                      <a:r>
                        <a:rPr lang="en-US" sz="1080" b="1" dirty="0">
                          <a:solidFill>
                            <a:srgbClr val="F6F4EE"/>
                          </a:solidFill>
                          <a:latin typeface="Arial" pitchFamily="34" charset="0"/>
                          <a:ea typeface="Arial" pitchFamily="34" charset="-122"/>
                          <a:cs typeface="Arial" pitchFamily="34" charset="-120"/>
                        </a:rPr>
                        <a:t>Record × s</a:t>
                      </a:r>
                      <a:endParaRPr lang="en-US" sz="1080" dirty="0">
                        <a:latin typeface="Arial" charset="0"/>
                        <a:ea typeface="Arial" charset="0"/>
                        <a:cs typeface="Arial" charset="0"/>
                      </a:endParaRPr>
                    </a:p>
                  </a:txBody>
                  <a:tcPr marL="48006" marR="48006" marT="48006" marB="48006">
                    <a:lnL w="12700" cap="flat" cmpd="sng" algn="ctr">
                      <a:solidFill>
                        <a:srgbClr val="192531"/>
                      </a:solidFill>
                      <a:prstDash val="solid"/>
                      <a:round/>
                      <a:headEnd type="none" w="med" len="med"/>
                      <a:tailEnd type="none" w="med" len="med"/>
                    </a:lnL>
                    <a:lnR w="12700" cap="flat" cmpd="sng" algn="ctr">
                      <a:solidFill>
                        <a:srgbClr val="1925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1"/>
                      </a:solidFill>
                      <a:prstDash val="solid"/>
                      <a:round/>
                      <a:headEnd type="none" w="med" len="med"/>
                      <a:tailEnd type="none" w="med" len="med"/>
                    </a:lnB>
                    <a:solidFill>
                      <a:srgbClr val="1B2A3A"/>
                    </a:solidFill>
                  </a:tcPr>
                </a:tc>
                <a:tc>
                  <a:txBody>
                    <a:bodyPr/>
                    <a:lstStyle/>
                    <a:p>
                      <a:pPr marL="0" indent="0" algn="r">
                        <a:lnSpc>
                          <a:spcPts val="1512"/>
                        </a:lnSpc>
                        <a:buNone/>
                      </a:pPr>
                      <a:r>
                        <a:rPr lang="en-US" sz="1080" b="1" dirty="0">
                          <a:solidFill>
                            <a:srgbClr val="F6F4EE"/>
                          </a:solidFill>
                          <a:latin typeface="Arial" pitchFamily="34" charset="0"/>
                          <a:ea typeface="Arial" pitchFamily="34" charset="-122"/>
                          <a:cs typeface="Arial" pitchFamily="34" charset="-120"/>
                        </a:rPr>
                        <a:t>d* (mm)</a:t>
                      </a:r>
                      <a:endParaRPr lang="en-US" sz="1080" dirty="0">
                        <a:latin typeface="Arial" charset="0"/>
                        <a:ea typeface="Arial" charset="0"/>
                        <a:cs typeface="Arial" charset="0"/>
                      </a:endParaRPr>
                    </a:p>
                  </a:txBody>
                  <a:tcPr marL="48006" marR="48006" marT="48006" marB="48006">
                    <a:lnL w="12700" cap="flat" cmpd="sng" algn="ctr">
                      <a:solidFill>
                        <a:srgbClr val="192531"/>
                      </a:solidFill>
                      <a:prstDash val="solid"/>
                      <a:round/>
                      <a:headEnd type="none" w="med" len="med"/>
                      <a:tailEnd type="none" w="med" len="med"/>
                    </a:lnL>
                    <a:lnR w="12700" cap="flat" cmpd="sng" algn="ctr">
                      <a:solidFill>
                        <a:srgbClr val="1925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1"/>
                      </a:solidFill>
                      <a:prstDash val="solid"/>
                      <a:round/>
                      <a:headEnd type="none" w="med" len="med"/>
                      <a:tailEnd type="none" w="med" len="med"/>
                    </a:lnB>
                    <a:solidFill>
                      <a:srgbClr val="1B2A3A"/>
                    </a:solidFill>
                  </a:tcPr>
                </a:tc>
                <a:tc>
                  <a:txBody>
                    <a:bodyPr/>
                    <a:lstStyle/>
                    <a:p>
                      <a:pPr marL="0" indent="0" algn="r">
                        <a:lnSpc>
                          <a:spcPts val="1512"/>
                        </a:lnSpc>
                        <a:buNone/>
                      </a:pPr>
                      <a:r>
                        <a:rPr lang="en-US" sz="1080" b="1" dirty="0">
                          <a:solidFill>
                            <a:srgbClr val="F6F4EE"/>
                          </a:solidFill>
                          <a:latin typeface="Arial" pitchFamily="34" charset="0"/>
                          <a:ea typeface="Arial" pitchFamily="34" charset="-122"/>
                          <a:cs typeface="Arial" pitchFamily="34" charset="-120"/>
                        </a:rPr>
                        <a:t>T* (s)</a:t>
                      </a:r>
                      <a:endParaRPr lang="en-US" sz="1080" dirty="0">
                        <a:latin typeface="Arial" charset="0"/>
                        <a:ea typeface="Arial" charset="0"/>
                        <a:cs typeface="Arial" charset="0"/>
                      </a:endParaRPr>
                    </a:p>
                  </a:txBody>
                  <a:tcPr marL="48006" marR="48006" marT="48006" marB="48006">
                    <a:lnL w="12700" cap="flat" cmpd="sng" algn="ctr">
                      <a:solidFill>
                        <a:srgbClr val="192531"/>
                      </a:solidFill>
                      <a:prstDash val="solid"/>
                      <a:round/>
                      <a:headEnd type="none" w="med" len="med"/>
                      <a:tailEnd type="none" w="med" len="med"/>
                    </a:lnL>
                    <a:lnR w="12700" cap="flat" cmpd="sng" algn="ctr">
                      <a:solidFill>
                        <a:srgbClr val="1925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1"/>
                      </a:solidFill>
                      <a:prstDash val="solid"/>
                      <a:round/>
                      <a:headEnd type="none" w="med" len="med"/>
                      <a:tailEnd type="none" w="med" len="med"/>
                    </a:lnB>
                    <a:solidFill>
                      <a:srgbClr val="1B2A3A"/>
                    </a:solidFill>
                  </a:tcPr>
                </a:tc>
                <a:tc>
                  <a:txBody>
                    <a:bodyPr/>
                    <a:lstStyle/>
                    <a:p>
                      <a:pPr marL="0" indent="0" algn="r">
                        <a:lnSpc>
                          <a:spcPts val="1512"/>
                        </a:lnSpc>
                        <a:buNone/>
                      </a:pPr>
                      <a:r>
                        <a:rPr lang="en-US" sz="1080" b="1" dirty="0">
                          <a:solidFill>
                            <a:srgbClr val="F6F4EE"/>
                          </a:solidFill>
                          <a:latin typeface="Arial" pitchFamily="34" charset="0"/>
                          <a:ea typeface="Arial" pitchFamily="34" charset="-122"/>
                          <a:cs typeface="Arial" pitchFamily="34" charset="-120"/>
                        </a:rPr>
                        <a:t>Tipping (mm)</a:t>
                      </a:r>
                      <a:endParaRPr lang="en-US" sz="1080" dirty="0">
                        <a:latin typeface="Arial" charset="0"/>
                        <a:ea typeface="Arial" charset="0"/>
                        <a:cs typeface="Arial" charset="0"/>
                      </a:endParaRPr>
                    </a:p>
                  </a:txBody>
                  <a:tcPr marL="48006" marR="48006" marT="48006" marB="48006">
                    <a:lnL w="12700" cap="flat" cmpd="sng" algn="ctr">
                      <a:solidFill>
                        <a:srgbClr val="192531"/>
                      </a:solidFill>
                      <a:prstDash val="solid"/>
                      <a:round/>
                      <a:headEnd type="none" w="med" len="med"/>
                      <a:tailEnd type="none" w="med" len="med"/>
                    </a:lnL>
                    <a:lnR w="12700" cap="flat" cmpd="sng" algn="ctr">
                      <a:solidFill>
                        <a:srgbClr val="1925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1"/>
                      </a:solidFill>
                      <a:prstDash val="solid"/>
                      <a:round/>
                      <a:headEnd type="none" w="med" len="med"/>
                      <a:tailEnd type="none" w="med" len="med"/>
                    </a:lnB>
                    <a:solidFill>
                      <a:srgbClr val="1B2A3A"/>
                    </a:solidFill>
                  </a:tcPr>
                </a:tc>
                <a:tc>
                  <a:txBody>
                    <a:bodyPr/>
                    <a:lstStyle/>
                    <a:p>
                      <a:pPr marL="0" indent="0">
                        <a:lnSpc>
                          <a:spcPts val="1512"/>
                        </a:lnSpc>
                        <a:buNone/>
                      </a:pPr>
                      <a:r>
                        <a:rPr lang="en-US" sz="1080" b="1" dirty="0">
                          <a:solidFill>
                            <a:srgbClr val="F6F4EE"/>
                          </a:solidFill>
                          <a:latin typeface="Arial" pitchFamily="34" charset="0"/>
                          <a:ea typeface="Arial" pitchFamily="34" charset="-122"/>
                          <a:cs typeface="Arial" pitchFamily="34" charset="-120"/>
                        </a:rPr>
                        <a:t>Waves</a:t>
                      </a:r>
                      <a:endParaRPr lang="en-US" sz="1080" dirty="0">
                        <a:latin typeface="Arial" charset="0"/>
                        <a:ea typeface="Arial" charset="0"/>
                        <a:cs typeface="Arial" charset="0"/>
                      </a:endParaRPr>
                    </a:p>
                  </a:txBody>
                  <a:tcPr marL="48006" marR="48006" marT="48006" marB="48006">
                    <a:lnL w="12700" cap="flat" cmpd="sng" algn="ctr">
                      <a:solidFill>
                        <a:srgbClr val="192531"/>
                      </a:solidFill>
                      <a:prstDash val="solid"/>
                      <a:round/>
                      <a:headEnd type="none" w="med" len="med"/>
                      <a:tailEnd type="none" w="med" len="med"/>
                    </a:lnL>
                    <a:lnR w="12700" cap="flat" cmpd="sng" algn="ctr">
                      <a:solidFill>
                        <a:srgbClr val="1925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1"/>
                      </a:solidFill>
                      <a:prstDash val="solid"/>
                      <a:round/>
                      <a:headEnd type="none" w="med" len="med"/>
                      <a:tailEnd type="none" w="med" len="med"/>
                    </a:lnB>
                    <a:solidFill>
                      <a:srgbClr val="1B2A3A"/>
                    </a:solidFill>
                  </a:tcPr>
                </a:tc>
                <a:tc>
                  <a:txBody>
                    <a:bodyPr/>
                    <a:lstStyle/>
                    <a:p>
                      <a:pPr marL="0" indent="0" algn="r">
                        <a:lnSpc>
                          <a:spcPts val="1512"/>
                        </a:lnSpc>
                        <a:buNone/>
                      </a:pPr>
                      <a:r>
                        <a:rPr lang="en-US" sz="1080" b="1" dirty="0">
                          <a:solidFill>
                            <a:srgbClr val="F6F4EE"/>
                          </a:solidFill>
                          <a:latin typeface="Arial" pitchFamily="34" charset="0"/>
                          <a:ea typeface="Arial" pitchFamily="34" charset="-122"/>
                          <a:cs typeface="Arial" pitchFamily="34" charset="-120"/>
                        </a:rPr>
                        <a:t>PGA (g)</a:t>
                      </a:r>
                      <a:endParaRPr lang="en-US" sz="1080" dirty="0">
                        <a:latin typeface="Arial" charset="0"/>
                        <a:ea typeface="Arial" charset="0"/>
                        <a:cs typeface="Arial" charset="0"/>
                      </a:endParaRPr>
                    </a:p>
                  </a:txBody>
                  <a:tcPr marL="48006" marR="48006" marT="48006" marB="48006">
                    <a:lnL w="12700" cap="flat" cmpd="sng" algn="ctr">
                      <a:solidFill>
                        <a:srgbClr val="192531"/>
                      </a:solidFill>
                      <a:prstDash val="solid"/>
                      <a:round/>
                      <a:headEnd type="none" w="med" len="med"/>
                      <a:tailEnd type="none" w="med" len="med"/>
                    </a:lnL>
                    <a:lnR w="12700" cap="flat" cmpd="sng" algn="ctr">
                      <a:solidFill>
                        <a:srgbClr val="1925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1"/>
                      </a:solidFill>
                      <a:prstDash val="solid"/>
                      <a:round/>
                      <a:headEnd type="none" w="med" len="med"/>
                      <a:tailEnd type="none" w="med" len="med"/>
                    </a:lnB>
                    <a:solidFill>
                      <a:srgbClr val="1B2A3A"/>
                    </a:solidFill>
                  </a:tcPr>
                </a:tc>
                <a:tc>
                  <a:txBody>
                    <a:bodyPr/>
                    <a:lstStyle/>
                    <a:p>
                      <a:pPr marL="0" indent="0" algn="r">
                        <a:lnSpc>
                          <a:spcPts val="1512"/>
                        </a:lnSpc>
                        <a:buNone/>
                      </a:pPr>
                      <a:r>
                        <a:rPr lang="en-US" sz="1080" b="1" dirty="0">
                          <a:solidFill>
                            <a:srgbClr val="F6F4EE"/>
                          </a:solidFill>
                          <a:latin typeface="Arial" pitchFamily="34" charset="0"/>
                          <a:ea typeface="Arial" pitchFamily="34" charset="-122"/>
                          <a:cs typeface="Arial" pitchFamily="34" charset="-120"/>
                        </a:rPr>
                        <a:t>/ record</a:t>
                      </a:r>
                      <a:endParaRPr lang="en-US" sz="1080" dirty="0">
                        <a:latin typeface="Arial" charset="0"/>
                        <a:ea typeface="Arial" charset="0"/>
                        <a:cs typeface="Arial" charset="0"/>
                      </a:endParaRPr>
                    </a:p>
                  </a:txBody>
                  <a:tcPr marL="48006" marR="48006" marT="48006" marB="48006">
                    <a:lnL w="12700" cap="flat" cmpd="sng" algn="ctr">
                      <a:solidFill>
                        <a:srgbClr val="192531"/>
                      </a:solidFill>
                      <a:prstDash val="solid"/>
                      <a:round/>
                      <a:headEnd type="none" w="med" len="med"/>
                      <a:tailEnd type="none" w="med" len="med"/>
                    </a:lnL>
                    <a:lnR w="12700" cap="flat" cmpd="sng" algn="ctr">
                      <a:solidFill>
                        <a:srgbClr val="1925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1"/>
                      </a:solidFill>
                      <a:prstDash val="solid"/>
                      <a:round/>
                      <a:headEnd type="none" w="med" len="med"/>
                      <a:tailEnd type="none" w="med" len="med"/>
                    </a:lnB>
                    <a:solidFill>
                      <a:srgbClr val="1B2A3A"/>
                    </a:solidFill>
                  </a:tcPr>
                </a:tc>
                <a:extLst>
                  <a:ext uri="{0D108BD9-81ED-4DB2-BD59-A6C34878D82A}">
                    <a16:rowId xmlns:a16="http://schemas.microsoft.com/office/drawing/2014/main" val="10000"/>
                  </a:ext>
                </a:extLst>
              </a:tr>
              <a:tr h="299573">
                <a:tc>
                  <a:txBody>
                    <a:bodyPr/>
                    <a:lstStyle/>
                    <a:p>
                      <a:pPr marL="0" indent="0">
                        <a:lnSpc>
                          <a:spcPts val="1512"/>
                        </a:lnSpc>
                        <a:buNone/>
                      </a:pPr>
                      <a:r>
                        <a:rPr lang="en-US" sz="1080" dirty="0">
                          <a:solidFill>
                            <a:srgbClr val="1B2A3A"/>
                          </a:solidFill>
                          <a:latin typeface="Arial" pitchFamily="34" charset="0"/>
                          <a:ea typeface="Arial" pitchFamily="34" charset="-122"/>
                          <a:cs typeface="Arial" pitchFamily="34" charset="-120"/>
                        </a:rPr>
                        <a:t>1–6</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512"/>
                        </a:lnSpc>
                        <a:buNone/>
                      </a:pPr>
                      <a:r>
                        <a:rPr lang="en-US" sz="1080" dirty="0">
                          <a:solidFill>
                            <a:srgbClr val="1B2A3A"/>
                          </a:solidFill>
                          <a:latin typeface="Arial" pitchFamily="34" charset="0"/>
                          <a:ea typeface="Arial" pitchFamily="34" charset="-122"/>
                          <a:cs typeface="Arial" pitchFamily="34" charset="-120"/>
                        </a:rPr>
                        <a:t>HU12, EC40 small</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0.4–1.1</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0.10–0.11</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512"/>
                        </a:lnSpc>
                        <a:buNone/>
                      </a:pPr>
                      <a:r>
                        <a:rPr lang="en-US" sz="1080" dirty="0">
                          <a:solidFill>
                            <a:srgbClr val="1B2A3A"/>
                          </a:solidFill>
                          <a:latin typeface="Arial" pitchFamily="34" charset="0"/>
                          <a:ea typeface="Arial" pitchFamily="34" charset="-122"/>
                          <a:cs typeface="Arial" pitchFamily="34" charset="-120"/>
                        </a:rPr>
                        <a:t>A only</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0.07–0.17</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~1.0</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299573">
                <a:tc>
                  <a:txBody>
                    <a:bodyPr/>
                    <a:lstStyle/>
                    <a:p>
                      <a:pPr marL="0" indent="0">
                        <a:lnSpc>
                          <a:spcPts val="1512"/>
                        </a:lnSpc>
                        <a:buNone/>
                      </a:pPr>
                      <a:r>
                        <a:rPr lang="en-US" sz="1080" dirty="0">
                          <a:solidFill>
                            <a:srgbClr val="1B2A3A"/>
                          </a:solidFill>
                          <a:latin typeface="Arial" pitchFamily="34" charset="0"/>
                          <a:ea typeface="Arial" pitchFamily="34" charset="-122"/>
                          <a:cs typeface="Arial" pitchFamily="34" charset="-120"/>
                        </a:rPr>
                        <a:t>7–14</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512"/>
                        </a:lnSpc>
                        <a:buNone/>
                      </a:pPr>
                      <a:r>
                        <a:rPr lang="en-US" sz="1080" dirty="0">
                          <a:solidFill>
                            <a:srgbClr val="1B2A3A"/>
                          </a:solidFill>
                          <a:latin typeface="Arial" pitchFamily="34" charset="0"/>
                          <a:ea typeface="Arial" pitchFamily="34" charset="-122"/>
                          <a:cs typeface="Arial" pitchFamily="34" charset="-120"/>
                        </a:rPr>
                        <a:t>HU12 × 1.5–2.75</a:t>
                      </a:r>
                      <a:endParaRPr lang="en-US" sz="1080" dirty="0">
                        <a:latin typeface="Arial" charset="0"/>
                        <a:ea typeface="Arial" charset="0"/>
                        <a:cs typeface="Arial" charset="0"/>
                      </a:endParaRPr>
                    </a:p>
                  </a:txBody>
                  <a:tcPr marL="48006" marR="48006" marT="48006" marB="48006">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1.6–4.8</a:t>
                      </a:r>
                      <a:endParaRPr lang="en-US" sz="1080" dirty="0">
                        <a:latin typeface="Arial" charset="0"/>
                        <a:ea typeface="Arial" charset="0"/>
                        <a:cs typeface="Arial" charset="0"/>
                      </a:endParaRPr>
                    </a:p>
                  </a:txBody>
                  <a:tcPr marL="48006" marR="48006" marT="48006" marB="48006">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0.12–0.17</a:t>
                      </a:r>
                      <a:endParaRPr lang="en-US" sz="1080" dirty="0">
                        <a:latin typeface="Arial" charset="0"/>
                        <a:ea typeface="Arial" charset="0"/>
                        <a:cs typeface="Arial" charset="0"/>
                      </a:endParaRPr>
                    </a:p>
                  </a:txBody>
                  <a:tcPr marL="48006" marR="48006" marT="48006" marB="48006">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a:t>
                      </a:r>
                      <a:endParaRPr lang="en-US" sz="1080" dirty="0">
                        <a:latin typeface="Arial" charset="0"/>
                        <a:ea typeface="Arial" charset="0"/>
                        <a:cs typeface="Arial" charset="0"/>
                      </a:endParaRPr>
                    </a:p>
                  </a:txBody>
                  <a:tcPr marL="48006" marR="48006" marT="48006" marB="48006">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512"/>
                        </a:lnSpc>
                        <a:buNone/>
                      </a:pPr>
                      <a:r>
                        <a:rPr lang="en-US" sz="1080" dirty="0">
                          <a:solidFill>
                            <a:srgbClr val="1B2A3A"/>
                          </a:solidFill>
                          <a:latin typeface="Arial" pitchFamily="34" charset="0"/>
                          <a:ea typeface="Arial" pitchFamily="34" charset="-122"/>
                          <a:cs typeface="Arial" pitchFamily="34" charset="-120"/>
                        </a:rPr>
                        <a:t>B only</a:t>
                      </a:r>
                      <a:endParaRPr lang="en-US" sz="1080" dirty="0">
                        <a:latin typeface="Arial" charset="0"/>
                        <a:ea typeface="Arial" charset="0"/>
                        <a:cs typeface="Arial" charset="0"/>
                      </a:endParaRPr>
                    </a:p>
                  </a:txBody>
                  <a:tcPr marL="48006" marR="48006" marT="48006" marB="48006">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0.22–0.33</a:t>
                      </a:r>
                      <a:endParaRPr lang="en-US" sz="1080" dirty="0">
                        <a:latin typeface="Arial" charset="0"/>
                        <a:ea typeface="Arial" charset="0"/>
                        <a:cs typeface="Arial" charset="0"/>
                      </a:endParaRPr>
                    </a:p>
                  </a:txBody>
                  <a:tcPr marL="48006" marR="48006" marT="48006" marB="48006">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0.9–1.1</a:t>
                      </a:r>
                      <a:endParaRPr lang="en-US" sz="1080" dirty="0">
                        <a:latin typeface="Arial" charset="0"/>
                        <a:ea typeface="Arial" charset="0"/>
                        <a:cs typeface="Arial" charset="0"/>
                      </a:endParaRPr>
                    </a:p>
                  </a:txBody>
                  <a:tcPr marL="48006" marR="48006" marT="48006" marB="48006">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2"/>
                  </a:ext>
                </a:extLst>
              </a:tr>
              <a:tr h="299573">
                <a:tc>
                  <a:txBody>
                    <a:bodyPr/>
                    <a:lstStyle/>
                    <a:p>
                      <a:pPr marL="0" indent="0">
                        <a:lnSpc>
                          <a:spcPts val="1512"/>
                        </a:lnSpc>
                        <a:buNone/>
                      </a:pPr>
                      <a:r>
                        <a:rPr lang="en-US" sz="1080" dirty="0">
                          <a:solidFill>
                            <a:srgbClr val="1B2A3A"/>
                          </a:solidFill>
                          <a:latin typeface="Arial" pitchFamily="34" charset="0"/>
                          <a:ea typeface="Arial" pitchFamily="34" charset="-122"/>
                          <a:cs typeface="Arial" pitchFamily="34" charset="-120"/>
                        </a:rPr>
                        <a:t>19</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512"/>
                        </a:lnSpc>
                        <a:buNone/>
                      </a:pPr>
                      <a:r>
                        <a:rPr lang="en-US" sz="1080" dirty="0">
                          <a:solidFill>
                            <a:srgbClr val="1B2A3A"/>
                          </a:solidFill>
                          <a:latin typeface="Arial" pitchFamily="34" charset="0"/>
                          <a:ea typeface="Arial" pitchFamily="34" charset="-122"/>
                          <a:cs typeface="Arial" pitchFamily="34" charset="-120"/>
                        </a:rPr>
                        <a:t>HU12 × 5.0</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8.3</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0.208</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512"/>
                        </a:lnSpc>
                        <a:buNone/>
                      </a:pPr>
                      <a:r>
                        <a:rPr lang="en-US" sz="1080" dirty="0">
                          <a:solidFill>
                            <a:srgbClr val="1B2A3A"/>
                          </a:solidFill>
                          <a:latin typeface="Arial" pitchFamily="34" charset="0"/>
                          <a:ea typeface="Arial" pitchFamily="34" charset="-122"/>
                          <a:cs typeface="Arial" pitchFamily="34" charset="-120"/>
                        </a:rPr>
                        <a:t>A + B</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0.51</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0.78</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299573">
                <a:tc>
                  <a:txBody>
                    <a:bodyPr/>
                    <a:lstStyle/>
                    <a:p>
                      <a:pPr marL="0" indent="0">
                        <a:lnSpc>
                          <a:spcPts val="1512"/>
                        </a:lnSpc>
                        <a:buNone/>
                      </a:pPr>
                      <a:r>
                        <a:rPr lang="en-US" sz="1080" dirty="0">
                          <a:solidFill>
                            <a:srgbClr val="1B2A3A"/>
                          </a:solidFill>
                          <a:latin typeface="Arial" pitchFamily="34" charset="0"/>
                          <a:ea typeface="Arial" pitchFamily="34" charset="-122"/>
                          <a:cs typeface="Arial" pitchFamily="34" charset="-120"/>
                        </a:rPr>
                        <a:t>21</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512"/>
                        </a:lnSpc>
                        <a:buNone/>
                      </a:pPr>
                      <a:r>
                        <a:rPr lang="en-US" sz="1080" dirty="0">
                          <a:solidFill>
                            <a:srgbClr val="1B2A3A"/>
                          </a:solidFill>
                          <a:latin typeface="Arial" pitchFamily="34" charset="0"/>
                          <a:ea typeface="Arial" pitchFamily="34" charset="-122"/>
                          <a:cs typeface="Arial" pitchFamily="34" charset="-120"/>
                        </a:rPr>
                        <a:t>HU12 × 6.0</a:t>
                      </a:r>
                      <a:endParaRPr lang="en-US" sz="1080" dirty="0">
                        <a:latin typeface="Arial" charset="0"/>
                        <a:ea typeface="Arial" charset="0"/>
                        <a:cs typeface="Arial" charset="0"/>
                      </a:endParaRPr>
                    </a:p>
                  </a:txBody>
                  <a:tcPr marL="48006" marR="48006" marT="48006" marB="48006">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10.9</a:t>
                      </a:r>
                      <a:endParaRPr lang="en-US" sz="1080" dirty="0">
                        <a:latin typeface="Arial" charset="0"/>
                        <a:ea typeface="Arial" charset="0"/>
                        <a:cs typeface="Arial" charset="0"/>
                      </a:endParaRPr>
                    </a:p>
                  </a:txBody>
                  <a:tcPr marL="48006" marR="48006" marT="48006" marB="48006">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0.234</a:t>
                      </a:r>
                      <a:endParaRPr lang="en-US" sz="1080" dirty="0">
                        <a:latin typeface="Arial" charset="0"/>
                        <a:ea typeface="Arial" charset="0"/>
                        <a:cs typeface="Arial" charset="0"/>
                      </a:endParaRPr>
                    </a:p>
                  </a:txBody>
                  <a:tcPr marL="48006" marR="48006" marT="48006" marB="48006">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a:t>
                      </a:r>
                      <a:endParaRPr lang="en-US" sz="1080" dirty="0">
                        <a:latin typeface="Arial" charset="0"/>
                        <a:ea typeface="Arial" charset="0"/>
                        <a:cs typeface="Arial" charset="0"/>
                      </a:endParaRPr>
                    </a:p>
                  </a:txBody>
                  <a:tcPr marL="48006" marR="48006" marT="48006" marB="48006">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512"/>
                        </a:lnSpc>
                        <a:buNone/>
                      </a:pPr>
                      <a:r>
                        <a:rPr lang="en-US" sz="1080" dirty="0">
                          <a:solidFill>
                            <a:srgbClr val="1B2A3A"/>
                          </a:solidFill>
                          <a:latin typeface="Arial" pitchFamily="34" charset="0"/>
                          <a:ea typeface="Arial" pitchFamily="34" charset="-122"/>
                          <a:cs typeface="Arial" pitchFamily="34" charset="-120"/>
                        </a:rPr>
                        <a:t>A + B</a:t>
                      </a:r>
                      <a:endParaRPr lang="en-US" sz="1080" dirty="0">
                        <a:latin typeface="Arial" charset="0"/>
                        <a:ea typeface="Arial" charset="0"/>
                        <a:cs typeface="Arial" charset="0"/>
                      </a:endParaRPr>
                    </a:p>
                  </a:txBody>
                  <a:tcPr marL="48006" marR="48006" marT="48006" marB="48006">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0.68</a:t>
                      </a:r>
                      <a:endParaRPr lang="en-US" sz="1080" dirty="0">
                        <a:latin typeface="Arial" charset="0"/>
                        <a:ea typeface="Arial" charset="0"/>
                        <a:cs typeface="Arial" charset="0"/>
                      </a:endParaRPr>
                    </a:p>
                  </a:txBody>
                  <a:tcPr marL="48006" marR="48006" marT="48006" marB="48006">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0.87</a:t>
                      </a:r>
                      <a:endParaRPr lang="en-US" sz="1080" dirty="0">
                        <a:latin typeface="Arial" charset="0"/>
                        <a:ea typeface="Arial" charset="0"/>
                        <a:cs typeface="Arial" charset="0"/>
                      </a:endParaRPr>
                    </a:p>
                  </a:txBody>
                  <a:tcPr marL="48006" marR="48006" marT="48006" marB="48006">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4"/>
                  </a:ext>
                </a:extLst>
              </a:tr>
              <a:tr h="299573">
                <a:tc>
                  <a:txBody>
                    <a:bodyPr/>
                    <a:lstStyle/>
                    <a:p>
                      <a:pPr marL="0" indent="0">
                        <a:lnSpc>
                          <a:spcPts val="1512"/>
                        </a:lnSpc>
                        <a:buNone/>
                      </a:pPr>
                      <a:r>
                        <a:rPr lang="en-US" sz="1080" dirty="0">
                          <a:solidFill>
                            <a:srgbClr val="1B2A3A"/>
                          </a:solidFill>
                          <a:latin typeface="Arial" pitchFamily="34" charset="0"/>
                          <a:ea typeface="Arial" pitchFamily="34" charset="-122"/>
                          <a:cs typeface="Arial" pitchFamily="34" charset="-120"/>
                        </a:rPr>
                        <a:t>22</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512"/>
                        </a:lnSpc>
                        <a:buNone/>
                      </a:pPr>
                      <a:r>
                        <a:rPr lang="en-US" sz="1080" dirty="0">
                          <a:solidFill>
                            <a:srgbClr val="1B2A3A"/>
                          </a:solidFill>
                          <a:latin typeface="Arial" pitchFamily="34" charset="0"/>
                          <a:ea typeface="Arial" pitchFamily="34" charset="-122"/>
                          <a:cs typeface="Arial" pitchFamily="34" charset="-120"/>
                        </a:rPr>
                        <a:t>FR76 × 1.0</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512"/>
                        </a:lnSpc>
                        <a:buNone/>
                      </a:pPr>
                      <a:r>
                        <a:rPr lang="en-US" sz="1080" dirty="0">
                          <a:solidFill>
                            <a:srgbClr val="B4491A"/>
                          </a:solidFill>
                          <a:latin typeface="Arial" pitchFamily="34" charset="0"/>
                          <a:ea typeface="Arial" pitchFamily="34" charset="-122"/>
                          <a:cs typeface="Arial" pitchFamily="34" charset="-120"/>
                        </a:rPr>
                        <a:t>4.5</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0.163</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512"/>
                        </a:lnSpc>
                        <a:buNone/>
                      </a:pPr>
                      <a:r>
                        <a:rPr lang="en-US" sz="1080" dirty="0">
                          <a:solidFill>
                            <a:srgbClr val="B4491A"/>
                          </a:solidFill>
                          <a:latin typeface="Arial" pitchFamily="34" charset="0"/>
                          <a:ea typeface="Arial" pitchFamily="34" charset="-122"/>
                          <a:cs typeface="Arial" pitchFamily="34" charset="-120"/>
                        </a:rPr>
                        <a:t>5.0</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512"/>
                        </a:lnSpc>
                        <a:buNone/>
                      </a:pPr>
                      <a:r>
                        <a:rPr lang="en-US" sz="1080" dirty="0">
                          <a:solidFill>
                            <a:srgbClr val="1B2A3A"/>
                          </a:solidFill>
                          <a:latin typeface="Arial" pitchFamily="34" charset="0"/>
                          <a:ea typeface="Arial" pitchFamily="34" charset="-122"/>
                          <a:cs typeface="Arial" pitchFamily="34" charset="-120"/>
                        </a:rPr>
                        <a:t>A + B</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0.21</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0.60</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299573">
                <a:tc>
                  <a:txBody>
                    <a:bodyPr/>
                    <a:lstStyle/>
                    <a:p>
                      <a:pPr marL="0" indent="0">
                        <a:lnSpc>
                          <a:spcPts val="1512"/>
                        </a:lnSpc>
                        <a:buNone/>
                      </a:pPr>
                      <a:r>
                        <a:rPr lang="en-US" sz="1080" dirty="0">
                          <a:solidFill>
                            <a:srgbClr val="1B2A3A"/>
                          </a:solidFill>
                          <a:latin typeface="Arial" pitchFamily="34" charset="0"/>
                          <a:ea typeface="Arial" pitchFamily="34" charset="-122"/>
                          <a:cs typeface="Arial" pitchFamily="34" charset="-120"/>
                        </a:rPr>
                        <a:t>23</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512"/>
                        </a:lnSpc>
                        <a:buNone/>
                      </a:pPr>
                      <a:r>
                        <a:rPr lang="en-US" sz="1080" dirty="0">
                          <a:solidFill>
                            <a:srgbClr val="1B2A3A"/>
                          </a:solidFill>
                          <a:latin typeface="Arial" pitchFamily="34" charset="0"/>
                          <a:ea typeface="Arial" pitchFamily="34" charset="-122"/>
                          <a:cs typeface="Arial" pitchFamily="34" charset="-120"/>
                        </a:rPr>
                        <a:t>FR76 × 1.5</a:t>
                      </a:r>
                      <a:endParaRPr lang="en-US" sz="1080" dirty="0">
                        <a:latin typeface="Arial" charset="0"/>
                        <a:ea typeface="Arial" charset="0"/>
                        <a:cs typeface="Arial" charset="0"/>
                      </a:endParaRPr>
                    </a:p>
                  </a:txBody>
                  <a:tcPr marL="48006" marR="48006" marT="48006" marB="48006">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58.3</a:t>
                      </a:r>
                      <a:endParaRPr lang="en-US" sz="1080" dirty="0">
                        <a:latin typeface="Arial" charset="0"/>
                        <a:ea typeface="Arial" charset="0"/>
                        <a:cs typeface="Arial" charset="0"/>
                      </a:endParaRPr>
                    </a:p>
                  </a:txBody>
                  <a:tcPr marL="48006" marR="48006" marT="48006" marB="48006">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0.571</a:t>
                      </a:r>
                      <a:endParaRPr lang="en-US" sz="1080" dirty="0">
                        <a:latin typeface="Arial" charset="0"/>
                        <a:ea typeface="Arial" charset="0"/>
                        <a:cs typeface="Arial" charset="0"/>
                      </a:endParaRPr>
                    </a:p>
                  </a:txBody>
                  <a:tcPr marL="48006" marR="48006" marT="48006" marB="48006">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a:t>
                      </a:r>
                      <a:endParaRPr lang="en-US" sz="1080" dirty="0">
                        <a:latin typeface="Arial" charset="0"/>
                        <a:ea typeface="Arial" charset="0"/>
                        <a:cs typeface="Arial" charset="0"/>
                      </a:endParaRPr>
                    </a:p>
                  </a:txBody>
                  <a:tcPr marL="48006" marR="48006" marT="48006" marB="48006">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512"/>
                        </a:lnSpc>
                        <a:buNone/>
                      </a:pPr>
                      <a:r>
                        <a:rPr lang="en-US" sz="1080" dirty="0">
                          <a:solidFill>
                            <a:srgbClr val="1B2A3A"/>
                          </a:solidFill>
                          <a:latin typeface="Arial" pitchFamily="34" charset="0"/>
                          <a:ea typeface="Arial" pitchFamily="34" charset="-122"/>
                          <a:cs typeface="Arial" pitchFamily="34" charset="-120"/>
                        </a:rPr>
                        <a:t>A + B</a:t>
                      </a:r>
                      <a:endParaRPr lang="en-US" sz="1080" dirty="0">
                        <a:latin typeface="Arial" charset="0"/>
                        <a:ea typeface="Arial" charset="0"/>
                        <a:cs typeface="Arial" charset="0"/>
                      </a:endParaRPr>
                    </a:p>
                  </a:txBody>
                  <a:tcPr marL="48006" marR="48006" marT="48006" marB="48006">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0.33</a:t>
                      </a:r>
                      <a:endParaRPr lang="en-US" sz="1080" dirty="0">
                        <a:latin typeface="Arial" charset="0"/>
                        <a:ea typeface="Arial" charset="0"/>
                        <a:cs typeface="Arial" charset="0"/>
                      </a:endParaRPr>
                    </a:p>
                  </a:txBody>
                  <a:tcPr marL="48006" marR="48006" marT="48006" marB="48006">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0.62</a:t>
                      </a:r>
                      <a:endParaRPr lang="en-US" sz="1080" dirty="0">
                        <a:latin typeface="Arial" charset="0"/>
                        <a:ea typeface="Arial" charset="0"/>
                        <a:cs typeface="Arial" charset="0"/>
                      </a:endParaRPr>
                    </a:p>
                  </a:txBody>
                  <a:tcPr marL="48006" marR="48006" marT="48006" marB="48006">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6"/>
                  </a:ext>
                </a:extLst>
              </a:tr>
              <a:tr h="299573">
                <a:tc>
                  <a:txBody>
                    <a:bodyPr/>
                    <a:lstStyle/>
                    <a:p>
                      <a:pPr marL="0" indent="0">
                        <a:lnSpc>
                          <a:spcPts val="1512"/>
                        </a:lnSpc>
                        <a:buNone/>
                      </a:pPr>
                      <a:r>
                        <a:rPr lang="en-US" sz="1080" dirty="0">
                          <a:solidFill>
                            <a:srgbClr val="1B2A3A"/>
                          </a:solidFill>
                          <a:latin typeface="Arial" pitchFamily="34" charset="0"/>
                          <a:ea typeface="Arial" pitchFamily="34" charset="-122"/>
                          <a:cs typeface="Arial" pitchFamily="34" charset="-120"/>
                        </a:rPr>
                        <a:t>24</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512"/>
                        </a:lnSpc>
                        <a:buNone/>
                      </a:pPr>
                      <a:r>
                        <a:rPr lang="en-US" sz="1080" dirty="0">
                          <a:solidFill>
                            <a:srgbClr val="1B2A3A"/>
                          </a:solidFill>
                          <a:latin typeface="Arial" pitchFamily="34" charset="0"/>
                          <a:ea typeface="Arial" pitchFamily="34" charset="-122"/>
                          <a:cs typeface="Arial" pitchFamily="34" charset="-120"/>
                        </a:rPr>
                        <a:t>FR76 × 1.75</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61.2</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0.590</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89</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512"/>
                        </a:lnSpc>
                        <a:buNone/>
                      </a:pPr>
                      <a:r>
                        <a:rPr lang="en-US" sz="1080" dirty="0">
                          <a:solidFill>
                            <a:srgbClr val="1B2A3A"/>
                          </a:solidFill>
                          <a:latin typeface="Arial" pitchFamily="34" charset="0"/>
                          <a:ea typeface="Arial" pitchFamily="34" charset="-122"/>
                          <a:cs typeface="Arial" pitchFamily="34" charset="-120"/>
                        </a:rPr>
                        <a:t>A + B</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0.39</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0.64</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7"/>
                  </a:ext>
                </a:extLst>
              </a:tr>
              <a:tr h="299573">
                <a:tc>
                  <a:txBody>
                    <a:bodyPr/>
                    <a:lstStyle/>
                    <a:p>
                      <a:pPr marL="0" indent="0">
                        <a:lnSpc>
                          <a:spcPts val="1512"/>
                        </a:lnSpc>
                        <a:buNone/>
                      </a:pPr>
                      <a:r>
                        <a:rPr lang="en-US" sz="1080" dirty="0">
                          <a:solidFill>
                            <a:srgbClr val="1B2A3A"/>
                          </a:solidFill>
                          <a:latin typeface="Arial" pitchFamily="34" charset="0"/>
                          <a:ea typeface="Arial" pitchFamily="34" charset="-122"/>
                          <a:cs typeface="Arial" pitchFamily="34" charset="-120"/>
                        </a:rPr>
                        <a:t>25</a:t>
                      </a:r>
                      <a:endParaRPr lang="en-US" sz="1080" dirty="0">
                        <a:latin typeface="Arial" charset="0"/>
                        <a:ea typeface="Arial" charset="0"/>
                        <a:cs typeface="Arial" charset="0"/>
                      </a:endParaRPr>
                    </a:p>
                  </a:txBody>
                  <a:tcPr marL="48006" marR="48006" marT="48006" marB="48006">
                    <a:lnL w="12700" cap="flat" cmpd="sng" algn="ctr">
                      <a:solidFill>
                        <a:srgbClr val="CBCBCB"/>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512"/>
                        </a:lnSpc>
                        <a:buNone/>
                      </a:pPr>
                      <a:r>
                        <a:rPr lang="en-US" sz="1080" dirty="0">
                          <a:solidFill>
                            <a:srgbClr val="1B2A3A"/>
                          </a:solidFill>
                          <a:latin typeface="Arial" pitchFamily="34" charset="0"/>
                          <a:ea typeface="Arial" pitchFamily="34" charset="-122"/>
                          <a:cs typeface="Arial" pitchFamily="34" charset="-120"/>
                        </a:rPr>
                        <a:t>FR76 × 2.0</a:t>
                      </a:r>
                      <a:endParaRPr lang="en-US" sz="1080" dirty="0">
                        <a:latin typeface="Arial" charset="0"/>
                        <a:ea typeface="Arial" charset="0"/>
                        <a:cs typeface="Arial" charset="0"/>
                      </a:endParaRPr>
                    </a:p>
                  </a:txBody>
                  <a:tcPr marL="48006" marR="48006" marT="48006" marB="48006">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64.4</a:t>
                      </a:r>
                      <a:endParaRPr lang="en-US" sz="1080" dirty="0">
                        <a:latin typeface="Arial" charset="0"/>
                        <a:ea typeface="Arial" charset="0"/>
                        <a:cs typeface="Arial" charset="0"/>
                      </a:endParaRPr>
                    </a:p>
                  </a:txBody>
                  <a:tcPr marL="48006" marR="48006" marT="48006" marB="48006">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0.609</a:t>
                      </a:r>
                      <a:endParaRPr lang="en-US" sz="1080" dirty="0">
                        <a:latin typeface="Arial" charset="0"/>
                        <a:ea typeface="Arial" charset="0"/>
                        <a:cs typeface="Arial" charset="0"/>
                      </a:endParaRPr>
                    </a:p>
                  </a:txBody>
                  <a:tcPr marL="48006" marR="48006" marT="48006" marB="48006">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78</a:t>
                      </a:r>
                      <a:endParaRPr lang="en-US" sz="1080" dirty="0">
                        <a:latin typeface="Arial" charset="0"/>
                        <a:ea typeface="Arial" charset="0"/>
                        <a:cs typeface="Arial" charset="0"/>
                      </a:endParaRPr>
                    </a:p>
                  </a:txBody>
                  <a:tcPr marL="48006" marR="48006" marT="48006" marB="48006">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512"/>
                        </a:lnSpc>
                        <a:buNone/>
                      </a:pPr>
                      <a:r>
                        <a:rPr lang="en-US" sz="1080" dirty="0">
                          <a:solidFill>
                            <a:srgbClr val="1B2A3A"/>
                          </a:solidFill>
                          <a:latin typeface="Arial" pitchFamily="34" charset="0"/>
                          <a:ea typeface="Arial" pitchFamily="34" charset="-122"/>
                          <a:cs typeface="Arial" pitchFamily="34" charset="-120"/>
                        </a:rPr>
                        <a:t>A + B</a:t>
                      </a:r>
                      <a:endParaRPr lang="en-US" sz="1080" dirty="0">
                        <a:latin typeface="Arial" charset="0"/>
                        <a:ea typeface="Arial" charset="0"/>
                        <a:cs typeface="Arial" charset="0"/>
                      </a:endParaRPr>
                    </a:p>
                  </a:txBody>
                  <a:tcPr marL="48006" marR="48006" marT="48006" marB="48006">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0.46</a:t>
                      </a:r>
                      <a:endParaRPr lang="en-US" sz="1080" dirty="0">
                        <a:latin typeface="Arial" charset="0"/>
                        <a:ea typeface="Arial" charset="0"/>
                        <a:cs typeface="Arial" charset="0"/>
                      </a:endParaRPr>
                    </a:p>
                  </a:txBody>
                  <a:tcPr marL="48006" marR="48006" marT="48006" marB="48006">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512"/>
                        </a:lnSpc>
                        <a:buNone/>
                      </a:pPr>
                      <a:r>
                        <a:rPr lang="en-US" sz="1080" dirty="0">
                          <a:solidFill>
                            <a:srgbClr val="1B2A3A"/>
                          </a:solidFill>
                          <a:latin typeface="Arial" pitchFamily="34" charset="0"/>
                          <a:ea typeface="Arial" pitchFamily="34" charset="-122"/>
                          <a:cs typeface="Arial" pitchFamily="34" charset="-120"/>
                        </a:rPr>
                        <a:t>0.65</a:t>
                      </a:r>
                      <a:endParaRPr lang="en-US" sz="1080" dirty="0">
                        <a:latin typeface="Arial" charset="0"/>
                        <a:ea typeface="Arial" charset="0"/>
                        <a:cs typeface="Arial" charset="0"/>
                      </a:endParaRPr>
                    </a:p>
                  </a:txBody>
                  <a:tcPr marL="48006" marR="48006" marT="48006" marB="48006">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8"/>
                  </a:ext>
                </a:extLst>
              </a:tr>
            </a:tbl>
          </a:graphicData>
        </a:graphic>
      </p:graphicFrame>
      <p:sp>
        <p:nvSpPr>
          <p:cNvPr id="8" name="Shape 5"/>
          <p:cNvSpPr/>
          <p:nvPr/>
        </p:nvSpPr>
        <p:spPr>
          <a:xfrm>
            <a:off x="812765" y="5164075"/>
            <a:ext cx="10566443" cy="677946"/>
          </a:xfrm>
          <a:prstGeom prst="roundRect">
            <a:avLst>
              <a:gd name="adj" fmla="val 14986"/>
            </a:avLst>
          </a:prstGeom>
          <a:solidFill>
            <a:srgbClr val="EDE9DF"/>
          </a:solidFill>
          <a:ln/>
        </p:spPr>
        <p:txBody>
          <a:bodyPr/>
          <a:lstStyle/>
          <a:p>
            <a:endParaRPr lang="en-GB"/>
          </a:p>
        </p:txBody>
      </p:sp>
      <p:pic>
        <p:nvPicPr>
          <p:cNvPr id="9" name="Image 0" descr="Warning"/>
          <p:cNvPicPr>
            <a:picLocks noChangeAspect="1"/>
          </p:cNvPicPr>
          <p:nvPr/>
        </p:nvPicPr>
        <p:blipFill>
          <a:blip r:embed="rId3"/>
          <a:srcRect l="-156" r="-156"/>
          <a:stretch/>
        </p:blipFill>
        <p:spPr>
          <a:xfrm>
            <a:off x="1066734" y="5376063"/>
            <a:ext cx="210177" cy="253969"/>
          </a:xfrm>
          <a:prstGeom prst="rect">
            <a:avLst/>
          </a:prstGeom>
        </p:spPr>
      </p:pic>
      <p:sp>
        <p:nvSpPr>
          <p:cNvPr id="10" name="Text 6"/>
          <p:cNvSpPr/>
          <p:nvPr/>
        </p:nvSpPr>
        <p:spPr>
          <a:xfrm>
            <a:off x="1429302" y="5271585"/>
            <a:ext cx="9986815" cy="488323"/>
          </a:xfrm>
          <a:prstGeom prst="rect">
            <a:avLst/>
          </a:prstGeom>
          <a:noFill/>
          <a:ln/>
        </p:spPr>
        <p:txBody>
          <a:bodyPr wrap="square" lIns="0" tIns="0" rIns="0" bIns="0" rtlCol="0" anchor="t">
            <a:normAutofit/>
          </a:bodyPr>
          <a:lstStyle/>
          <a:p>
            <a:pPr marL="0" indent="0" algn="l">
              <a:lnSpc>
                <a:spcPts val="1823"/>
              </a:lnSpc>
              <a:buNone/>
            </a:pPr>
            <a:r>
              <a:rPr lang="en-US" sz="1350" b="1" dirty="0">
                <a:solidFill>
                  <a:srgbClr val="1B2A3A"/>
                </a:solidFill>
                <a:latin typeface="Arial" pitchFamily="34" charset="0"/>
                <a:ea typeface="Arial" pitchFamily="34" charset="-122"/>
                <a:cs typeface="Arial" pitchFamily="34" charset="-120"/>
              </a:rPr>
              <a:t>Run 22 is ill-conditioned:</a:t>
            </a:r>
            <a:r>
              <a:rPr lang="en-US" sz="1350" dirty="0">
                <a:solidFill>
                  <a:srgbClr val="1B2A3A"/>
                </a:solidFill>
                <a:latin typeface="Arial" pitchFamily="34" charset="0"/>
                <a:ea typeface="Arial" pitchFamily="34" charset="-122"/>
                <a:cs typeface="Arial" pitchFamily="34" charset="-120"/>
              </a:rPr>
              <a:t> the FR76 demand runs along the 45° line from 5 to 40 mm, so d* is 4.5 mm with m_eff matched to T1 and 29 mm with 1635 kg.</a:t>
            </a:r>
            <a:endParaRPr lang="en-US" sz="1350" dirty="0"/>
          </a:p>
        </p:txBody>
      </p:sp>
      <p:sp>
        <p:nvSpPr>
          <p:cNvPr id="11" name="Text 7"/>
          <p:cNvSpPr/>
          <p:nvPr/>
        </p:nvSpPr>
        <p:spPr>
          <a:xfrm>
            <a:off x="812765" y="6024935"/>
            <a:ext cx="11720584"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Arial" pitchFamily="34" charset="0"/>
                <a:ea typeface="Arial" pitchFamily="34" charset="-122"/>
                <a:cs typeface="Arial" pitchFamily="34" charset="-120"/>
              </a:rPr>
              <a:t>Preflight of route2_m2_fixedpoint_v13 · carrier max(T_p, T*) · joint fit on both targets; a single wave where it already covers both · record PGA: HU12 0.13 g, FR76 0.35 g at × 1</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EDE9DF"/>
        </a:solidFill>
        <a:effectLst/>
      </p:bgPr>
    </p:bg>
    <p:spTree>
      <p:nvGrpSpPr>
        <p:cNvPr id="1" name=""/>
        <p:cNvGrpSpPr/>
        <p:nvPr/>
      </p:nvGrpSpPr>
      <p:grpSpPr>
        <a:xfrm>
          <a:off x="0" y="0"/>
          <a:ext cx="0" cy="0"/>
          <a:chOff x="0" y="0"/>
          <a:chExt cx="0" cy="0"/>
        </a:xfrm>
      </p:grpSpPr>
      <p:sp>
        <p:nvSpPr>
          <p:cNvPr id="2" name="Text 0"/>
          <p:cNvSpPr/>
          <p:nvPr/>
        </p:nvSpPr>
        <p:spPr>
          <a:xfrm>
            <a:off x="812765" y="812763"/>
            <a:ext cx="10883436" cy="256545"/>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491A"/>
                </a:solidFill>
                <a:latin typeface="Arial" pitchFamily="34" charset="0"/>
                <a:ea typeface="Arial" pitchFamily="34" charset="-122"/>
                <a:cs typeface="Arial" pitchFamily="34" charset="-120"/>
              </a:rPr>
              <a:t>4 · DAMPING, MEASURED ON THE WALL ITSELF</a:t>
            </a:r>
            <a:endParaRPr lang="en-US" sz="1300" dirty="0"/>
          </a:p>
        </p:txBody>
      </p:sp>
      <p:sp>
        <p:nvSpPr>
          <p:cNvPr id="3" name="Text 1"/>
          <p:cNvSpPr>
            <a:spLocks noGrp="1"/>
          </p:cNvSpPr>
          <p:nvPr>
            <p:ph type="title"/>
          </p:nvPr>
        </p:nvSpPr>
        <p:spPr>
          <a:xfrm>
            <a:off x="812765" y="1348687"/>
            <a:ext cx="10883436" cy="500370"/>
          </a:xfrm>
          <a:prstGeom prst="rect">
            <a:avLst/>
          </a:prstGeom>
          <a:noFill/>
          <a:ln/>
        </p:spPr>
        <p:txBody>
          <a:bodyPr wrap="square" lIns="0" tIns="0" rIns="0" bIns="0" rtlCol="0" anchor="t">
            <a:normAutofit/>
          </a:bodyPr>
          <a:lstStyle/>
          <a:p>
            <a:pPr marL="0" indent="0" algn="l">
              <a:lnSpc>
                <a:spcPts val="3740"/>
              </a:lnSpc>
              <a:buNone/>
            </a:pPr>
            <a:r>
              <a:rPr lang="en-US" sz="3400" b="0" i="0" dirty="0">
                <a:solidFill>
                  <a:srgbClr val="1B2A3A"/>
                </a:solidFill>
                <a:latin typeface="Georgia" pitchFamily="18" charset="0"/>
                <a:ea typeface="Georgia" pitchFamily="18" charset="-122"/>
                <a:cs typeface="Georgia" pitchFamily="18" charset="-120"/>
              </a:rPr>
              <a:t>1.5 % Maxwell, flat from 1 to 25 Hz</a:t>
            </a:r>
            <a:endParaRPr lang="en-US" sz="3400" dirty="0"/>
          </a:p>
        </p:txBody>
      </p:sp>
      <p:sp>
        <p:nvSpPr>
          <p:cNvPr id="4" name="Shape 2"/>
          <p:cNvSpPr/>
          <p:nvPr/>
        </p:nvSpPr>
        <p:spPr>
          <a:xfrm>
            <a:off x="815940" y="2131609"/>
            <a:ext cx="3380344" cy="1856846"/>
          </a:xfrm>
          <a:prstGeom prst="roundRect">
            <a:avLst>
              <a:gd name="adj" fmla="val 5301"/>
            </a:avLst>
          </a:prstGeom>
          <a:solidFill>
            <a:srgbClr val="FFFFFF"/>
          </a:solidFill>
          <a:ln w="6350">
            <a:solidFill>
              <a:srgbClr val="DDD8CC"/>
            </a:solidFill>
            <a:prstDash val="solid"/>
          </a:ln>
        </p:spPr>
        <p:txBody>
          <a:bodyPr/>
          <a:lstStyle/>
          <a:p>
            <a:endParaRPr lang="en-GB"/>
          </a:p>
        </p:txBody>
      </p:sp>
      <p:sp>
        <p:nvSpPr>
          <p:cNvPr id="5" name="Text 3"/>
          <p:cNvSpPr/>
          <p:nvPr/>
        </p:nvSpPr>
        <p:spPr>
          <a:xfrm>
            <a:off x="1072531" y="2388202"/>
            <a:ext cx="2953177" cy="482617"/>
          </a:xfrm>
          <a:prstGeom prst="rect">
            <a:avLst/>
          </a:prstGeom>
          <a:noFill/>
          <a:ln/>
        </p:spPr>
        <p:txBody>
          <a:bodyPr wrap="square" lIns="0" tIns="0" rIns="0" bIns="0" rtlCol="0" anchor="t">
            <a:normAutofit/>
          </a:bodyPr>
          <a:lstStyle/>
          <a:p>
            <a:pPr marL="0" indent="0" algn="l">
              <a:lnSpc>
                <a:spcPts val="3600"/>
              </a:lnSpc>
              <a:buNone/>
            </a:pPr>
            <a:r>
              <a:rPr lang="en-US" sz="3600" dirty="0">
                <a:solidFill>
                  <a:srgbClr val="2F6BA6"/>
                </a:solidFill>
                <a:latin typeface="Georgia" pitchFamily="18" charset="0"/>
                <a:ea typeface="Georgia" pitchFamily="18" charset="-122"/>
                <a:cs typeface="Georgia" pitchFamily="18" charset="-120"/>
              </a:rPr>
              <a:t>ξ = 0.0002</a:t>
            </a:r>
            <a:endParaRPr lang="en-US" sz="3600" dirty="0"/>
          </a:p>
        </p:txBody>
      </p:sp>
      <p:sp>
        <p:nvSpPr>
          <p:cNvPr id="6" name="Text 4"/>
          <p:cNvSpPr/>
          <p:nvPr/>
        </p:nvSpPr>
        <p:spPr>
          <a:xfrm>
            <a:off x="1072531" y="2934326"/>
            <a:ext cx="2953177" cy="254009"/>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A3A"/>
                </a:solidFill>
                <a:latin typeface="Arial" pitchFamily="34" charset="0"/>
                <a:ea typeface="Arial" pitchFamily="34" charset="-122"/>
                <a:cs typeface="Arial" pitchFamily="34" charset="-120"/>
              </a:rPr>
              <a:t>undamped ring-down</a:t>
            </a:r>
            <a:endParaRPr lang="en-US" sz="1500" dirty="0"/>
          </a:p>
        </p:txBody>
      </p:sp>
      <p:sp>
        <p:nvSpPr>
          <p:cNvPr id="7" name="Text 5"/>
          <p:cNvSpPr/>
          <p:nvPr/>
        </p:nvSpPr>
        <p:spPr>
          <a:xfrm>
            <a:off x="1072531" y="3251826"/>
            <a:ext cx="2953177" cy="505442"/>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A5568"/>
                </a:solidFill>
                <a:latin typeface="Arial" pitchFamily="34" charset="0"/>
                <a:ea typeface="Arial" pitchFamily="34" charset="-122"/>
                <a:cs typeface="Arial" pitchFamily="34" charset="-120"/>
              </a:rPr>
              <a:t>9.70–9.83 Hz. The old “no damping” runs were effectively undamped.</a:t>
            </a:r>
            <a:endParaRPr lang="en-US" sz="1350" dirty="0"/>
          </a:p>
        </p:txBody>
      </p:sp>
      <p:sp>
        <p:nvSpPr>
          <p:cNvPr id="8" name="Shape 6"/>
          <p:cNvSpPr/>
          <p:nvPr/>
        </p:nvSpPr>
        <p:spPr>
          <a:xfrm>
            <a:off x="4405792" y="2131609"/>
            <a:ext cx="3380389" cy="1856846"/>
          </a:xfrm>
          <a:prstGeom prst="roundRect">
            <a:avLst>
              <a:gd name="adj" fmla="val 5301"/>
            </a:avLst>
          </a:prstGeom>
          <a:solidFill>
            <a:srgbClr val="FFFFFF"/>
          </a:solidFill>
          <a:ln w="6350">
            <a:solidFill>
              <a:srgbClr val="DDD8CC"/>
            </a:solidFill>
            <a:prstDash val="solid"/>
          </a:ln>
        </p:spPr>
        <p:txBody>
          <a:bodyPr/>
          <a:lstStyle/>
          <a:p>
            <a:endParaRPr lang="en-GB"/>
          </a:p>
        </p:txBody>
      </p:sp>
      <p:sp>
        <p:nvSpPr>
          <p:cNvPr id="9" name="Text 7"/>
          <p:cNvSpPr/>
          <p:nvPr/>
        </p:nvSpPr>
        <p:spPr>
          <a:xfrm>
            <a:off x="4662382" y="2388202"/>
            <a:ext cx="2953224" cy="482617"/>
          </a:xfrm>
          <a:prstGeom prst="rect">
            <a:avLst/>
          </a:prstGeom>
          <a:noFill/>
          <a:ln/>
        </p:spPr>
        <p:txBody>
          <a:bodyPr wrap="square" lIns="0" tIns="0" rIns="0" bIns="0" rtlCol="0" anchor="t">
            <a:normAutofit/>
          </a:bodyPr>
          <a:lstStyle/>
          <a:p>
            <a:pPr marL="0" indent="0" algn="l">
              <a:lnSpc>
                <a:spcPts val="3600"/>
              </a:lnSpc>
              <a:buNone/>
            </a:pPr>
            <a:r>
              <a:rPr lang="en-US" sz="3600" dirty="0">
                <a:solidFill>
                  <a:srgbClr val="2F6BA6"/>
                </a:solidFill>
                <a:latin typeface="Georgia" pitchFamily="18" charset="0"/>
                <a:ea typeface="Georgia" pitchFamily="18" charset="-122"/>
                <a:cs typeface="Georgia" pitchFamily="18" charset="-120"/>
              </a:rPr>
              <a:t>2.7 % ≠ 1.5 %</a:t>
            </a:r>
            <a:endParaRPr lang="en-US" sz="3600" dirty="0"/>
          </a:p>
        </p:txBody>
      </p:sp>
      <p:sp>
        <p:nvSpPr>
          <p:cNvPr id="10" name="Text 8"/>
          <p:cNvSpPr/>
          <p:nvPr/>
        </p:nvSpPr>
        <p:spPr>
          <a:xfrm>
            <a:off x="4662382" y="2934326"/>
            <a:ext cx="2953224" cy="254009"/>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A3A"/>
                </a:solidFill>
                <a:latin typeface="Arial" pitchFamily="34" charset="0"/>
                <a:ea typeface="Arial" pitchFamily="34" charset="-122"/>
                <a:cs typeface="Arial" pitchFamily="34" charset="-120"/>
              </a:rPr>
              <a:t>three equal units superpose</a:t>
            </a:r>
            <a:endParaRPr lang="en-US" sz="1500" dirty="0"/>
          </a:p>
        </p:txBody>
      </p:sp>
      <p:sp>
        <p:nvSpPr>
          <p:cNvPr id="11" name="Text 9"/>
          <p:cNvSpPr/>
          <p:nvPr/>
        </p:nvSpPr>
        <p:spPr>
          <a:xfrm>
            <a:off x="4662382" y="3251826"/>
            <a:ext cx="2953224" cy="505442"/>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A5568"/>
                </a:solidFill>
                <a:latin typeface="Arial" pitchFamily="34" charset="0"/>
                <a:ea typeface="Arial" pitchFamily="34" charset="-122"/>
                <a:cs typeface="Arial" pitchFamily="34" charset="-120"/>
              </a:rPr>
              <a:t>The MATLAB-optimised triplet holds 1.4–1.66 % across the band.</a:t>
            </a:r>
            <a:endParaRPr lang="en-US" sz="1350" dirty="0"/>
          </a:p>
        </p:txBody>
      </p:sp>
      <p:sp>
        <p:nvSpPr>
          <p:cNvPr id="12" name="Shape 10"/>
          <p:cNvSpPr/>
          <p:nvPr/>
        </p:nvSpPr>
        <p:spPr>
          <a:xfrm>
            <a:off x="7995689" y="2131609"/>
            <a:ext cx="3380344" cy="1856846"/>
          </a:xfrm>
          <a:prstGeom prst="roundRect">
            <a:avLst>
              <a:gd name="adj" fmla="val 5301"/>
            </a:avLst>
          </a:prstGeom>
          <a:solidFill>
            <a:srgbClr val="FFFFFF"/>
          </a:solidFill>
          <a:ln w="6350">
            <a:solidFill>
              <a:srgbClr val="DDD8CC"/>
            </a:solidFill>
            <a:prstDash val="solid"/>
          </a:ln>
        </p:spPr>
        <p:txBody>
          <a:bodyPr/>
          <a:lstStyle/>
          <a:p>
            <a:endParaRPr lang="en-GB"/>
          </a:p>
        </p:txBody>
      </p:sp>
      <p:sp>
        <p:nvSpPr>
          <p:cNvPr id="13" name="Text 11"/>
          <p:cNvSpPr/>
          <p:nvPr/>
        </p:nvSpPr>
        <p:spPr>
          <a:xfrm>
            <a:off x="8252279" y="2388202"/>
            <a:ext cx="2953177" cy="482617"/>
          </a:xfrm>
          <a:prstGeom prst="rect">
            <a:avLst/>
          </a:prstGeom>
          <a:noFill/>
          <a:ln/>
        </p:spPr>
        <p:txBody>
          <a:bodyPr wrap="square" lIns="0" tIns="0" rIns="0" bIns="0" rtlCol="0" anchor="t">
            <a:normAutofit/>
          </a:bodyPr>
          <a:lstStyle/>
          <a:p>
            <a:pPr marL="0" indent="0" algn="l">
              <a:lnSpc>
                <a:spcPts val="3600"/>
              </a:lnSpc>
              <a:buNone/>
            </a:pPr>
            <a:r>
              <a:rPr lang="en-US" sz="3600" dirty="0">
                <a:solidFill>
                  <a:srgbClr val="2F6BA6"/>
                </a:solidFill>
                <a:latin typeface="Georgia" pitchFamily="18" charset="0"/>
                <a:ea typeface="Georgia" pitchFamily="18" charset="-122"/>
                <a:cs typeface="Georgia" pitchFamily="18" charset="-120"/>
              </a:rPr>
              <a:t>+1.8 %</a:t>
            </a:r>
            <a:endParaRPr lang="en-US" sz="3600" dirty="0"/>
          </a:p>
        </p:txBody>
      </p:sp>
      <p:sp>
        <p:nvSpPr>
          <p:cNvPr id="14" name="Text 12"/>
          <p:cNvSpPr/>
          <p:nvPr/>
        </p:nvSpPr>
        <p:spPr>
          <a:xfrm>
            <a:off x="8252279" y="2934326"/>
            <a:ext cx="2953177" cy="254009"/>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A3A"/>
                </a:solidFill>
                <a:latin typeface="Arial" pitchFamily="34" charset="0"/>
                <a:ea typeface="Arial" pitchFamily="34" charset="-122"/>
                <a:cs typeface="Arial" pitchFamily="34" charset="-120"/>
              </a:rPr>
              <a:t>stiffness from the units</a:t>
            </a:r>
            <a:endParaRPr lang="en-US" sz="1500" dirty="0"/>
          </a:p>
        </p:txBody>
      </p:sp>
      <p:sp>
        <p:nvSpPr>
          <p:cNvPr id="15" name="Text 13"/>
          <p:cNvSpPr/>
          <p:nvPr/>
        </p:nvSpPr>
        <p:spPr>
          <a:xfrm>
            <a:off x="8252279" y="3251826"/>
            <a:ext cx="2953177" cy="505442"/>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A5568"/>
                </a:solidFill>
                <a:latin typeface="Arial" pitchFamily="34" charset="0"/>
                <a:ea typeface="Arial" pitchFamily="34" charset="-122"/>
                <a:cs typeface="Arial" pitchFamily="34" charset="-120"/>
              </a:rPr>
              <a:t>T1 0.103 → 0.102 s, inside the carrier’s grid rounding.</a:t>
            </a:r>
            <a:endParaRPr lang="en-US" sz="1350" dirty="0"/>
          </a:p>
        </p:txBody>
      </p:sp>
      <p:sp>
        <p:nvSpPr>
          <p:cNvPr id="16" name="Shape 14"/>
          <p:cNvSpPr/>
          <p:nvPr/>
        </p:nvSpPr>
        <p:spPr>
          <a:xfrm>
            <a:off x="815940" y="4299589"/>
            <a:ext cx="10560093" cy="563994"/>
          </a:xfrm>
          <a:prstGeom prst="roundRect">
            <a:avLst>
              <a:gd name="adj" fmla="val 17451"/>
            </a:avLst>
          </a:prstGeom>
          <a:solidFill>
            <a:srgbClr val="FFFFFF"/>
          </a:solidFill>
          <a:ln w="6350">
            <a:solidFill>
              <a:srgbClr val="DDD8CC"/>
            </a:solidFill>
            <a:prstDash val="solid"/>
          </a:ln>
        </p:spPr>
        <p:txBody>
          <a:bodyPr/>
          <a:lstStyle/>
          <a:p>
            <a:endParaRPr lang="en-GB"/>
          </a:p>
        </p:txBody>
      </p:sp>
      <p:pic>
        <p:nvPicPr>
          <p:cNvPr id="17" name="Image 0" descr="Search"/>
          <p:cNvPicPr>
            <a:picLocks noChangeAspect="1"/>
          </p:cNvPicPr>
          <p:nvPr/>
        </p:nvPicPr>
        <p:blipFill>
          <a:blip r:embed="rId3"/>
          <a:srcRect/>
          <a:stretch/>
        </p:blipFill>
        <p:spPr>
          <a:xfrm>
            <a:off x="1072531" y="4454606"/>
            <a:ext cx="253969" cy="253969"/>
          </a:xfrm>
          <a:prstGeom prst="rect">
            <a:avLst/>
          </a:prstGeom>
        </p:spPr>
      </p:pic>
      <p:sp>
        <p:nvSpPr>
          <p:cNvPr id="18" name="Text 15"/>
          <p:cNvSpPr/>
          <p:nvPr/>
        </p:nvSpPr>
        <p:spPr>
          <a:xfrm>
            <a:off x="1478891" y="4465830"/>
            <a:ext cx="9094472" cy="256862"/>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1B2A3A"/>
                </a:solidFill>
                <a:latin typeface="Arial" pitchFamily="34" charset="0"/>
                <a:ea typeface="Arial" pitchFamily="34" charset="-122"/>
                <a:cs typeface="Arial" pitchFamily="34" charset="-120"/>
              </a:rPr>
              <a:t>Still to run: ring-down v2 with the final triplet; Maxwell on/off at run 19 from the control’s run-18 save.</a:t>
            </a:r>
            <a:endParaRPr lang="en-US" sz="1350" dirty="0"/>
          </a:p>
        </p:txBody>
      </p:sp>
      <p:sp>
        <p:nvSpPr>
          <p:cNvPr id="19" name="Text 16"/>
          <p:cNvSpPr/>
          <p:nvPr/>
        </p:nvSpPr>
        <p:spPr>
          <a:xfrm>
            <a:off x="812765" y="6238273"/>
            <a:ext cx="10987720"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Arial" pitchFamily="34" charset="0"/>
                <a:ea typeface="Arial" pitchFamily="34" charset="-122"/>
                <a:cs typeface="Arial" pitchFamily="34" charset="-120"/>
              </a:rPr>
              <a:t>block mech damp maxwell 0.0112 1.0005 0.0081 7.4315 0.0096 25.0004 · 0.85 % variant 0.0054 1.0000 0.0050 5.3870 0.0053 25.0002</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5" y="812763"/>
            <a:ext cx="10883436" cy="256545"/>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491A"/>
                </a:solidFill>
                <a:latin typeface="Arial" pitchFamily="34" charset="0"/>
                <a:ea typeface="Arial" pitchFamily="34" charset="-122"/>
                <a:cs typeface="Arial" pitchFamily="34" charset="-120"/>
              </a:rPr>
              <a:t>5 · WHAT IS RUNNING NOW</a:t>
            </a:r>
            <a:endParaRPr lang="en-US" sz="1300" dirty="0"/>
          </a:p>
        </p:txBody>
      </p:sp>
      <p:sp>
        <p:nvSpPr>
          <p:cNvPr id="3" name="Text 1"/>
          <p:cNvSpPr>
            <a:spLocks noGrp="1"/>
          </p:cNvSpPr>
          <p:nvPr>
            <p:ph type="title"/>
          </p:nvPr>
        </p:nvSpPr>
        <p:spPr>
          <a:xfrm>
            <a:off x="812765" y="1348693"/>
            <a:ext cx="11379235" cy="500370"/>
          </a:xfrm>
          <a:prstGeom prst="rect">
            <a:avLst/>
          </a:prstGeom>
          <a:noFill/>
          <a:ln/>
        </p:spPr>
        <p:txBody>
          <a:bodyPr wrap="square" lIns="0" tIns="0" rIns="0" bIns="0" rtlCol="0" anchor="t">
            <a:normAutofit/>
          </a:bodyPr>
          <a:lstStyle/>
          <a:p>
            <a:pPr marL="0" indent="0" algn="l">
              <a:lnSpc>
                <a:spcPts val="3740"/>
              </a:lnSpc>
              <a:buNone/>
            </a:pPr>
            <a:r>
              <a:rPr lang="en-US" sz="3400" b="0" i="0" dirty="0">
                <a:solidFill>
                  <a:srgbClr val="1B2A3A"/>
                </a:solidFill>
                <a:latin typeface="Georgia" pitchFamily="18" charset="0"/>
                <a:ea typeface="Georgia" pitchFamily="18" charset="-122"/>
                <a:cs typeface="Georgia" pitchFamily="18" charset="-120"/>
              </a:rPr>
              <a:t>Two sequences in 3DEC, one check built into each run</a:t>
            </a:r>
            <a:endParaRPr lang="en-US" sz="3400" dirty="0"/>
          </a:p>
        </p:txBody>
      </p:sp>
      <p:sp>
        <p:nvSpPr>
          <p:cNvPr id="4" name="Shape 2"/>
          <p:cNvSpPr/>
          <p:nvPr/>
        </p:nvSpPr>
        <p:spPr>
          <a:xfrm>
            <a:off x="815940" y="2131616"/>
            <a:ext cx="3380344" cy="1792040"/>
          </a:xfrm>
          <a:prstGeom prst="roundRect">
            <a:avLst>
              <a:gd name="adj" fmla="val 5492"/>
            </a:avLst>
          </a:prstGeom>
          <a:solidFill>
            <a:srgbClr val="FFFFFF"/>
          </a:solidFill>
          <a:ln w="6350">
            <a:solidFill>
              <a:srgbClr val="DDD8CC"/>
            </a:solidFill>
            <a:prstDash val="solid"/>
          </a:ln>
        </p:spPr>
        <p:txBody>
          <a:bodyPr/>
          <a:lstStyle/>
          <a:p>
            <a:endParaRPr lang="en-GB"/>
          </a:p>
        </p:txBody>
      </p:sp>
      <p:pic>
        <p:nvPicPr>
          <p:cNvPr id="5" name="Image 0" descr="Play"/>
          <p:cNvPicPr>
            <a:picLocks noChangeAspect="1"/>
          </p:cNvPicPr>
          <p:nvPr/>
        </p:nvPicPr>
        <p:blipFill>
          <a:blip r:embed="rId3"/>
          <a:srcRect/>
          <a:stretch/>
        </p:blipFill>
        <p:spPr>
          <a:xfrm>
            <a:off x="1072531" y="2388208"/>
            <a:ext cx="228563" cy="228563"/>
          </a:xfrm>
          <a:prstGeom prst="rect">
            <a:avLst/>
          </a:prstGeom>
        </p:spPr>
      </p:pic>
      <p:sp>
        <p:nvSpPr>
          <p:cNvPr id="6" name="Text 3"/>
          <p:cNvSpPr/>
          <p:nvPr/>
        </p:nvSpPr>
        <p:spPr>
          <a:xfrm>
            <a:off x="1389992" y="2388208"/>
            <a:ext cx="2057314" cy="254009"/>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A3A"/>
                </a:solidFill>
                <a:latin typeface="Arial" pitchFamily="34" charset="0"/>
                <a:ea typeface="Arial" pitchFamily="34" charset="-122"/>
                <a:cs typeface="Arial" pitchFamily="34" charset="-120"/>
              </a:rPr>
              <a:t>Control, Strategy F</a:t>
            </a:r>
            <a:endParaRPr lang="en-US" sz="1500" dirty="0"/>
          </a:p>
        </p:txBody>
      </p:sp>
      <p:sp>
        <p:nvSpPr>
          <p:cNvPr id="7" name="Text 4"/>
          <p:cNvSpPr/>
          <p:nvPr/>
        </p:nvSpPr>
        <p:spPr>
          <a:xfrm>
            <a:off x="1072531" y="2718395"/>
            <a:ext cx="2953177" cy="745463"/>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A5568"/>
                </a:solidFill>
                <a:latin typeface="Arial" pitchFamily="34" charset="0"/>
                <a:ea typeface="Arial" pitchFamily="34" charset="-122"/>
                <a:cs typeface="Arial" pitchFamily="34" charset="-120"/>
              </a:rPr>
              <a:t>25 records on the ft0 build, large strain, Maxwell 1.5 %. The new reference.</a:t>
            </a:r>
            <a:endParaRPr lang="en-US" sz="1350" dirty="0"/>
          </a:p>
        </p:txBody>
      </p:sp>
      <p:sp>
        <p:nvSpPr>
          <p:cNvPr id="8" name="Shape 5"/>
          <p:cNvSpPr/>
          <p:nvPr/>
        </p:nvSpPr>
        <p:spPr>
          <a:xfrm>
            <a:off x="4405792" y="2131616"/>
            <a:ext cx="3380389" cy="1792040"/>
          </a:xfrm>
          <a:prstGeom prst="roundRect">
            <a:avLst>
              <a:gd name="adj" fmla="val 5492"/>
            </a:avLst>
          </a:prstGeom>
          <a:solidFill>
            <a:srgbClr val="FFFFFF"/>
          </a:solidFill>
          <a:ln w="6350">
            <a:solidFill>
              <a:srgbClr val="DDD8CC"/>
            </a:solidFill>
            <a:prstDash val="solid"/>
          </a:ln>
        </p:spPr>
        <p:txBody>
          <a:bodyPr/>
          <a:lstStyle/>
          <a:p>
            <a:endParaRPr lang="en-GB"/>
          </a:p>
        </p:txBody>
      </p:sp>
      <p:pic>
        <p:nvPicPr>
          <p:cNvPr id="9" name="Image 1" descr="Play"/>
          <p:cNvPicPr>
            <a:picLocks noChangeAspect="1"/>
          </p:cNvPicPr>
          <p:nvPr/>
        </p:nvPicPr>
        <p:blipFill>
          <a:blip r:embed="rId4"/>
          <a:srcRect l="-509" r="-509"/>
          <a:stretch/>
        </p:blipFill>
        <p:spPr>
          <a:xfrm>
            <a:off x="4662382" y="2502508"/>
            <a:ext cx="185994" cy="228563"/>
          </a:xfrm>
          <a:prstGeom prst="rect">
            <a:avLst/>
          </a:prstGeom>
        </p:spPr>
      </p:pic>
      <p:sp>
        <p:nvSpPr>
          <p:cNvPr id="10" name="Text 6"/>
          <p:cNvSpPr/>
          <p:nvPr/>
        </p:nvSpPr>
        <p:spPr>
          <a:xfrm>
            <a:off x="4937274" y="2388208"/>
            <a:ext cx="2670085" cy="482617"/>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A3A"/>
                </a:solidFill>
                <a:latin typeface="Arial" pitchFamily="34" charset="0"/>
                <a:ea typeface="Arial" pitchFamily="34" charset="-122"/>
                <a:cs typeface="Arial" pitchFamily="34" charset="-120"/>
              </a:rPr>
              <a:t>Fixed-point Method 2, from save 21</a:t>
            </a:r>
            <a:endParaRPr lang="en-US" sz="1500" dirty="0"/>
          </a:p>
        </p:txBody>
      </p:sp>
      <p:sp>
        <p:nvSpPr>
          <p:cNvPr id="11" name="Text 7"/>
          <p:cNvSpPr/>
          <p:nvPr/>
        </p:nvSpPr>
        <p:spPr>
          <a:xfrm>
            <a:off x="4662382" y="2947008"/>
            <a:ext cx="2953224" cy="745463"/>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A5568"/>
                </a:solidFill>
                <a:latin typeface="Arial" pitchFamily="34" charset="0"/>
                <a:ea typeface="Arial" pitchFamily="34" charset="-122"/>
                <a:cs typeface="Arial" pitchFamily="34" charset="-120"/>
              </a:rPr>
              <a:t>FR76 22–25 from the old control’s state, as saved. A mechanism check, not the score.</a:t>
            </a:r>
            <a:endParaRPr lang="en-US" sz="1350" dirty="0"/>
          </a:p>
        </p:txBody>
      </p:sp>
      <p:sp>
        <p:nvSpPr>
          <p:cNvPr id="12" name="Shape 8"/>
          <p:cNvSpPr/>
          <p:nvPr/>
        </p:nvSpPr>
        <p:spPr>
          <a:xfrm>
            <a:off x="7995689" y="2131616"/>
            <a:ext cx="3380344" cy="1792040"/>
          </a:xfrm>
          <a:prstGeom prst="roundRect">
            <a:avLst>
              <a:gd name="adj" fmla="val 5492"/>
            </a:avLst>
          </a:prstGeom>
          <a:solidFill>
            <a:srgbClr val="FFFFFF"/>
          </a:solidFill>
          <a:ln w="6350">
            <a:solidFill>
              <a:srgbClr val="DDD8CC"/>
            </a:solidFill>
            <a:prstDash val="solid"/>
          </a:ln>
        </p:spPr>
        <p:txBody>
          <a:bodyPr/>
          <a:lstStyle/>
          <a:p>
            <a:endParaRPr lang="en-GB"/>
          </a:p>
        </p:txBody>
      </p:sp>
      <p:pic>
        <p:nvPicPr>
          <p:cNvPr id="13" name="Image 2" descr="Check"/>
          <p:cNvPicPr>
            <a:picLocks noChangeAspect="1"/>
          </p:cNvPicPr>
          <p:nvPr/>
        </p:nvPicPr>
        <p:blipFill>
          <a:blip r:embed="rId5"/>
          <a:srcRect/>
          <a:stretch/>
        </p:blipFill>
        <p:spPr>
          <a:xfrm>
            <a:off x="8252279" y="2388208"/>
            <a:ext cx="228563" cy="228563"/>
          </a:xfrm>
          <a:prstGeom prst="rect">
            <a:avLst/>
          </a:prstGeom>
        </p:spPr>
      </p:pic>
      <p:sp>
        <p:nvSpPr>
          <p:cNvPr id="14" name="Text 9"/>
          <p:cNvSpPr/>
          <p:nvPr/>
        </p:nvSpPr>
        <p:spPr>
          <a:xfrm>
            <a:off x="8569741" y="2388208"/>
            <a:ext cx="1626091" cy="254009"/>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A3A"/>
                </a:solidFill>
                <a:latin typeface="Arial" pitchFamily="34" charset="0"/>
                <a:ea typeface="Arial" pitchFamily="34" charset="-122"/>
                <a:cs typeface="Arial" pitchFamily="34" charset="-120"/>
              </a:rPr>
              <a:t>After every run</a:t>
            </a:r>
            <a:endParaRPr lang="en-US" sz="1500" dirty="0"/>
          </a:p>
        </p:txBody>
      </p:sp>
      <p:sp>
        <p:nvSpPr>
          <p:cNvPr id="15" name="Text 10"/>
          <p:cNvSpPr/>
          <p:nvPr/>
        </p:nvSpPr>
        <p:spPr>
          <a:xfrm>
            <a:off x="8252279" y="2718395"/>
            <a:ext cx="2953177" cy="745463"/>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A5568"/>
                </a:solidFill>
                <a:latin typeface="Arial" pitchFamily="34" charset="0"/>
                <a:ea typeface="Arial" pitchFamily="34" charset="-122"/>
                <a:cs typeface="Arial" pitchFamily="34" charset="-120"/>
              </a:rPr>
              <a:t>achieved / d*, and T_achieved against T*. Amplitude and period both met → the SDOF reading holds.</a:t>
            </a:r>
            <a:endParaRPr lang="en-US" sz="1350" dirty="0"/>
          </a:p>
        </p:txBody>
      </p:sp>
      <p:sp>
        <p:nvSpPr>
          <p:cNvPr id="16" name="Shape 11"/>
          <p:cNvSpPr/>
          <p:nvPr/>
        </p:nvSpPr>
        <p:spPr>
          <a:xfrm>
            <a:off x="812765" y="4231618"/>
            <a:ext cx="10566443" cy="767704"/>
          </a:xfrm>
          <a:prstGeom prst="roundRect">
            <a:avLst>
              <a:gd name="adj" fmla="val 13234"/>
            </a:avLst>
          </a:prstGeom>
          <a:solidFill>
            <a:srgbClr val="EDE9DF"/>
          </a:solidFill>
          <a:ln/>
        </p:spPr>
        <p:txBody>
          <a:bodyPr/>
          <a:lstStyle/>
          <a:p>
            <a:endParaRPr lang="en-GB"/>
          </a:p>
        </p:txBody>
      </p:sp>
      <p:pic>
        <p:nvPicPr>
          <p:cNvPr id="17" name="Image 3" descr="Clock"/>
          <p:cNvPicPr>
            <a:picLocks noChangeAspect="1"/>
          </p:cNvPicPr>
          <p:nvPr/>
        </p:nvPicPr>
        <p:blipFill>
          <a:blip r:embed="rId6"/>
          <a:srcRect l="-349" r="-349"/>
          <a:stretch/>
        </p:blipFill>
        <p:spPr>
          <a:xfrm>
            <a:off x="1066734" y="4488483"/>
            <a:ext cx="179019" cy="253969"/>
          </a:xfrm>
          <a:prstGeom prst="rect">
            <a:avLst/>
          </a:prstGeom>
        </p:spPr>
      </p:pic>
      <p:sp>
        <p:nvSpPr>
          <p:cNvPr id="18" name="Text 12"/>
          <p:cNvSpPr/>
          <p:nvPr/>
        </p:nvSpPr>
        <p:spPr>
          <a:xfrm>
            <a:off x="1398144" y="4384005"/>
            <a:ext cx="10018907" cy="488323"/>
          </a:xfrm>
          <a:prstGeom prst="rect">
            <a:avLst/>
          </a:prstGeom>
          <a:noFill/>
          <a:ln/>
        </p:spPr>
        <p:txBody>
          <a:bodyPr wrap="square" lIns="0" tIns="0" rIns="0" bIns="0" rtlCol="0" anchor="t">
            <a:normAutofit/>
          </a:bodyPr>
          <a:lstStyle/>
          <a:p>
            <a:pPr marL="0" indent="0" algn="l">
              <a:lnSpc>
                <a:spcPts val="1823"/>
              </a:lnSpc>
              <a:buNone/>
            </a:pPr>
            <a:r>
              <a:rPr lang="en-US" sz="1350" b="1" dirty="0">
                <a:solidFill>
                  <a:srgbClr val="1B2A3A"/>
                </a:solidFill>
                <a:latin typeface="Arial" pitchFamily="34" charset="0"/>
                <a:ea typeface="Arial" pitchFamily="34" charset="-122"/>
                <a:cs typeface="Arial" pitchFamily="34" charset="-120"/>
              </a:rPr>
              <a:t>Queued:</a:t>
            </a:r>
            <a:r>
              <a:rPr lang="en-US" sz="1350" dirty="0">
                <a:solidFill>
                  <a:srgbClr val="1B2A3A"/>
                </a:solidFill>
                <a:latin typeface="Arial" pitchFamily="34" charset="0"/>
                <a:ea typeface="Arial" pitchFamily="34" charset="-122"/>
                <a:cs typeface="Arial" pitchFamily="34" charset="-120"/>
              </a:rPr>
              <a:t> full 25-run fixed-point sequence from the ft0 save · negative-branch pushover · model “Table 5” offline with the paper’s §3.2 procedure · bilinear kept as the standard variant.</a:t>
            </a:r>
            <a:endParaRPr lang="en-US" sz="1350" dirty="0"/>
          </a:p>
        </p:txBody>
      </p:sp>
      <p:sp>
        <p:nvSpPr>
          <p:cNvPr id="19" name="Text 13"/>
          <p:cNvSpPr/>
          <p:nvPr/>
        </p:nvSpPr>
        <p:spPr>
          <a:xfrm>
            <a:off x="812765" y="6238280"/>
            <a:ext cx="10358521"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Arial" pitchFamily="34" charset="0"/>
                <a:ea typeface="Arial" pitchFamily="34" charset="-122"/>
                <a:cs typeface="Arial" pitchFamily="34" charset="-120"/>
              </a:rPr>
              <a:t>Strategy C is not revisited as a surrogate: its feedback variable, the small-amplitude period, does not move on an unbonded wall</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1B2A3A"/>
        </a:solidFill>
        <a:effectLst/>
      </p:bgPr>
    </p:bg>
    <p:spTree>
      <p:nvGrpSpPr>
        <p:cNvPr id="1" name=""/>
        <p:cNvGrpSpPr/>
        <p:nvPr/>
      </p:nvGrpSpPr>
      <p:grpSpPr>
        <a:xfrm>
          <a:off x="0" y="0"/>
          <a:ext cx="0" cy="0"/>
          <a:chOff x="0" y="0"/>
          <a:chExt cx="0" cy="0"/>
        </a:xfrm>
      </p:grpSpPr>
      <p:sp>
        <p:nvSpPr>
          <p:cNvPr id="2" name="Text 0"/>
          <p:cNvSpPr/>
          <p:nvPr/>
        </p:nvSpPr>
        <p:spPr>
          <a:xfrm>
            <a:off x="812765" y="812763"/>
            <a:ext cx="10883436" cy="226655"/>
          </a:xfrm>
          <a:prstGeom prst="rect">
            <a:avLst/>
          </a:prstGeom>
          <a:noFill/>
          <a:ln/>
        </p:spPr>
        <p:txBody>
          <a:bodyPr wrap="square" lIns="0" tIns="0" rIns="0" bIns="0" rtlCol="0" anchor="t">
            <a:normAutofit/>
          </a:bodyPr>
          <a:lstStyle/>
          <a:p>
            <a:pPr marL="0" indent="0" algn="l">
              <a:lnSpc>
                <a:spcPts val="1621"/>
              </a:lnSpc>
              <a:buNone/>
            </a:pPr>
            <a:r>
              <a:rPr lang="en-US" sz="1158" b="1" kern="0" spc="100" dirty="0">
                <a:solidFill>
                  <a:srgbClr val="D9A77A"/>
                </a:solidFill>
                <a:latin typeface="Arial" pitchFamily="34" charset="0"/>
                <a:ea typeface="Arial" pitchFamily="34" charset="-122"/>
                <a:cs typeface="Arial" pitchFamily="34" charset="-120"/>
              </a:rPr>
              <a:t>5 · OPEN QUESTIONS, STATED AS SUCH</a:t>
            </a:r>
            <a:endParaRPr lang="en-US" sz="1158" dirty="0"/>
          </a:p>
        </p:txBody>
      </p:sp>
      <p:sp>
        <p:nvSpPr>
          <p:cNvPr id="3" name="Text 1"/>
          <p:cNvSpPr>
            <a:spLocks noGrp="1"/>
          </p:cNvSpPr>
          <p:nvPr>
            <p:ph type="title"/>
          </p:nvPr>
        </p:nvSpPr>
        <p:spPr>
          <a:xfrm>
            <a:off x="812765" y="1293391"/>
            <a:ext cx="11379235" cy="852657"/>
          </a:xfrm>
          <a:prstGeom prst="rect">
            <a:avLst/>
          </a:prstGeom>
          <a:noFill/>
          <a:ln/>
        </p:spPr>
        <p:txBody>
          <a:bodyPr wrap="square" lIns="0" tIns="0" rIns="0" bIns="0" rtlCol="0" anchor="t">
            <a:normAutofit/>
          </a:bodyPr>
          <a:lstStyle/>
          <a:p>
            <a:pPr marL="0" indent="0" algn="l">
              <a:lnSpc>
                <a:spcPts val="3623"/>
              </a:lnSpc>
              <a:buNone/>
            </a:pPr>
            <a:r>
              <a:rPr lang="en-US" sz="3294" b="0" i="0" dirty="0">
                <a:solidFill>
                  <a:srgbClr val="F6F4EE"/>
                </a:solidFill>
                <a:latin typeface="Georgia" pitchFamily="18" charset="0"/>
                <a:ea typeface="Georgia" pitchFamily="18" charset="-122"/>
                <a:cs typeface="Georgia" pitchFamily="18" charset="-120"/>
              </a:rPr>
              <a:t>What the method cannot see, and what we are waiting on</a:t>
            </a:r>
            <a:endParaRPr lang="en-US" sz="3294" dirty="0"/>
          </a:p>
        </p:txBody>
      </p:sp>
      <p:sp>
        <p:nvSpPr>
          <p:cNvPr id="4" name="Shape 2"/>
          <p:cNvSpPr/>
          <p:nvPr/>
        </p:nvSpPr>
        <p:spPr>
          <a:xfrm>
            <a:off x="812765" y="2400027"/>
            <a:ext cx="10566443" cy="3441990"/>
          </a:xfrm>
          <a:prstGeom prst="rect">
            <a:avLst/>
          </a:prstGeom>
          <a:solidFill>
            <a:srgbClr val="24364A"/>
          </a:solidFill>
          <a:ln/>
        </p:spPr>
        <p:txBody>
          <a:bodyPr/>
          <a:lstStyle/>
          <a:p>
            <a:endParaRPr lang="en-GB"/>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4358" y="2411621"/>
          <a:ext cx="10554849" cy="3430396"/>
        </p:xfrm>
        <a:graphic>
          <a:graphicData uri="http://schemas.openxmlformats.org/drawingml/2006/table">
            <a:tbl>
              <a:tblPr/>
              <a:tblGrid>
                <a:gridCol w="3166455">
                  <a:extLst>
                    <a:ext uri="{9D8B030D-6E8A-4147-A177-3AD203B41FA5}">
                      <a16:colId xmlns:a16="http://schemas.microsoft.com/office/drawing/2014/main" val="20000"/>
                    </a:ext>
                  </a:extLst>
                </a:gridCol>
                <a:gridCol w="4433037">
                  <a:extLst>
                    <a:ext uri="{9D8B030D-6E8A-4147-A177-3AD203B41FA5}">
                      <a16:colId xmlns:a16="http://schemas.microsoft.com/office/drawing/2014/main" val="20001"/>
                    </a:ext>
                  </a:extLst>
                </a:gridCol>
                <a:gridCol w="2955358">
                  <a:extLst>
                    <a:ext uri="{9D8B030D-6E8A-4147-A177-3AD203B41FA5}">
                      <a16:colId xmlns:a16="http://schemas.microsoft.com/office/drawing/2014/main" val="20002"/>
                    </a:ext>
                  </a:extLst>
                </a:gridCol>
              </a:tblGrid>
              <a:tr h="391053">
                <a:tc>
                  <a:txBody>
                    <a:bodyPr/>
                    <a:lstStyle/>
                    <a:p>
                      <a:pPr marL="0" indent="0">
                        <a:lnSpc>
                          <a:spcPts val="1819"/>
                        </a:lnSpc>
                        <a:buNone/>
                      </a:pPr>
                      <a:r>
                        <a:rPr lang="en-US" sz="1299" b="1" dirty="0">
                          <a:solidFill>
                            <a:srgbClr val="F6F4EE"/>
                          </a:solidFill>
                          <a:latin typeface="Arial" pitchFamily="34" charset="0"/>
                          <a:ea typeface="Arial" pitchFamily="34" charset="-122"/>
                          <a:cs typeface="Arial" pitchFamily="34" charset="-120"/>
                        </a:rPr>
                        <a:t>Item</a:t>
                      </a:r>
                      <a:endParaRPr lang="en-US" sz="1299" dirty="0">
                        <a:latin typeface="Arial" charset="0"/>
                        <a:ea typeface="Arial" charset="0"/>
                        <a:cs typeface="Arial" charset="0"/>
                      </a:endParaRPr>
                    </a:p>
                  </a:txBody>
                  <a:tcPr marL="57757" marR="57757" marT="57757" marB="57757">
                    <a:lnL w="12700" cap="flat" cmpd="sng" algn="ctr">
                      <a:solidFill>
                        <a:srgbClr val="536170"/>
                      </a:solidFill>
                      <a:prstDash val="solid"/>
                      <a:round/>
                      <a:headEnd type="none" w="med" len="med"/>
                      <a:tailEnd type="none" w="med" len="med"/>
                    </a:lnL>
                    <a:lnR w="12700" cap="flat" cmpd="sng" algn="ctr">
                      <a:solidFill>
                        <a:srgbClr val="434B54"/>
                      </a:solidFill>
                      <a:prstDash val="solid"/>
                      <a:round/>
                      <a:headEnd type="none" w="med" len="med"/>
                      <a:tailEnd type="none" w="med" len="med"/>
                    </a:lnR>
                    <a:lnT w="12700" cap="flat" cmpd="sng" algn="ctr">
                      <a:solidFill>
                        <a:srgbClr val="536170"/>
                      </a:solidFill>
                      <a:prstDash val="solid"/>
                      <a:round/>
                      <a:headEnd type="none" w="med" len="med"/>
                      <a:tailEnd type="none" w="med" len="med"/>
                    </a:lnT>
                    <a:lnB w="12700" cap="flat" cmpd="sng" algn="ctr">
                      <a:solidFill>
                        <a:srgbClr val="434B54"/>
                      </a:solidFill>
                      <a:prstDash val="solid"/>
                      <a:round/>
                      <a:headEnd type="none" w="med" len="med"/>
                      <a:tailEnd type="none" w="med" len="med"/>
                    </a:lnB>
                    <a:solidFill>
                      <a:srgbClr val="0F1A26"/>
                    </a:solidFill>
                  </a:tcPr>
                </a:tc>
                <a:tc>
                  <a:txBody>
                    <a:bodyPr/>
                    <a:lstStyle/>
                    <a:p>
                      <a:pPr marL="0" indent="0">
                        <a:lnSpc>
                          <a:spcPts val="1819"/>
                        </a:lnSpc>
                        <a:buNone/>
                      </a:pPr>
                      <a:r>
                        <a:rPr lang="en-US" sz="1299" b="1" dirty="0">
                          <a:solidFill>
                            <a:srgbClr val="F6F4EE"/>
                          </a:solidFill>
                          <a:latin typeface="Arial" pitchFamily="34" charset="0"/>
                          <a:ea typeface="Arial" pitchFamily="34" charset="-122"/>
                          <a:cs typeface="Arial" pitchFamily="34" charset="-120"/>
                        </a:rPr>
                        <a:t>Why it matters</a:t>
                      </a:r>
                      <a:endParaRPr lang="en-US" sz="1299" dirty="0">
                        <a:latin typeface="Arial" charset="0"/>
                        <a:ea typeface="Arial" charset="0"/>
                        <a:cs typeface="Arial" charset="0"/>
                      </a:endParaRPr>
                    </a:p>
                  </a:txBody>
                  <a:tcPr marL="57757" marR="57757" marT="57757" marB="57757">
                    <a:lnL w="12700" cap="flat" cmpd="sng" algn="ctr">
                      <a:solidFill>
                        <a:srgbClr val="434B54"/>
                      </a:solidFill>
                      <a:prstDash val="solid"/>
                      <a:round/>
                      <a:headEnd type="none" w="med" len="med"/>
                      <a:tailEnd type="none" w="med" len="med"/>
                    </a:lnL>
                    <a:lnR w="12700" cap="flat" cmpd="sng" algn="ctr">
                      <a:solidFill>
                        <a:srgbClr val="434B54"/>
                      </a:solidFill>
                      <a:prstDash val="solid"/>
                      <a:round/>
                      <a:headEnd type="none" w="med" len="med"/>
                      <a:tailEnd type="none" w="med" len="med"/>
                    </a:lnR>
                    <a:lnT w="12700" cap="flat" cmpd="sng" algn="ctr">
                      <a:solidFill>
                        <a:srgbClr val="536170"/>
                      </a:solidFill>
                      <a:prstDash val="solid"/>
                      <a:round/>
                      <a:headEnd type="none" w="med" len="med"/>
                      <a:tailEnd type="none" w="med" len="med"/>
                    </a:lnT>
                    <a:lnB w="12700" cap="flat" cmpd="sng" algn="ctr">
                      <a:solidFill>
                        <a:srgbClr val="434B54"/>
                      </a:solidFill>
                      <a:prstDash val="solid"/>
                      <a:round/>
                      <a:headEnd type="none" w="med" len="med"/>
                      <a:tailEnd type="none" w="med" len="med"/>
                    </a:lnB>
                    <a:solidFill>
                      <a:srgbClr val="0F1A26"/>
                    </a:solidFill>
                  </a:tcPr>
                </a:tc>
                <a:tc>
                  <a:txBody>
                    <a:bodyPr/>
                    <a:lstStyle/>
                    <a:p>
                      <a:pPr marL="0" indent="0">
                        <a:lnSpc>
                          <a:spcPts val="1819"/>
                        </a:lnSpc>
                        <a:buNone/>
                      </a:pPr>
                      <a:r>
                        <a:rPr lang="en-US" sz="1299" b="1" dirty="0">
                          <a:solidFill>
                            <a:srgbClr val="F6F4EE"/>
                          </a:solidFill>
                          <a:latin typeface="Arial" pitchFamily="34" charset="0"/>
                          <a:ea typeface="Arial" pitchFamily="34" charset="-122"/>
                          <a:cs typeface="Arial" pitchFamily="34" charset="-120"/>
                        </a:rPr>
                        <a:t>Status</a:t>
                      </a:r>
                      <a:endParaRPr lang="en-US" sz="1299" dirty="0">
                        <a:latin typeface="Arial" charset="0"/>
                        <a:ea typeface="Arial" charset="0"/>
                        <a:cs typeface="Arial" charset="0"/>
                      </a:endParaRPr>
                    </a:p>
                  </a:txBody>
                  <a:tcPr marL="57757" marR="57757" marT="57757" marB="57757">
                    <a:lnL w="12700" cap="flat" cmpd="sng" algn="ctr">
                      <a:solidFill>
                        <a:srgbClr val="434B54"/>
                      </a:solidFill>
                      <a:prstDash val="solid"/>
                      <a:round/>
                      <a:headEnd type="none" w="med" len="med"/>
                      <a:tailEnd type="none" w="med" len="med"/>
                    </a:lnL>
                    <a:lnR w="12700" cap="flat" cmpd="sng" algn="ctr">
                      <a:solidFill>
                        <a:srgbClr val="434B54"/>
                      </a:solidFill>
                      <a:prstDash val="solid"/>
                      <a:round/>
                      <a:headEnd type="none" w="med" len="med"/>
                      <a:tailEnd type="none" w="med" len="med"/>
                    </a:lnR>
                    <a:lnT w="12700" cap="flat" cmpd="sng" algn="ctr">
                      <a:solidFill>
                        <a:srgbClr val="536170"/>
                      </a:solidFill>
                      <a:prstDash val="solid"/>
                      <a:round/>
                      <a:headEnd type="none" w="med" len="med"/>
                      <a:tailEnd type="none" w="med" len="med"/>
                    </a:lnT>
                    <a:lnB w="12700" cap="flat" cmpd="sng" algn="ctr">
                      <a:solidFill>
                        <a:srgbClr val="434B54"/>
                      </a:solidFill>
                      <a:prstDash val="solid"/>
                      <a:round/>
                      <a:headEnd type="none" w="med" len="med"/>
                      <a:tailEnd type="none" w="med" len="med"/>
                    </a:lnB>
                    <a:solidFill>
                      <a:srgbClr val="0F1A26"/>
                    </a:solidFill>
                  </a:tcPr>
                </a:tc>
                <a:extLst>
                  <a:ext uri="{0D108BD9-81ED-4DB2-BD59-A6C34878D82A}">
                    <a16:rowId xmlns:a16="http://schemas.microsoft.com/office/drawing/2014/main" val="10000"/>
                  </a:ext>
                </a:extLst>
              </a:tr>
              <a:tr h="622062">
                <a:tc>
                  <a:txBody>
                    <a:bodyPr/>
                    <a:lstStyle/>
                    <a:p>
                      <a:pPr marL="0" indent="0">
                        <a:lnSpc>
                          <a:spcPts val="1819"/>
                        </a:lnSpc>
                        <a:buNone/>
                      </a:pPr>
                      <a:r>
                        <a:rPr lang="en-US" sz="1299" dirty="0">
                          <a:solidFill>
                            <a:srgbClr val="F6F4EE"/>
                          </a:solidFill>
                          <a:latin typeface="Arial" pitchFamily="34" charset="0"/>
                          <a:ea typeface="Arial" pitchFamily="34" charset="-122"/>
                          <a:cs typeface="Arial" pitchFamily="34" charset="-120"/>
                        </a:rPr>
                        <a:t>Eq. 2 masses behind 29.5 kN</a:t>
                      </a:r>
                      <a:endParaRPr lang="en-US" sz="1299" dirty="0">
                        <a:latin typeface="Arial" charset="0"/>
                        <a:ea typeface="Arial" charset="0"/>
                        <a:cs typeface="Arial" charset="0"/>
                      </a:endParaRPr>
                    </a:p>
                  </a:txBody>
                  <a:tcPr marL="57757" marR="57757" marT="57757" marB="57757">
                    <a:lnL w="12700" cap="flat" cmpd="sng" algn="ctr">
                      <a:solidFill>
                        <a:srgbClr val="536170"/>
                      </a:solidFill>
                      <a:prstDash val="solid"/>
                      <a:round/>
                      <a:headEnd type="none" w="med" len="med"/>
                      <a:tailEnd type="none" w="med" len="med"/>
                    </a:lnL>
                    <a:lnR w="12700" cap="flat" cmpd="sng" algn="ctr">
                      <a:solidFill>
                        <a:srgbClr val="536170"/>
                      </a:solidFill>
                      <a:prstDash val="solid"/>
                      <a:round/>
                      <a:headEnd type="none" w="med" len="med"/>
                      <a:tailEnd type="none" w="med" len="med"/>
                    </a:lnR>
                    <a:lnT w="12700" cap="flat" cmpd="sng" algn="ctr">
                      <a:solidFill>
                        <a:srgbClr val="434B54"/>
                      </a:solidFill>
                      <a:prstDash val="solid"/>
                      <a:round/>
                      <a:headEnd type="none" w="med" len="med"/>
                      <a:tailEnd type="none" w="med" len="med"/>
                    </a:lnT>
                    <a:lnB w="12700" cap="flat" cmpd="sng" algn="ctr">
                      <a:solidFill>
                        <a:srgbClr val="536170"/>
                      </a:solidFill>
                      <a:prstDash val="solid"/>
                      <a:round/>
                      <a:headEnd type="none" w="med" len="med"/>
                      <a:tailEnd type="none" w="med" len="med"/>
                    </a:lnB>
                  </a:tcPr>
                </a:tc>
                <a:tc>
                  <a:txBody>
                    <a:bodyPr/>
                    <a:lstStyle/>
                    <a:p>
                      <a:pPr marL="0" indent="0">
                        <a:lnSpc>
                          <a:spcPts val="1819"/>
                        </a:lnSpc>
                        <a:buNone/>
                      </a:pPr>
                      <a:r>
                        <a:rPr lang="en-US" sz="1299" dirty="0">
                          <a:solidFill>
                            <a:srgbClr val="F6F4EE"/>
                          </a:solidFill>
                          <a:latin typeface="Arial" pitchFamily="34" charset="0"/>
                          <a:ea typeface="Arial" pitchFamily="34" charset="-122"/>
                          <a:cs typeface="Arial" pitchFamily="34" charset="-120"/>
                        </a:rPr>
                        <a:t>Test capacity ~10 or ~30 kN; everything above rests on ~10.</a:t>
                      </a:r>
                      <a:endParaRPr lang="en-US" sz="1299" dirty="0">
                        <a:latin typeface="Arial" charset="0"/>
                        <a:ea typeface="Arial" charset="0"/>
                        <a:cs typeface="Arial" charset="0"/>
                      </a:endParaRPr>
                    </a:p>
                  </a:txBody>
                  <a:tcPr marL="57757" marR="57757" marT="57757" marB="57757">
                    <a:lnL w="12700" cap="flat" cmpd="sng" algn="ctr">
                      <a:solidFill>
                        <a:srgbClr val="536170"/>
                      </a:solidFill>
                      <a:prstDash val="solid"/>
                      <a:round/>
                      <a:headEnd type="none" w="med" len="med"/>
                      <a:tailEnd type="none" w="med" len="med"/>
                    </a:lnL>
                    <a:lnR w="12700" cap="flat" cmpd="sng" algn="ctr">
                      <a:solidFill>
                        <a:srgbClr val="536170"/>
                      </a:solidFill>
                      <a:prstDash val="solid"/>
                      <a:round/>
                      <a:headEnd type="none" w="med" len="med"/>
                      <a:tailEnd type="none" w="med" len="med"/>
                    </a:lnR>
                    <a:lnT w="12700" cap="flat" cmpd="sng" algn="ctr">
                      <a:solidFill>
                        <a:srgbClr val="434B54"/>
                      </a:solidFill>
                      <a:prstDash val="solid"/>
                      <a:round/>
                      <a:headEnd type="none" w="med" len="med"/>
                      <a:tailEnd type="none" w="med" len="med"/>
                    </a:lnT>
                    <a:lnB w="12700" cap="flat" cmpd="sng" algn="ctr">
                      <a:solidFill>
                        <a:srgbClr val="536170"/>
                      </a:solidFill>
                      <a:prstDash val="solid"/>
                      <a:round/>
                      <a:headEnd type="none" w="med" len="med"/>
                      <a:tailEnd type="none" w="med" len="med"/>
                    </a:lnB>
                  </a:tcPr>
                </a:tc>
                <a:tc>
                  <a:txBody>
                    <a:bodyPr/>
                    <a:lstStyle/>
                    <a:p>
                      <a:pPr marL="0" indent="0">
                        <a:lnSpc>
                          <a:spcPts val="1819"/>
                        </a:lnSpc>
                        <a:buNone/>
                      </a:pPr>
                      <a:r>
                        <a:rPr lang="en-US" sz="1299" dirty="0">
                          <a:solidFill>
                            <a:srgbClr val="F2B36B"/>
                          </a:solidFill>
                          <a:latin typeface="Arial" pitchFamily="34" charset="0"/>
                          <a:ea typeface="Arial" pitchFamily="34" charset="-122"/>
                          <a:cs typeface="Arial" pitchFamily="34" charset="-120"/>
                        </a:rPr>
                        <a:t>Pending Alvand’s reply</a:t>
                      </a:r>
                      <a:endParaRPr lang="en-US" sz="1299" dirty="0">
                        <a:latin typeface="Arial" charset="0"/>
                        <a:ea typeface="Arial" charset="0"/>
                        <a:cs typeface="Arial" charset="0"/>
                      </a:endParaRPr>
                    </a:p>
                  </a:txBody>
                  <a:tcPr marL="57757" marR="57757" marT="57757" marB="57757">
                    <a:lnL w="12700" cap="flat" cmpd="sng" algn="ctr">
                      <a:solidFill>
                        <a:srgbClr val="536170"/>
                      </a:solidFill>
                      <a:prstDash val="solid"/>
                      <a:round/>
                      <a:headEnd type="none" w="med" len="med"/>
                      <a:tailEnd type="none" w="med" len="med"/>
                    </a:lnL>
                    <a:lnR w="12700" cap="flat" cmpd="sng" algn="ctr">
                      <a:solidFill>
                        <a:srgbClr val="536170"/>
                      </a:solidFill>
                      <a:prstDash val="solid"/>
                      <a:round/>
                      <a:headEnd type="none" w="med" len="med"/>
                      <a:tailEnd type="none" w="med" len="med"/>
                    </a:lnR>
                    <a:lnT w="12700" cap="flat" cmpd="sng" algn="ctr">
                      <a:solidFill>
                        <a:srgbClr val="434B54"/>
                      </a:solidFill>
                      <a:prstDash val="solid"/>
                      <a:round/>
                      <a:headEnd type="none" w="med" len="med"/>
                      <a:tailEnd type="none" w="med" len="med"/>
                    </a:lnT>
                    <a:lnB w="12700" cap="flat" cmpd="sng" algn="ctr">
                      <a:solidFill>
                        <a:srgbClr val="536170"/>
                      </a:solidFill>
                      <a:prstDash val="solid"/>
                      <a:round/>
                      <a:headEnd type="none" w="med" len="med"/>
                      <a:tailEnd type="none" w="med" len="med"/>
                    </a:lnB>
                  </a:tcPr>
                </a:tc>
                <a:extLst>
                  <a:ext uri="{0D108BD9-81ED-4DB2-BD59-A6C34878D82A}">
                    <a16:rowId xmlns:a16="http://schemas.microsoft.com/office/drawing/2014/main" val="10001"/>
                  </a:ext>
                </a:extLst>
              </a:tr>
              <a:tr h="391053">
                <a:tc>
                  <a:txBody>
                    <a:bodyPr/>
                    <a:lstStyle/>
                    <a:p>
                      <a:pPr marL="0" indent="0">
                        <a:lnSpc>
                          <a:spcPts val="1819"/>
                        </a:lnSpc>
                        <a:buNone/>
                      </a:pPr>
                      <a:r>
                        <a:rPr lang="en-US" sz="1299" dirty="0">
                          <a:solidFill>
                            <a:srgbClr val="F6F4EE"/>
                          </a:solidFill>
                          <a:latin typeface="Arial" pitchFamily="34" charset="0"/>
                          <a:ea typeface="Arial" pitchFamily="34" charset="-122"/>
                          <a:cs typeface="Arial" pitchFamily="34" charset="-120"/>
                        </a:rPr>
                        <a:t>FR76 × 1.0 fixed point</a:t>
                      </a:r>
                      <a:endParaRPr lang="en-US" sz="1299" dirty="0">
                        <a:latin typeface="Arial" charset="0"/>
                        <a:ea typeface="Arial" charset="0"/>
                        <a:cs typeface="Arial" charset="0"/>
                      </a:endParaRPr>
                    </a:p>
                  </a:txBody>
                  <a:tcPr marL="57757" marR="57757" marT="57757" marB="57757">
                    <a:lnL w="12700" cap="flat" cmpd="sng" algn="ctr">
                      <a:solidFill>
                        <a:srgbClr val="536170"/>
                      </a:solidFill>
                      <a:prstDash val="solid"/>
                      <a:round/>
                      <a:headEnd type="none" w="med" len="med"/>
                      <a:tailEnd type="none" w="med" len="med"/>
                    </a:lnL>
                    <a:lnR w="12700" cap="flat" cmpd="sng" algn="ctr">
                      <a:solidFill>
                        <a:srgbClr val="4F5B68"/>
                      </a:solidFill>
                      <a:prstDash val="solid"/>
                      <a:round/>
                      <a:headEnd type="none" w="med" len="med"/>
                      <a:tailEnd type="none" w="med" len="med"/>
                    </a:lnR>
                    <a:lnT w="12700" cap="flat" cmpd="sng" algn="ctr">
                      <a:solidFill>
                        <a:srgbClr val="536170"/>
                      </a:solidFill>
                      <a:prstDash val="solid"/>
                      <a:round/>
                      <a:headEnd type="none" w="med" len="med"/>
                      <a:tailEnd type="none" w="med" len="med"/>
                    </a:lnT>
                    <a:lnB w="12700" cap="flat" cmpd="sng" algn="ctr">
                      <a:solidFill>
                        <a:srgbClr val="4F5B68"/>
                      </a:solidFill>
                      <a:prstDash val="solid"/>
                      <a:round/>
                      <a:headEnd type="none" w="med" len="med"/>
                      <a:tailEnd type="none" w="med" len="med"/>
                    </a:lnB>
                    <a:solidFill>
                      <a:srgbClr val="1F2F40"/>
                    </a:solidFill>
                  </a:tcPr>
                </a:tc>
                <a:tc>
                  <a:txBody>
                    <a:bodyPr/>
                    <a:lstStyle/>
                    <a:p>
                      <a:pPr marL="0" indent="0">
                        <a:lnSpc>
                          <a:spcPts val="1819"/>
                        </a:lnSpc>
                        <a:buNone/>
                      </a:pPr>
                      <a:r>
                        <a:rPr lang="en-US" sz="1299" dirty="0">
                          <a:solidFill>
                            <a:srgbClr val="F6F4EE"/>
                          </a:solidFill>
                          <a:latin typeface="Arial" pitchFamily="34" charset="0"/>
                          <a:ea typeface="Arial" pitchFamily="34" charset="-122"/>
                          <a:cs typeface="Arial" pitchFamily="34" charset="-120"/>
                        </a:rPr>
                        <a:t>d* anywhere in 5–40 mm depending on m_eff.</a:t>
                      </a:r>
                      <a:endParaRPr lang="en-US" sz="1299" dirty="0">
                        <a:latin typeface="Arial" charset="0"/>
                        <a:ea typeface="Arial" charset="0"/>
                        <a:cs typeface="Arial" charset="0"/>
                      </a:endParaRPr>
                    </a:p>
                  </a:txBody>
                  <a:tcPr marL="57757" marR="57757" marT="57757" marB="57757">
                    <a:lnL w="12700" cap="flat" cmpd="sng" algn="ctr">
                      <a:solidFill>
                        <a:srgbClr val="4F5B68"/>
                      </a:solidFill>
                      <a:prstDash val="solid"/>
                      <a:round/>
                      <a:headEnd type="none" w="med" len="med"/>
                      <a:tailEnd type="none" w="med" len="med"/>
                    </a:lnL>
                    <a:lnR w="12700" cap="flat" cmpd="sng" algn="ctr">
                      <a:solidFill>
                        <a:srgbClr val="4F5B68"/>
                      </a:solidFill>
                      <a:prstDash val="solid"/>
                      <a:round/>
                      <a:headEnd type="none" w="med" len="med"/>
                      <a:tailEnd type="none" w="med" len="med"/>
                    </a:lnR>
                    <a:lnT w="12700" cap="flat" cmpd="sng" algn="ctr">
                      <a:solidFill>
                        <a:srgbClr val="536170"/>
                      </a:solidFill>
                      <a:prstDash val="solid"/>
                      <a:round/>
                      <a:headEnd type="none" w="med" len="med"/>
                      <a:tailEnd type="none" w="med" len="med"/>
                    </a:lnT>
                    <a:lnB w="12700" cap="flat" cmpd="sng" algn="ctr">
                      <a:solidFill>
                        <a:srgbClr val="4F5B68"/>
                      </a:solidFill>
                      <a:prstDash val="solid"/>
                      <a:round/>
                      <a:headEnd type="none" w="med" len="med"/>
                      <a:tailEnd type="none" w="med" len="med"/>
                    </a:lnB>
                    <a:solidFill>
                      <a:srgbClr val="1F2F40"/>
                    </a:solidFill>
                  </a:tcPr>
                </a:tc>
                <a:tc>
                  <a:txBody>
                    <a:bodyPr/>
                    <a:lstStyle/>
                    <a:p>
                      <a:pPr marL="0" indent="0">
                        <a:lnSpc>
                          <a:spcPts val="1819"/>
                        </a:lnSpc>
                        <a:buNone/>
                      </a:pPr>
                      <a:r>
                        <a:rPr lang="en-US" sz="1299" dirty="0">
                          <a:solidFill>
                            <a:srgbClr val="F6F4EE"/>
                          </a:solidFill>
                          <a:latin typeface="Arial" pitchFamily="34" charset="0"/>
                          <a:ea typeface="Arial" pitchFamily="34" charset="-122"/>
                          <a:cs typeface="Arial" pitchFamily="34" charset="-120"/>
                        </a:rPr>
                        <a:t>Reported as a property of the method</a:t>
                      </a:r>
                      <a:endParaRPr lang="en-US" sz="1299" dirty="0">
                        <a:latin typeface="Arial" charset="0"/>
                        <a:ea typeface="Arial" charset="0"/>
                        <a:cs typeface="Arial" charset="0"/>
                      </a:endParaRPr>
                    </a:p>
                  </a:txBody>
                  <a:tcPr marL="57757" marR="57757" marT="57757" marB="57757">
                    <a:lnL w="12700" cap="flat" cmpd="sng" algn="ctr">
                      <a:solidFill>
                        <a:srgbClr val="4F5B68"/>
                      </a:solidFill>
                      <a:prstDash val="solid"/>
                      <a:round/>
                      <a:headEnd type="none" w="med" len="med"/>
                      <a:tailEnd type="none" w="med" len="med"/>
                    </a:lnL>
                    <a:lnR w="12700" cap="flat" cmpd="sng" algn="ctr">
                      <a:solidFill>
                        <a:srgbClr val="4F5B68"/>
                      </a:solidFill>
                      <a:prstDash val="solid"/>
                      <a:round/>
                      <a:headEnd type="none" w="med" len="med"/>
                      <a:tailEnd type="none" w="med" len="med"/>
                    </a:lnR>
                    <a:lnT w="12700" cap="flat" cmpd="sng" algn="ctr">
                      <a:solidFill>
                        <a:srgbClr val="536170"/>
                      </a:solidFill>
                      <a:prstDash val="solid"/>
                      <a:round/>
                      <a:headEnd type="none" w="med" len="med"/>
                      <a:tailEnd type="none" w="med" len="med"/>
                    </a:lnT>
                    <a:lnB w="12700" cap="flat" cmpd="sng" algn="ctr">
                      <a:solidFill>
                        <a:srgbClr val="4F5B68"/>
                      </a:solidFill>
                      <a:prstDash val="solid"/>
                      <a:round/>
                      <a:headEnd type="none" w="med" len="med"/>
                      <a:tailEnd type="none" w="med" len="med"/>
                    </a:lnB>
                    <a:solidFill>
                      <a:srgbClr val="1F2F40"/>
                    </a:solidFill>
                  </a:tcPr>
                </a:tc>
                <a:extLst>
                  <a:ext uri="{0D108BD9-81ED-4DB2-BD59-A6C34878D82A}">
                    <a16:rowId xmlns:a16="http://schemas.microsoft.com/office/drawing/2014/main" val="10002"/>
                  </a:ext>
                </a:extLst>
              </a:tr>
              <a:tr h="622062">
                <a:tc>
                  <a:txBody>
                    <a:bodyPr/>
                    <a:lstStyle/>
                    <a:p>
                      <a:pPr marL="0" indent="0">
                        <a:lnSpc>
                          <a:spcPts val="1819"/>
                        </a:lnSpc>
                        <a:buNone/>
                      </a:pPr>
                      <a:r>
                        <a:rPr lang="en-US" sz="1299" dirty="0">
                          <a:solidFill>
                            <a:srgbClr val="F6F4EE"/>
                          </a:solidFill>
                          <a:latin typeface="Arial" pitchFamily="34" charset="0"/>
                          <a:ea typeface="Arial" pitchFamily="34" charset="-122"/>
                          <a:cs typeface="Arial" pitchFamily="34" charset="-120"/>
                        </a:rPr>
                        <a:t>Cycle accumulation</a:t>
                      </a:r>
                      <a:endParaRPr lang="en-US" sz="1299" dirty="0">
                        <a:latin typeface="Arial" charset="0"/>
                        <a:ea typeface="Arial" charset="0"/>
                        <a:cs typeface="Arial" charset="0"/>
                      </a:endParaRPr>
                    </a:p>
                  </a:txBody>
                  <a:tcPr marL="57757" marR="57757" marT="57757" marB="57757">
                    <a:lnL w="12700" cap="flat" cmpd="sng" algn="ctr">
                      <a:solidFill>
                        <a:srgbClr val="536170"/>
                      </a:solidFill>
                      <a:prstDash val="solid"/>
                      <a:round/>
                      <a:headEnd type="none" w="med" len="med"/>
                      <a:tailEnd type="none" w="med" len="med"/>
                    </a:lnL>
                    <a:lnR w="12700" cap="flat" cmpd="sng" algn="ctr">
                      <a:solidFill>
                        <a:srgbClr val="536170"/>
                      </a:solidFill>
                      <a:prstDash val="solid"/>
                      <a:round/>
                      <a:headEnd type="none" w="med" len="med"/>
                      <a:tailEnd type="none" w="med" len="med"/>
                    </a:lnR>
                    <a:lnT w="12700" cap="flat" cmpd="sng" algn="ctr">
                      <a:solidFill>
                        <a:srgbClr val="4F5B68"/>
                      </a:solidFill>
                      <a:prstDash val="solid"/>
                      <a:round/>
                      <a:headEnd type="none" w="med" len="med"/>
                      <a:tailEnd type="none" w="med" len="med"/>
                    </a:lnT>
                    <a:lnB w="12700" cap="flat" cmpd="sng" algn="ctr">
                      <a:solidFill>
                        <a:srgbClr val="536170"/>
                      </a:solidFill>
                      <a:prstDash val="solid"/>
                      <a:round/>
                      <a:headEnd type="none" w="med" len="med"/>
                      <a:tailEnd type="none" w="med" len="med"/>
                    </a:lnB>
                  </a:tcPr>
                </a:tc>
                <a:tc>
                  <a:txBody>
                    <a:bodyPr/>
                    <a:lstStyle/>
                    <a:p>
                      <a:pPr marL="0" indent="0">
                        <a:lnSpc>
                          <a:spcPts val="1819"/>
                        </a:lnSpc>
                        <a:buNone/>
                      </a:pPr>
                      <a:r>
                        <a:rPr lang="en-US" sz="1299" dirty="0">
                          <a:solidFill>
                            <a:srgbClr val="F6F4EE"/>
                          </a:solidFill>
                          <a:latin typeface="Arial" pitchFamily="34" charset="0"/>
                          <a:ea typeface="Arial" pitchFamily="34" charset="-122"/>
                          <a:cs typeface="Arial" pitchFamily="34" charset="-120"/>
                        </a:rPr>
                        <a:t>One d* cannot see how many strong half-cycles the record delivers.</a:t>
                      </a:r>
                      <a:endParaRPr lang="en-US" sz="1299" dirty="0">
                        <a:latin typeface="Arial" charset="0"/>
                        <a:ea typeface="Arial" charset="0"/>
                        <a:cs typeface="Arial" charset="0"/>
                      </a:endParaRPr>
                    </a:p>
                  </a:txBody>
                  <a:tcPr marL="57757" marR="57757" marT="57757" marB="57757">
                    <a:lnL w="12700" cap="flat" cmpd="sng" algn="ctr">
                      <a:solidFill>
                        <a:srgbClr val="536170"/>
                      </a:solidFill>
                      <a:prstDash val="solid"/>
                      <a:round/>
                      <a:headEnd type="none" w="med" len="med"/>
                      <a:tailEnd type="none" w="med" len="med"/>
                    </a:lnL>
                    <a:lnR w="12700" cap="flat" cmpd="sng" algn="ctr">
                      <a:solidFill>
                        <a:srgbClr val="536170"/>
                      </a:solidFill>
                      <a:prstDash val="solid"/>
                      <a:round/>
                      <a:headEnd type="none" w="med" len="med"/>
                      <a:tailEnd type="none" w="med" len="med"/>
                    </a:lnR>
                    <a:lnT w="12700" cap="flat" cmpd="sng" algn="ctr">
                      <a:solidFill>
                        <a:srgbClr val="4F5B68"/>
                      </a:solidFill>
                      <a:prstDash val="solid"/>
                      <a:round/>
                      <a:headEnd type="none" w="med" len="med"/>
                      <a:tailEnd type="none" w="med" len="med"/>
                    </a:lnT>
                    <a:lnB w="12700" cap="flat" cmpd="sng" algn="ctr">
                      <a:solidFill>
                        <a:srgbClr val="536170"/>
                      </a:solidFill>
                      <a:prstDash val="solid"/>
                      <a:round/>
                      <a:headEnd type="none" w="med" len="med"/>
                      <a:tailEnd type="none" w="med" len="med"/>
                    </a:lnB>
                  </a:tcPr>
                </a:tc>
                <a:tc>
                  <a:txBody>
                    <a:bodyPr/>
                    <a:lstStyle/>
                    <a:p>
                      <a:pPr marL="0" indent="0">
                        <a:lnSpc>
                          <a:spcPts val="1819"/>
                        </a:lnSpc>
                        <a:buNone/>
                      </a:pPr>
                      <a:r>
                        <a:rPr lang="en-US" sz="1299" dirty="0">
                          <a:solidFill>
                            <a:srgbClr val="F6F4EE"/>
                          </a:solidFill>
                          <a:latin typeface="Arial" pitchFamily="34" charset="0"/>
                          <a:ea typeface="Arial" pitchFamily="34" charset="-122"/>
                          <a:cs typeface="Arial" pitchFamily="34" charset="-120"/>
                        </a:rPr>
                        <a:t>Method 2b if pursued</a:t>
                      </a:r>
                      <a:endParaRPr lang="en-US" sz="1299" dirty="0">
                        <a:latin typeface="Arial" charset="0"/>
                        <a:ea typeface="Arial" charset="0"/>
                        <a:cs typeface="Arial" charset="0"/>
                      </a:endParaRPr>
                    </a:p>
                  </a:txBody>
                  <a:tcPr marL="57757" marR="57757" marT="57757" marB="57757">
                    <a:lnL w="12700" cap="flat" cmpd="sng" algn="ctr">
                      <a:solidFill>
                        <a:srgbClr val="536170"/>
                      </a:solidFill>
                      <a:prstDash val="solid"/>
                      <a:round/>
                      <a:headEnd type="none" w="med" len="med"/>
                      <a:tailEnd type="none" w="med" len="med"/>
                    </a:lnL>
                    <a:lnR w="12700" cap="flat" cmpd="sng" algn="ctr">
                      <a:solidFill>
                        <a:srgbClr val="536170"/>
                      </a:solidFill>
                      <a:prstDash val="solid"/>
                      <a:round/>
                      <a:headEnd type="none" w="med" len="med"/>
                      <a:tailEnd type="none" w="med" len="med"/>
                    </a:lnR>
                    <a:lnT w="12700" cap="flat" cmpd="sng" algn="ctr">
                      <a:solidFill>
                        <a:srgbClr val="4F5B68"/>
                      </a:solidFill>
                      <a:prstDash val="solid"/>
                      <a:round/>
                      <a:headEnd type="none" w="med" len="med"/>
                      <a:tailEnd type="none" w="med" len="med"/>
                    </a:lnT>
                    <a:lnB w="12700" cap="flat" cmpd="sng" algn="ctr">
                      <a:solidFill>
                        <a:srgbClr val="536170"/>
                      </a:solidFill>
                      <a:prstDash val="solid"/>
                      <a:round/>
                      <a:headEnd type="none" w="med" len="med"/>
                      <a:tailEnd type="none" w="med" len="med"/>
                    </a:lnB>
                  </a:tcPr>
                </a:tc>
                <a:extLst>
                  <a:ext uri="{0D108BD9-81ED-4DB2-BD59-A6C34878D82A}">
                    <a16:rowId xmlns:a16="http://schemas.microsoft.com/office/drawing/2014/main" val="10003"/>
                  </a:ext>
                </a:extLst>
              </a:tr>
              <a:tr h="391053">
                <a:tc>
                  <a:txBody>
                    <a:bodyPr/>
                    <a:lstStyle/>
                    <a:p>
                      <a:pPr marL="0" indent="0">
                        <a:lnSpc>
                          <a:spcPts val="1819"/>
                        </a:lnSpc>
                        <a:buNone/>
                      </a:pPr>
                      <a:r>
                        <a:rPr lang="en-US" sz="1299" dirty="0">
                          <a:solidFill>
                            <a:srgbClr val="F6F4EE"/>
                          </a:solidFill>
                          <a:latin typeface="Arial" pitchFamily="34" charset="0"/>
                          <a:ea typeface="Arial" pitchFamily="34" charset="-122"/>
                          <a:cs typeface="Arial" pitchFamily="34" charset="-120"/>
                        </a:rPr>
                        <a:t>Top-joint sliding in the pushover</a:t>
                      </a:r>
                      <a:endParaRPr lang="en-US" sz="1299" dirty="0">
                        <a:latin typeface="Arial" charset="0"/>
                        <a:ea typeface="Arial" charset="0"/>
                        <a:cs typeface="Arial" charset="0"/>
                      </a:endParaRPr>
                    </a:p>
                  </a:txBody>
                  <a:tcPr marL="57757" marR="57757" marT="57757" marB="57757">
                    <a:lnL w="12700" cap="flat" cmpd="sng" algn="ctr">
                      <a:solidFill>
                        <a:srgbClr val="536170"/>
                      </a:solidFill>
                      <a:prstDash val="solid"/>
                      <a:round/>
                      <a:headEnd type="none" w="med" len="med"/>
                      <a:tailEnd type="none" w="med" len="med"/>
                    </a:lnL>
                    <a:lnR w="12700" cap="flat" cmpd="sng" algn="ctr">
                      <a:solidFill>
                        <a:srgbClr val="4F5B68"/>
                      </a:solidFill>
                      <a:prstDash val="solid"/>
                      <a:round/>
                      <a:headEnd type="none" w="med" len="med"/>
                      <a:tailEnd type="none" w="med" len="med"/>
                    </a:lnR>
                    <a:lnT w="12700" cap="flat" cmpd="sng" algn="ctr">
                      <a:solidFill>
                        <a:srgbClr val="536170"/>
                      </a:solidFill>
                      <a:prstDash val="solid"/>
                      <a:round/>
                      <a:headEnd type="none" w="med" len="med"/>
                      <a:tailEnd type="none" w="med" len="med"/>
                    </a:lnT>
                    <a:lnB w="12700" cap="flat" cmpd="sng" algn="ctr">
                      <a:solidFill>
                        <a:srgbClr val="4F5B68"/>
                      </a:solidFill>
                      <a:prstDash val="solid"/>
                      <a:round/>
                      <a:headEnd type="none" w="med" len="med"/>
                      <a:tailEnd type="none" w="med" len="med"/>
                    </a:lnB>
                    <a:solidFill>
                      <a:srgbClr val="1F2F40"/>
                    </a:solidFill>
                  </a:tcPr>
                </a:tc>
                <a:tc>
                  <a:txBody>
                    <a:bodyPr/>
                    <a:lstStyle/>
                    <a:p>
                      <a:pPr marL="0" indent="0">
                        <a:lnSpc>
                          <a:spcPts val="1819"/>
                        </a:lnSpc>
                        <a:buNone/>
                      </a:pPr>
                      <a:r>
                        <a:rPr lang="en-US" sz="1299" dirty="0">
                          <a:solidFill>
                            <a:srgbClr val="F6F4EE"/>
                          </a:solidFill>
                          <a:latin typeface="Arial" pitchFamily="34" charset="0"/>
                          <a:ea typeface="Arial" pitchFamily="34" charset="-122"/>
                          <a:cs typeface="Arial" pitchFamily="34" charset="-120"/>
                        </a:rPr>
                        <a:t>Part of the plateau is top-joint friction, not wall kinematics.</a:t>
                      </a:r>
                      <a:endParaRPr lang="en-US" sz="1299" dirty="0">
                        <a:latin typeface="Arial" charset="0"/>
                        <a:ea typeface="Arial" charset="0"/>
                        <a:cs typeface="Arial" charset="0"/>
                      </a:endParaRPr>
                    </a:p>
                  </a:txBody>
                  <a:tcPr marL="57757" marR="57757" marT="57757" marB="57757">
                    <a:lnL w="12700" cap="flat" cmpd="sng" algn="ctr">
                      <a:solidFill>
                        <a:srgbClr val="4F5B68"/>
                      </a:solidFill>
                      <a:prstDash val="solid"/>
                      <a:round/>
                      <a:headEnd type="none" w="med" len="med"/>
                      <a:tailEnd type="none" w="med" len="med"/>
                    </a:lnL>
                    <a:lnR w="12700" cap="flat" cmpd="sng" algn="ctr">
                      <a:solidFill>
                        <a:srgbClr val="4F5B68"/>
                      </a:solidFill>
                      <a:prstDash val="solid"/>
                      <a:round/>
                      <a:headEnd type="none" w="med" len="med"/>
                      <a:tailEnd type="none" w="med" len="med"/>
                    </a:lnR>
                    <a:lnT w="12700" cap="flat" cmpd="sng" algn="ctr">
                      <a:solidFill>
                        <a:srgbClr val="536170"/>
                      </a:solidFill>
                      <a:prstDash val="solid"/>
                      <a:round/>
                      <a:headEnd type="none" w="med" len="med"/>
                      <a:tailEnd type="none" w="med" len="med"/>
                    </a:lnT>
                    <a:lnB w="12700" cap="flat" cmpd="sng" algn="ctr">
                      <a:solidFill>
                        <a:srgbClr val="4F5B68"/>
                      </a:solidFill>
                      <a:prstDash val="solid"/>
                      <a:round/>
                      <a:headEnd type="none" w="med" len="med"/>
                      <a:tailEnd type="none" w="med" len="med"/>
                    </a:lnB>
                    <a:solidFill>
                      <a:srgbClr val="1F2F40"/>
                    </a:solidFill>
                  </a:tcPr>
                </a:tc>
                <a:tc>
                  <a:txBody>
                    <a:bodyPr/>
                    <a:lstStyle/>
                    <a:p>
                      <a:pPr marL="0" indent="0">
                        <a:lnSpc>
                          <a:spcPts val="1819"/>
                        </a:lnSpc>
                        <a:buNone/>
                      </a:pPr>
                      <a:r>
                        <a:rPr lang="en-US" sz="1299" dirty="0">
                          <a:solidFill>
                            <a:srgbClr val="F6F4EE"/>
                          </a:solidFill>
                          <a:latin typeface="Arial" pitchFamily="34" charset="0"/>
                          <a:ea typeface="Arial" pitchFamily="34" charset="-122"/>
                          <a:cs typeface="Arial" pitchFamily="34" charset="-120"/>
                        </a:rPr>
                        <a:t>Check against Fig. 15 shapes</a:t>
                      </a:r>
                      <a:endParaRPr lang="en-US" sz="1299" dirty="0">
                        <a:latin typeface="Arial" charset="0"/>
                        <a:ea typeface="Arial" charset="0"/>
                        <a:cs typeface="Arial" charset="0"/>
                      </a:endParaRPr>
                    </a:p>
                  </a:txBody>
                  <a:tcPr marL="57757" marR="57757" marT="57757" marB="57757">
                    <a:lnL w="12700" cap="flat" cmpd="sng" algn="ctr">
                      <a:solidFill>
                        <a:srgbClr val="4F5B68"/>
                      </a:solidFill>
                      <a:prstDash val="solid"/>
                      <a:round/>
                      <a:headEnd type="none" w="med" len="med"/>
                      <a:tailEnd type="none" w="med" len="med"/>
                    </a:lnL>
                    <a:lnR w="12700" cap="flat" cmpd="sng" algn="ctr">
                      <a:solidFill>
                        <a:srgbClr val="4F5B68"/>
                      </a:solidFill>
                      <a:prstDash val="solid"/>
                      <a:round/>
                      <a:headEnd type="none" w="med" len="med"/>
                      <a:tailEnd type="none" w="med" len="med"/>
                    </a:lnR>
                    <a:lnT w="12700" cap="flat" cmpd="sng" algn="ctr">
                      <a:solidFill>
                        <a:srgbClr val="536170"/>
                      </a:solidFill>
                      <a:prstDash val="solid"/>
                      <a:round/>
                      <a:headEnd type="none" w="med" len="med"/>
                      <a:tailEnd type="none" w="med" len="med"/>
                    </a:lnT>
                    <a:lnB w="12700" cap="flat" cmpd="sng" algn="ctr">
                      <a:solidFill>
                        <a:srgbClr val="4F5B68"/>
                      </a:solidFill>
                      <a:prstDash val="solid"/>
                      <a:round/>
                      <a:headEnd type="none" w="med" len="med"/>
                      <a:tailEnd type="none" w="med" len="med"/>
                    </a:lnB>
                    <a:solidFill>
                      <a:srgbClr val="1F2F40"/>
                    </a:solidFill>
                  </a:tcPr>
                </a:tc>
                <a:extLst>
                  <a:ext uri="{0D108BD9-81ED-4DB2-BD59-A6C34878D82A}">
                    <a16:rowId xmlns:a16="http://schemas.microsoft.com/office/drawing/2014/main" val="10004"/>
                  </a:ext>
                </a:extLst>
              </a:tr>
              <a:tr h="622062">
                <a:tc>
                  <a:txBody>
                    <a:bodyPr/>
                    <a:lstStyle/>
                    <a:p>
                      <a:pPr marL="0" indent="0">
                        <a:lnSpc>
                          <a:spcPts val="1819"/>
                        </a:lnSpc>
                        <a:buNone/>
                      </a:pPr>
                      <a:r>
                        <a:rPr lang="en-US" sz="1299" dirty="0">
                          <a:solidFill>
                            <a:srgbClr val="F6F4EE"/>
                          </a:solidFill>
                          <a:latin typeface="Arial" pitchFamily="34" charset="0"/>
                          <a:ea typeface="Arial" pitchFamily="34" charset="-122"/>
                          <a:cs typeface="Arial" pitchFamily="34" charset="-120"/>
                        </a:rPr>
                        <a:t>Period elongation</a:t>
                      </a:r>
                      <a:endParaRPr lang="en-US" sz="1299" dirty="0">
                        <a:latin typeface="Arial" charset="0"/>
                        <a:ea typeface="Arial" charset="0"/>
                        <a:cs typeface="Arial" charset="0"/>
                      </a:endParaRPr>
                    </a:p>
                  </a:txBody>
                  <a:tcPr marL="57757" marR="57757" marT="57757" marB="57757">
                    <a:lnL w="12700" cap="flat" cmpd="sng" algn="ctr">
                      <a:solidFill>
                        <a:srgbClr val="536170"/>
                      </a:solidFill>
                      <a:prstDash val="solid"/>
                      <a:round/>
                      <a:headEnd type="none" w="med" len="med"/>
                      <a:tailEnd type="none" w="med" len="med"/>
                    </a:lnL>
                    <a:lnR w="12700" cap="flat" cmpd="sng" algn="ctr">
                      <a:solidFill>
                        <a:srgbClr val="536170"/>
                      </a:solidFill>
                      <a:prstDash val="solid"/>
                      <a:round/>
                      <a:headEnd type="none" w="med" len="med"/>
                      <a:tailEnd type="none" w="med" len="med"/>
                    </a:lnR>
                    <a:lnT w="12700" cap="flat" cmpd="sng" algn="ctr">
                      <a:solidFill>
                        <a:srgbClr val="4F5B68"/>
                      </a:solidFill>
                      <a:prstDash val="solid"/>
                      <a:round/>
                      <a:headEnd type="none" w="med" len="med"/>
                      <a:tailEnd type="none" w="med" len="med"/>
                    </a:lnT>
                    <a:lnB w="12700" cap="flat" cmpd="sng" algn="ctr">
                      <a:solidFill>
                        <a:srgbClr val="536170"/>
                      </a:solidFill>
                      <a:prstDash val="solid"/>
                      <a:round/>
                      <a:headEnd type="none" w="med" len="med"/>
                      <a:tailEnd type="none" w="med" len="med"/>
                    </a:lnB>
                  </a:tcPr>
                </a:tc>
                <a:tc>
                  <a:txBody>
                    <a:bodyPr/>
                    <a:lstStyle/>
                    <a:p>
                      <a:pPr marL="0" indent="0">
                        <a:lnSpc>
                          <a:spcPts val="1819"/>
                        </a:lnSpc>
                        <a:buNone/>
                      </a:pPr>
                      <a:r>
                        <a:rPr lang="en-US" sz="1299" dirty="0">
                          <a:solidFill>
                            <a:srgbClr val="F6F4EE"/>
                          </a:solidFill>
                          <a:latin typeface="Arial" pitchFamily="34" charset="0"/>
                          <a:ea typeface="Arial" pitchFamily="34" charset="-122"/>
                          <a:cs typeface="Arial" pitchFamily="34" charset="-120"/>
                        </a:rPr>
                        <a:t>Test +17.5 % from run 1; the ft0 model should stay near 0.103 s.</a:t>
                      </a:r>
                      <a:endParaRPr lang="en-US" sz="1299" dirty="0">
                        <a:latin typeface="Arial" charset="0"/>
                        <a:ea typeface="Arial" charset="0"/>
                        <a:cs typeface="Arial" charset="0"/>
                      </a:endParaRPr>
                    </a:p>
                  </a:txBody>
                  <a:tcPr marL="57757" marR="57757" marT="57757" marB="57757">
                    <a:lnL w="12700" cap="flat" cmpd="sng" algn="ctr">
                      <a:solidFill>
                        <a:srgbClr val="536170"/>
                      </a:solidFill>
                      <a:prstDash val="solid"/>
                      <a:round/>
                      <a:headEnd type="none" w="med" len="med"/>
                      <a:tailEnd type="none" w="med" len="med"/>
                    </a:lnL>
                    <a:lnR w="12700" cap="flat" cmpd="sng" algn="ctr">
                      <a:solidFill>
                        <a:srgbClr val="536170"/>
                      </a:solidFill>
                      <a:prstDash val="solid"/>
                      <a:round/>
                      <a:headEnd type="none" w="med" len="med"/>
                      <a:tailEnd type="none" w="med" len="med"/>
                    </a:lnR>
                    <a:lnT w="12700" cap="flat" cmpd="sng" algn="ctr">
                      <a:solidFill>
                        <a:srgbClr val="4F5B68"/>
                      </a:solidFill>
                      <a:prstDash val="solid"/>
                      <a:round/>
                      <a:headEnd type="none" w="med" len="med"/>
                      <a:tailEnd type="none" w="med" len="med"/>
                    </a:lnT>
                    <a:lnB w="12700" cap="flat" cmpd="sng" algn="ctr">
                      <a:solidFill>
                        <a:srgbClr val="536170"/>
                      </a:solidFill>
                      <a:prstDash val="solid"/>
                      <a:round/>
                      <a:headEnd type="none" w="med" len="med"/>
                      <a:tailEnd type="none" w="med" len="med"/>
                    </a:lnB>
                  </a:tcPr>
                </a:tc>
                <a:tc>
                  <a:txBody>
                    <a:bodyPr/>
                    <a:lstStyle/>
                    <a:p>
                      <a:pPr marL="0" indent="0">
                        <a:lnSpc>
                          <a:spcPts val="1819"/>
                        </a:lnSpc>
                        <a:buNone/>
                      </a:pPr>
                      <a:r>
                        <a:rPr lang="en-US" sz="1299" dirty="0">
                          <a:solidFill>
                            <a:srgbClr val="F6F4EE"/>
                          </a:solidFill>
                          <a:latin typeface="Arial" pitchFamily="34" charset="0"/>
                          <a:ea typeface="Arial" pitchFamily="34" charset="-122"/>
                          <a:cs typeface="Arial" pitchFamily="34" charset="-120"/>
                        </a:rPr>
                        <a:t>Offline Table 5 after the control</a:t>
                      </a:r>
                      <a:endParaRPr lang="en-US" sz="1299" dirty="0">
                        <a:latin typeface="Arial" charset="0"/>
                        <a:ea typeface="Arial" charset="0"/>
                        <a:cs typeface="Arial" charset="0"/>
                      </a:endParaRPr>
                    </a:p>
                  </a:txBody>
                  <a:tcPr marL="57757" marR="57757" marT="57757" marB="57757">
                    <a:lnL w="12700" cap="flat" cmpd="sng" algn="ctr">
                      <a:solidFill>
                        <a:srgbClr val="536170"/>
                      </a:solidFill>
                      <a:prstDash val="solid"/>
                      <a:round/>
                      <a:headEnd type="none" w="med" len="med"/>
                      <a:tailEnd type="none" w="med" len="med"/>
                    </a:lnL>
                    <a:lnR w="12700" cap="flat" cmpd="sng" algn="ctr">
                      <a:solidFill>
                        <a:srgbClr val="536170"/>
                      </a:solidFill>
                      <a:prstDash val="solid"/>
                      <a:round/>
                      <a:headEnd type="none" w="med" len="med"/>
                      <a:tailEnd type="none" w="med" len="med"/>
                    </a:lnR>
                    <a:lnT w="12700" cap="flat" cmpd="sng" algn="ctr">
                      <a:solidFill>
                        <a:srgbClr val="4F5B68"/>
                      </a:solidFill>
                      <a:prstDash val="solid"/>
                      <a:round/>
                      <a:headEnd type="none" w="med" len="med"/>
                      <a:tailEnd type="none" w="med" len="med"/>
                    </a:lnT>
                    <a:lnB w="12700" cap="flat" cmpd="sng" algn="ctr">
                      <a:solidFill>
                        <a:srgbClr val="536170"/>
                      </a:solidFill>
                      <a:prstDash val="solid"/>
                      <a:round/>
                      <a:headEnd type="none" w="med" len="med"/>
                      <a:tailEnd type="none" w="med" len="med"/>
                    </a:lnB>
                  </a:tcPr>
                </a:tc>
                <a:extLst>
                  <a:ext uri="{0D108BD9-81ED-4DB2-BD59-A6C34878D82A}">
                    <a16:rowId xmlns:a16="http://schemas.microsoft.com/office/drawing/2014/main" val="10005"/>
                  </a:ext>
                </a:extLst>
              </a:tr>
              <a:tr h="391053">
                <a:tc>
                  <a:txBody>
                    <a:bodyPr/>
                    <a:lstStyle/>
                    <a:p>
                      <a:pPr marL="0" indent="0">
                        <a:lnSpc>
                          <a:spcPts val="1819"/>
                        </a:lnSpc>
                        <a:buNone/>
                      </a:pPr>
                      <a:r>
                        <a:rPr lang="en-US" sz="1299" dirty="0">
                          <a:solidFill>
                            <a:srgbClr val="F6F4EE"/>
                          </a:solidFill>
                          <a:latin typeface="Arial" pitchFamily="34" charset="0"/>
                          <a:ea typeface="Arial" pitchFamily="34" charset="-122"/>
                          <a:cs typeface="Arial" pitchFamily="34" charset="-120"/>
                        </a:rPr>
                        <a:t>Old results and deck</a:t>
                      </a:r>
                      <a:endParaRPr lang="en-US" sz="1299" dirty="0">
                        <a:latin typeface="Arial" charset="0"/>
                        <a:ea typeface="Arial" charset="0"/>
                        <a:cs typeface="Arial" charset="0"/>
                      </a:endParaRPr>
                    </a:p>
                  </a:txBody>
                  <a:tcPr marL="57757" marR="57757" marT="57757" marB="57757">
                    <a:lnL w="12700" cap="flat" cmpd="sng" algn="ctr">
                      <a:solidFill>
                        <a:srgbClr val="536170"/>
                      </a:solidFill>
                      <a:prstDash val="solid"/>
                      <a:round/>
                      <a:headEnd type="none" w="med" len="med"/>
                      <a:tailEnd type="none" w="med" len="med"/>
                    </a:lnL>
                    <a:lnR w="12700" cap="flat" cmpd="sng" algn="ctr">
                      <a:solidFill>
                        <a:srgbClr val="4F5B68"/>
                      </a:solidFill>
                      <a:prstDash val="solid"/>
                      <a:round/>
                      <a:headEnd type="none" w="med" len="med"/>
                      <a:tailEnd type="none" w="med" len="med"/>
                    </a:lnR>
                    <a:lnT w="12700" cap="flat" cmpd="sng" algn="ctr">
                      <a:solidFill>
                        <a:srgbClr val="536170"/>
                      </a:solidFill>
                      <a:prstDash val="solid"/>
                      <a:round/>
                      <a:headEnd type="none" w="med" len="med"/>
                      <a:tailEnd type="none" w="med" len="med"/>
                    </a:lnT>
                    <a:lnB w="12700" cap="flat" cmpd="sng" algn="ctr">
                      <a:solidFill>
                        <a:srgbClr val="4F5B68"/>
                      </a:solidFill>
                      <a:prstDash val="solid"/>
                      <a:round/>
                      <a:headEnd type="none" w="med" len="med"/>
                      <a:tailEnd type="none" w="med" len="med"/>
                    </a:lnB>
                    <a:solidFill>
                      <a:srgbClr val="1F2F40"/>
                    </a:solidFill>
                  </a:tcPr>
                </a:tc>
                <a:tc>
                  <a:txBody>
                    <a:bodyPr/>
                    <a:lstStyle/>
                    <a:p>
                      <a:pPr marL="0" indent="0">
                        <a:lnSpc>
                          <a:spcPts val="1819"/>
                        </a:lnSpc>
                        <a:buNone/>
                      </a:pPr>
                      <a:r>
                        <a:rPr lang="en-US" sz="1299" dirty="0">
                          <a:solidFill>
                            <a:srgbClr val="F6F4EE"/>
                          </a:solidFill>
                          <a:latin typeface="Arial" pitchFamily="34" charset="0"/>
                          <a:ea typeface="Arial" pitchFamily="34" charset="-122"/>
                          <a:cs typeface="Arial" pitchFamily="34" charset="-120"/>
                        </a:rPr>
                        <a:t>All on the bonded, over-strong wall.</a:t>
                      </a:r>
                      <a:endParaRPr lang="en-US" sz="1299" dirty="0">
                        <a:latin typeface="Arial" charset="0"/>
                        <a:ea typeface="Arial" charset="0"/>
                        <a:cs typeface="Arial" charset="0"/>
                      </a:endParaRPr>
                    </a:p>
                  </a:txBody>
                  <a:tcPr marL="57757" marR="57757" marT="57757" marB="57757">
                    <a:lnL w="12700" cap="flat" cmpd="sng" algn="ctr">
                      <a:solidFill>
                        <a:srgbClr val="4F5B68"/>
                      </a:solidFill>
                      <a:prstDash val="solid"/>
                      <a:round/>
                      <a:headEnd type="none" w="med" len="med"/>
                      <a:tailEnd type="none" w="med" len="med"/>
                    </a:lnL>
                    <a:lnR w="12700" cap="flat" cmpd="sng" algn="ctr">
                      <a:solidFill>
                        <a:srgbClr val="4F5B68"/>
                      </a:solidFill>
                      <a:prstDash val="solid"/>
                      <a:round/>
                      <a:headEnd type="none" w="med" len="med"/>
                      <a:tailEnd type="none" w="med" len="med"/>
                    </a:lnR>
                    <a:lnT w="12700" cap="flat" cmpd="sng" algn="ctr">
                      <a:solidFill>
                        <a:srgbClr val="536170"/>
                      </a:solidFill>
                      <a:prstDash val="solid"/>
                      <a:round/>
                      <a:headEnd type="none" w="med" len="med"/>
                      <a:tailEnd type="none" w="med" len="med"/>
                    </a:lnT>
                    <a:lnB w="12700" cap="flat" cmpd="sng" algn="ctr">
                      <a:solidFill>
                        <a:srgbClr val="4F5B68"/>
                      </a:solidFill>
                      <a:prstDash val="solid"/>
                      <a:round/>
                      <a:headEnd type="none" w="med" len="med"/>
                      <a:tailEnd type="none" w="med" len="med"/>
                    </a:lnB>
                    <a:solidFill>
                      <a:srgbClr val="1F2F40"/>
                    </a:solidFill>
                  </a:tcPr>
                </a:tc>
                <a:tc>
                  <a:txBody>
                    <a:bodyPr/>
                    <a:lstStyle/>
                    <a:p>
                      <a:pPr marL="0" indent="0">
                        <a:lnSpc>
                          <a:spcPts val="1819"/>
                        </a:lnSpc>
                        <a:buNone/>
                      </a:pPr>
                      <a:r>
                        <a:rPr lang="en-US" sz="1299" dirty="0">
                          <a:solidFill>
                            <a:srgbClr val="F6F4EE"/>
                          </a:solidFill>
                          <a:latin typeface="Arial" pitchFamily="34" charset="0"/>
                          <a:ea typeface="Arial" pitchFamily="34" charset="-122"/>
                          <a:cs typeface="Arial" pitchFamily="34" charset="-120"/>
                        </a:rPr>
                        <a:t>Rewrite queued</a:t>
                      </a:r>
                      <a:endParaRPr lang="en-US" sz="1299" dirty="0">
                        <a:latin typeface="Arial" charset="0"/>
                        <a:ea typeface="Arial" charset="0"/>
                        <a:cs typeface="Arial" charset="0"/>
                      </a:endParaRPr>
                    </a:p>
                  </a:txBody>
                  <a:tcPr marL="57757" marR="57757" marT="57757" marB="57757">
                    <a:lnL w="12700" cap="flat" cmpd="sng" algn="ctr">
                      <a:solidFill>
                        <a:srgbClr val="4F5B68"/>
                      </a:solidFill>
                      <a:prstDash val="solid"/>
                      <a:round/>
                      <a:headEnd type="none" w="med" len="med"/>
                      <a:tailEnd type="none" w="med" len="med"/>
                    </a:lnL>
                    <a:lnR w="12700" cap="flat" cmpd="sng" algn="ctr">
                      <a:solidFill>
                        <a:srgbClr val="4F5B68"/>
                      </a:solidFill>
                      <a:prstDash val="solid"/>
                      <a:round/>
                      <a:headEnd type="none" w="med" len="med"/>
                      <a:tailEnd type="none" w="med" len="med"/>
                    </a:lnR>
                    <a:lnT w="12700" cap="flat" cmpd="sng" algn="ctr">
                      <a:solidFill>
                        <a:srgbClr val="536170"/>
                      </a:solidFill>
                      <a:prstDash val="solid"/>
                      <a:round/>
                      <a:headEnd type="none" w="med" len="med"/>
                      <a:tailEnd type="none" w="med" len="med"/>
                    </a:lnT>
                    <a:lnB w="12700" cap="flat" cmpd="sng" algn="ctr">
                      <a:solidFill>
                        <a:srgbClr val="4F5B68"/>
                      </a:solidFill>
                      <a:prstDash val="solid"/>
                      <a:round/>
                      <a:headEnd type="none" w="med" len="med"/>
                      <a:tailEnd type="none" w="med" len="med"/>
                    </a:lnB>
                    <a:solidFill>
                      <a:srgbClr val="1F2F40"/>
                    </a:solidFill>
                  </a:tcPr>
                </a:tc>
                <a:extLst>
                  <a:ext uri="{0D108BD9-81ED-4DB2-BD59-A6C34878D82A}">
                    <a16:rowId xmlns:a16="http://schemas.microsoft.com/office/drawing/2014/main" val="10006"/>
                  </a:ext>
                </a:extLst>
              </a:tr>
            </a:tbl>
          </a:graphicData>
        </a:graphic>
      </p:graphicFrame>
      <p:sp>
        <p:nvSpPr>
          <p:cNvPr id="6" name="Text 3"/>
          <p:cNvSpPr/>
          <p:nvPr/>
        </p:nvSpPr>
        <p:spPr>
          <a:xfrm>
            <a:off x="812765" y="6238280"/>
            <a:ext cx="11379235"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8D5"/>
                </a:solidFill>
                <a:latin typeface="Arial" pitchFamily="34" charset="0"/>
                <a:ea typeface="Arial" pitchFamily="34" charset="-122"/>
                <a:cs typeface="Arial" pitchFamily="34" charset="-120"/>
              </a:rPr>
              <a:t>Paper options unchanged: validation + experiment re-read with Moshfeghi · surrogate with regimes · limits of SDOF reasoning for a rocking wall</a:t>
            </a:r>
            <a:endParaRPr lang="en-US" sz="1200" dirty="0"/>
          </a:p>
        </p:txBody>
      </p:sp>
    </p:spTree>
  </p:cSld>
  <p:clrMapOvr>
    <a:masterClrMapping/>
  </p:clrMapOvr>
</p:sld>
</file>

<file path=ppt/theme/theme1.xml><?xml version="1.0" encoding="utf-8"?>
<a:theme xmlns:a="http://schemas.openxmlformats.org/drawingml/2006/main" name="US-1 Recalibration and Route 2 Status">
  <a:themeElements>
    <a:clrScheme name="US-1 Recalibration and Route 2 Status">
      <a:dk1>
        <a:srgbClr val="1B2A3A"/>
      </a:dk1>
      <a:lt1>
        <a:srgbClr val="F6F4EE"/>
      </a:lt1>
      <a:dk2>
        <a:srgbClr val="525D67"/>
      </a:dk2>
      <a:lt2>
        <a:srgbClr val="E0E0DC"/>
      </a:lt2>
      <a:accent1>
        <a:srgbClr val="B4491A"/>
      </a:accent1>
      <a:accent2>
        <a:srgbClr val="2F6BA6"/>
      </a:accent2>
      <a:accent3>
        <a:srgbClr val="D9A77A"/>
      </a:accent3>
      <a:accent4>
        <a:srgbClr val="C2521C"/>
      </a:accent4>
      <a:accent5>
        <a:srgbClr val="F2B36B"/>
      </a:accent5>
      <a:accent6>
        <a:srgbClr val="8FC1E3"/>
      </a:accent6>
      <a:hlink>
        <a:srgbClr val="0563C1"/>
      </a:hlink>
      <a:folHlink>
        <a:srgbClr val="954F72"/>
      </a:folHlink>
    </a:clrScheme>
    <a:fontScheme name="US-1 Recalibration and Route 2 Status">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9C75B20-42EE-4D72-ACAD-5C029607B943}">
  <we:reference id="wa200010725" version="1.0.0.1" store="en-US" storeType="OMEX"/>
  <we:alternateReferences>
    <we:reference id="wa200010725" version="1.0.0.1" store="en-US" storeType="OMEX"/>
  </we:alternateReferences>
  <we:properties>
    <we:property name="claude.fileId" value="&quot;105727c8-f27b-4ff5-8cad-3d88d84749b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89</TotalTime>
  <Words>3379</Words>
  <Application>Microsoft Office PowerPoint</Application>
  <PresentationFormat>Widescreen</PresentationFormat>
  <Paragraphs>326</Paragraphs>
  <Slides>19</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Georgia</vt:lpstr>
      <vt:lpstr>US-1 Recalibration and Route 2 Status</vt:lpstr>
      <vt:lpstr>From a questionable 29.5 kN to a capacity-adaptive surrogate</vt:lpstr>
      <vt:lpstr>A 1.3-tonne wall cannot carry 3 tonnes of base shear</vt:lpstr>
      <vt:lpstr>Two errors, pushing the same way, made 29 kN look right</vt:lpstr>
      <vt:lpstr>Geometry × overburden puts the plateau near 10 kN</vt:lpstr>
      <vt:lpstr>Three independent readings put f_t at zero in the specimen</vt:lpstr>
      <vt:lpstr>PowerPoint Presentation</vt:lpstr>
      <vt:lpstr>Same geometry, same contacts, four settings changed</vt:lpstr>
      <vt:lpstr>Gravity tilt loads everything; the masonry-only push loads the wall</vt:lpstr>
      <vt:lpstr>29 kN was the bond; 10–11 kN is the wall</vt:lpstr>
      <vt:lpstr>One rigid rotation about the base, sliding under the beam</vt:lpstr>
      <vt:lpstr>The bilinear gives T_eff = 0.73 s for every run</vt:lpstr>
      <vt:lpstr>Read the record where the wall sits on its own curve</vt:lpstr>
      <vt:lpstr>Before the run: find d*. After the run: check it.</vt:lpstr>
      <vt:lpstr>A fixed point in principle, a root scan in the driver</vt:lpstr>
      <vt:lpstr>The record’s carrier cannot deliver the target once the wall has softened</vt:lpstr>
      <vt:lpstr>Fixed-point targets on the v5 backbone, m_eff matched to T1</vt:lpstr>
      <vt:lpstr>1.5 % Maxwell, flat from 1 to 25 Hz</vt:lpstr>
      <vt:lpstr>Two sequences in 3DEC, one check built into each run</vt:lpstr>
      <vt:lpstr>What the method cannot see, and what we are waiting 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US-1 Recalibration and Route 2 Status</dc:title>
  <dc:subject/>
  <dc:creator/>
  <cp:lastModifiedBy>yopi prabowo</cp:lastModifiedBy>
  <cp:revision>2</cp:revision>
  <dcterms:created xsi:type="dcterms:W3CDTF">2026-10-20T07:19:28Z</dcterms:created>
  <dcterms:modified xsi:type="dcterms:W3CDTF">2026-10-20T08:55:57Z</dcterms:modified>
</cp:coreProperties>
</file>
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the base-shear recheck against Ihsan and Eleni’s formula, what the pushover and the mechanical hinge model now tell us, why Route 2 uses T_p and T_m, then the full 25-run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independent recheck from the raw channels reproduces Ihsan and Eleni’s formula. All plots in this meeting use it (processed set v3). Three things still to confirm with them: the slab mass, the top-beam mass and whether it is laterally restrained, and a 272-sample (1.36 s) slip between channels in US-1 run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processed test files added the table acceleration (channel 12) to the wall channels, which are already absolute, and multiplied by a factor of 2.317 whose origin we never confirmed. That reads about 35 % high: 14–16 kN instead of 10.6 kN (US-1) and 12.6 kN (US-2). This changes the earlier conclusion: the model was matching inflated test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Onur’s strip formulas, the mid-height hinge (1.51 m) zeroes at 100 mm. Taking the mechanism from the DEM and the test (hinge in the upper-floor course at 2.09 m, top pivot at the top-beam centroid, joists pinned and bearing load in the pockets) gives F0 of 9.9–11.8 kN and a displacement at 80 % of the peak of about 28 mm, right on the US-1 envelope end (27.4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deformed shape at the end of the f_t = 0 pushover in both directions, read course by course from the 3DEC save. The wall does not hinge at mid-height as the textbook mechanism assumes. The main hinge forms in the upper-floor course, at 2.05–2.11 m on the positive push and 2.11–2.17 m on the negative push, and the wall kinks a few millimetres at the lower joist, around 0.3–0.5 m, instead of pivoting cleanly at the base. That is exactly what the adjusted mechanical model takes from the DEM: hinge at 2.09 or 2.20 m and a lower pivot between the base and 0.30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peak, but the DEM softens far more slowly: at 80 mm it is still 1.6–1.7 kN above the adjusted rigid line, and it reaches 80 % of the peak at about 57 mm against 27 mm in the test. The next slides find where that extra force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mechanism directly we unbonded only the three hinge joints and kept the characterisation strengths everywhere else. The DEM then forms exactly the rigid model’s three hinges and nothing else opens, yet it still carries 2–5 kN more than the rigid model at the same displacement. So the gap is not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balance at 80 mm: the forced-hinge push does 420 J of work, 268 J goes into lifting the wall and the springs, 152 J is dissipated. With all joints at f_t = 0 the dissipated part is 80 J. The hinges have identical properties in both models and barely slip, so they cannot explain the doubling; the lower pocket’s normal force does double (24 to 44 kN), and 0.73 × 44 kN × 4 mm of joist slip is about 130 J. The force is so large because the rigid joist block attracts about 75 % of the wall’s vertical load at that level. A frictionless-pocket run is going now as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right in spirit: the period should come from the record, not from the wall. The problem is HU12: its T_p of 0.121 s is a third of T_eff. A one-cycle sine that short only pushes a long-period oscillator through its ground displacement, so the acceleration needed grows as Sd over T_p squared: 3.6 times the record PGA, 2.85 g at run 21. And because 0.121 s sits right next to T1, the same wave drives Sd(T1) to five times its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T_m is a standard, wall-independent measure of a record’s frequency content, and it lies much closer to T_eff than T_p does. Both periods still come from the record, as Ihsan wanted, but they give two different spectral shapes, so wave A can hit Sd(T1) and wave B Sd(T_eff) independently. In the preflight, all-T_m collapses to one wave on 8 runs, all-T_p is infeasible on 21, and T_p plus T_m meets both targets on all 25 runs. FLAG LEGEND (preflight check on the designed table signal, before 3DEC; a flag says the input is a problem, not the model): pga = signal PGA above the allowed multiple of the scaled record PGA. table = signal PGA above what the shake table reached (about 0.78 g). leakA = wave B alone already overshoots the Sd(T1) target, so the run collapses to wave B. leakB = wave A alone already overshoots the Sd(T_eff) target, so the run collapses to wave A. (T_m, T_m), 8 runs, leakB: both cycles at one period give one spectral shape, so Sd(T_eff)/Sd(T1) is fixed by T_m; a cycle sized for Sd(T1) overshoots Sd(T_eff) by 14 % (HU12), 33 % (FR76), 76 % (EC40). (T_p, T_p), 21 runs, pga / table / leakA: HU12 T_p 0.121 s is a third of T_eff, so the needed acceleration grows as Sd/T_p^2 (3.6x record PGA, 2.85 g at run 21); and 0.121 s sits next to T1, so Sd(T1) overshoots 4-5x. (T_p, T_m), 0 runs: two periods, two spectral shapes, both targets met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reading the response: the input is what we designed. Achieved table PGA equals the designed signal, and the spectral targets at T1 and T_eff are met within half a percent on every run. On the HU12 runs the surrogate even needs less PGA than the scaled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F, the record on the model, follows US-1 closely up to run 21. Route 2 runs about twice the test from run 13 to 21. In the FR76 sequence both models overshoot: at run 24 both reach about 45 mm against 29 mm in US-1.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shows the initial stiffness agrees. From run 15 on, Route 2’s loops are much wider and longer than the tests; Strategy F stays close to the test loops until the FR76 runs, where it also runs out to large displacements on the negative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corrected test basis, both models carry more base shear than the specimens: Strategy F by roughly 1.2 times, Route 2 by up to 1.6 times in run 23. This is the same excess force the pushover shows, which points back at the joist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does what it is asked: once the wall rocks, its peak follows the Sd(T_eff) target within a factor of two. Below about 5 mm the wall is still elastic and T_eff is not the governing period, so it falls short of the line. The overshoot against the tests therefore comes from the target itself, set from the f_t = 0 pushover. The restart uses T1 0.089 s and T_eff 0.36 s from the mechanical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decisions to take from today: adopt the group’s base-shear formula, keep the T_p plus T_m surrogate and rerun it with the targets from the mechanical model, and fix the joist-pocket representation, which is where the extra force and dissipation come from. Measured small-amplitude damping is 0.9 % (ring-down) to 1.7 % (half-power), which supports the 1.5 % Maxwell damping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086093"/>
            <a:ext cx="10566466" cy="447022"/>
          </a:xfrm>
          <a:prstGeom prst="rect">
            <a:avLst/>
          </a:prstGeom>
          <a:noFill/>
          <a:ln/>
        </p:spPr>
        <p:txBody>
          <a:bodyPr wrap="square" lIns="0" tIns="0" rIns="0" bIns="0" rtlCol="0" anchor="t"/>
          <a:lstStyle>
            <a:lvl1pPr algn="l" indent="0" marL="0">
              <a:lnSpc>
                <a:spcPct val="115000"/>
              </a:lnSpc>
              <a:buNone/>
              <a:defRPr lang="en-US" sz="3120" dirty="0">
                <a:solidFill>
                  <a:srgbClr val="1C2733"/>
                </a:solidFill>
                <a:latin typeface="Georgia" pitchFamily="34" charset="0"/>
                <a:ea typeface="Georgia" pitchFamily="34" charset="-122"/>
                <a:cs typeface="Georgia" pitchFamily="34" charset="-120"/>
              </a:defRPr>
            </a:lvl1pPr>
          </a:lstStyle>
          <a:p>
            <a:pPr algn="l" indent="0" marL="0">
              <a:lnSpc>
                <a:spcPct val="115000"/>
              </a:lnSpc>
              <a:buNone/>
            </a:pPr>
            <a:endParaRPr lang="en-US" sz="3120" dirty="0"/>
          </a:p>
        </p:txBody>
      </p:sp>
      <p:sp>
        <p:nvSpPr>
          <p:cNvPr id="3" name="Text Placeholder 2"/>
          <p:cNvSpPr/>
          <p:nvPr>
            <p:ph idx="101" type="body"/>
          </p:nvPr>
        </p:nvSpPr>
        <p:spPr>
          <a:xfrm>
            <a:off x="812767" y="1837915"/>
            <a:ext cx="10566433" cy="4207285"/>
          </a:xfrm>
          <a:prstGeom prst="rect">
            <a:avLst/>
          </a:prstGeom>
          <a:noFill/>
          <a:ln/>
        </p:spPr>
        <p:txBody>
          <a:bodyPr wrap="square" lIns="0" tIns="0" rIns="0" bIns="0" rtlCol="0" anchor="t"/>
          <a:lstStyle>
            <a:lvl1pPr algn="l" indent="0" marL="0">
              <a:lnSpc>
                <a:spcPct val="140000"/>
              </a:lnSpc>
              <a:buNone/>
              <a:defRPr lang="en-US" sz="1600" dirty="0">
                <a:solidFill>
                  <a:srgbClr val="1C27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086093"/>
            <a:ext cx="10566466" cy="447022"/>
          </a:xfrm>
          <a:prstGeom prst="rect">
            <a:avLst/>
          </a:prstGeom>
          <a:noFill/>
          <a:ln/>
        </p:spPr>
        <p:txBody>
          <a:bodyPr wrap="square" lIns="0" tIns="0" rIns="0" bIns="0" rtlCol="0" anchor="t"/>
          <a:lstStyle>
            <a:lvl1pPr algn="l" indent="0" marL="0">
              <a:lnSpc>
                <a:spcPct val="115000"/>
              </a:lnSpc>
              <a:buNone/>
              <a:defRPr lang="en-US" sz="3120" dirty="0">
                <a:solidFill>
                  <a:srgbClr val="1C2733"/>
                </a:solidFill>
                <a:latin typeface="Georgia" pitchFamily="34" charset="0"/>
                <a:ea typeface="Georgia" pitchFamily="34" charset="-122"/>
                <a:cs typeface="Georgia" pitchFamily="34" charset="-120"/>
              </a:defRPr>
            </a:lvl1pPr>
          </a:lstStyle>
          <a:p>
            <a:pPr algn="l" indent="0" marL="0">
              <a:lnSpc>
                <a:spcPct val="115000"/>
              </a:lnSpc>
              <a:buNone/>
            </a:pPr>
            <a:endParaRPr lang="en-US" sz="3120" dirty="0"/>
          </a:p>
        </p:txBody>
      </p:sp>
      <p:sp>
        <p:nvSpPr>
          <p:cNvPr id="3" name="Text Placeholder 2"/>
          <p:cNvSpPr/>
          <p:nvPr>
            <p:ph idx="101" type="body"/>
          </p:nvPr>
        </p:nvSpPr>
        <p:spPr>
          <a:xfrm>
            <a:off x="812767" y="1837915"/>
            <a:ext cx="10566433" cy="4207285"/>
          </a:xfrm>
          <a:prstGeom prst="rect">
            <a:avLst/>
          </a:prstGeom>
          <a:noFill/>
          <a:ln/>
        </p:spPr>
        <p:txBody>
          <a:bodyPr wrap="square" lIns="0" tIns="0" rIns="0" bIns="0" rtlCol="0" anchor="t"/>
          <a:lstStyle>
            <a:lvl1pPr algn="l" indent="0" marL="0">
              <a:lnSpc>
                <a:spcPct val="140000"/>
              </a:lnSpc>
              <a:buNone/>
              <a:defRPr lang="en-US" sz="1600" dirty="0">
                <a:solidFill>
                  <a:srgbClr val="1C27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733"/>
        </a:solidFill>
      </p:bgPr>
    </p:bg>
    <p:spTree>
      <p:nvGrpSpPr>
        <p:cNvPr id="1" name=""/>
        <p:cNvGrpSpPr/>
        <p:nvPr/>
      </p:nvGrpSpPr>
      <p:grpSpPr>
        <a:xfrm>
          <a:off x="0" y="0"/>
          <a:ext cx="0" cy="0"/>
          <a:chOff x="0" y="0"/>
          <a:chExt cx="0" cy="0"/>
        </a:xfrm>
      </p:grpSpPr>
      <p:sp>
        <p:nvSpPr>
          <p:cNvPr id="2" name="Text 0"/>
          <p:cNvSpPr/>
          <p:nvPr/>
        </p:nvSpPr>
        <p:spPr>
          <a:xfrm>
            <a:off x="812767" y="812767"/>
            <a:ext cx="10883460" cy="274315"/>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8A06A"/>
                </a:solidFill>
                <a:latin typeface="Arial" pitchFamily="34" charset="0"/>
                <a:ea typeface="Arial" pitchFamily="34" charset="-122"/>
                <a:cs typeface="Arial" pitchFamily="34" charset="-120"/>
              </a:rPr>
              <a:t>HANZE SAFEGO · US-1 / US-2 OUT-OF-PLANE TESTS IN 3DEC</a:t>
            </a:r>
            <a:endParaRPr lang="en-US" sz="1400" dirty="0"/>
          </a:p>
        </p:txBody>
      </p:sp>
      <p:sp>
        <p:nvSpPr>
          <p:cNvPr id="3" name="Text 1"/>
          <p:cNvSpPr/>
          <p:nvPr>
            <p:ph type="title"/>
          </p:nvPr>
        </p:nvSpPr>
        <p:spPr>
          <a:xfrm>
            <a:off x="812767" y="2367318"/>
            <a:ext cx="10883460" cy="162555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Georgia" pitchFamily="18" charset="0"/>
                <a:ea typeface="Georgia" pitchFamily="18" charset="-122"/>
                <a:cs typeface="Georgia" pitchFamily="18" charset="-120"/>
              </a:rPr>
              <a:t>Progress Meeting</a:t>
            </a:r>
            <a:endParaRPr lang="en-US" sz="6000" dirty="0"/>
          </a:p>
          <a:p>
            <a:pPr algn="l" indent="0" marL="0">
              <a:lnSpc>
                <a:spcPts val="6300"/>
              </a:lnSpc>
              <a:buNone/>
            </a:pPr>
            <a:r>
              <a:rPr lang="en-US" sz="6000" b="1" i="0" dirty="0">
                <a:solidFill>
                  <a:srgbClr val="F6F5F1"/>
                </a:solidFill>
                <a:latin typeface="Georgia" pitchFamily="18" charset="0"/>
                <a:ea typeface="Georgia" pitchFamily="18" charset="-122"/>
                <a:cs typeface="Georgia" pitchFamily="18" charset="-120"/>
              </a:rPr>
              <a:t>27-10-2026</a:t>
            </a:r>
            <a:endParaRPr lang="en-US" sz="6000" dirty="0"/>
          </a:p>
        </p:txBody>
      </p:sp>
      <p:sp>
        <p:nvSpPr>
          <p:cNvPr id="4" name="Text 2"/>
          <p:cNvSpPr/>
          <p:nvPr/>
        </p:nvSpPr>
        <p:spPr>
          <a:xfrm>
            <a:off x="812767" y="4170660"/>
            <a:ext cx="10883460" cy="34546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C"/>
                </a:solidFill>
                <a:latin typeface="Arial" pitchFamily="34" charset="0"/>
                <a:ea typeface="Arial" pitchFamily="34" charset="-122"/>
                <a:cs typeface="Arial" pitchFamily="34" charset="-120"/>
              </a:rPr>
              <a:t>Base shear · Pushover and hinge mechanism · Route 2 periods · Results</a:t>
            </a:r>
            <a:endParaRPr lang="en-US" sz="1800" dirty="0"/>
          </a:p>
        </p:txBody>
      </p:sp>
      <p:sp>
        <p:nvSpPr>
          <p:cNvPr id="5" name="Text 3"/>
          <p:cNvSpPr/>
          <p:nvPr/>
        </p:nvSpPr>
        <p:spPr>
          <a:xfrm>
            <a:off x="812767" y="5796318"/>
            <a:ext cx="1088346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Yopi Oktiovan · with Ihsan and Eleni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1 · BASE SHEAR</a:t>
            </a:r>
            <a:endParaRPr lang="en-US" sz="1200" dirty="0"/>
          </a:p>
        </p:txBody>
      </p:sp>
      <p:sp>
        <p:nvSpPr>
          <p:cNvPr id="3" name="Text 1"/>
          <p:cNvSpPr/>
          <p:nvPr>
            <p:ph type="title"/>
          </p:nvPr>
        </p:nvSpPr>
        <p:spPr>
          <a:xfrm>
            <a:off x="812767" y="1102278"/>
            <a:ext cx="10883460"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The group’s formula, rechecked: it holds</a:t>
            </a:r>
            <a:endParaRPr lang="en-US" sz="3200" dirty="0"/>
          </a:p>
        </p:txBody>
      </p:sp>
      <p:sp>
        <p:nvSpPr>
          <p:cNvPr id="4" name="Shape 2"/>
          <p:cNvSpPr/>
          <p:nvPr/>
        </p:nvSpPr>
        <p:spPr>
          <a:xfrm>
            <a:off x="815942" y="1908051"/>
            <a:ext cx="6063357" cy="3930774"/>
          </a:xfrm>
          <a:prstGeom prst="roundRect">
            <a:avLst>
              <a:gd name="adj" fmla="val 2504"/>
            </a:avLst>
          </a:prstGeom>
          <a:solidFill>
            <a:srgbClr val="FFFFFF"/>
          </a:solidFill>
          <a:ln w="6350">
            <a:solidFill>
              <a:srgbClr val="DCDDD8"/>
            </a:solidFill>
            <a:prstDash val="solid"/>
          </a:ln>
        </p:spPr>
      </p:sp>
      <p:sp>
        <p:nvSpPr>
          <p:cNvPr id="5" name="Text 3"/>
          <p:cNvSpPr/>
          <p:nvPr/>
        </p:nvSpPr>
        <p:spPr>
          <a:xfrm>
            <a:off x="1122825" y="2214935"/>
            <a:ext cx="5613078" cy="787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1C2733"/>
                </a:solidFill>
                <a:latin typeface="Arial" pitchFamily="34" charset="0"/>
                <a:ea typeface="Arial" pitchFamily="34" charset="-122"/>
                <a:cs typeface="Arial" pitchFamily="34" charset="-120"/>
              </a:rPr>
              <a:t>V = g · 165 kg · (a13 + a14)</a:t>
            </a:r>
            <a:endParaRPr lang="en-US" sz="2000" dirty="0"/>
          </a:p>
          <a:p>
            <a:pPr algn="l" indent="0" marL="0">
              <a:lnSpc>
                <a:spcPts val="3000"/>
              </a:lnSpc>
              <a:buNone/>
            </a:pPr>
            <a:r>
              <a:rPr lang="en-US" sz="2000" dirty="0">
                <a:solidFill>
                  <a:srgbClr val="1C2733"/>
                </a:solidFill>
                <a:latin typeface="Arial" pitchFamily="34" charset="0"/>
                <a:ea typeface="Arial" pitchFamily="34" charset="-122"/>
                <a:cs typeface="Arial" pitchFamily="34" charset="-120"/>
              </a:rPr>
              <a:t>   + 12.94 kN · (f15a15 + f16a16 + f17a17)</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33409" y="3165285"/>
          <a:ext cx="5439006" cy="1535741"/>
        </p:xfrm>
        <a:graphic>
          <a:graphicData uri="http://schemas.openxmlformats.org/drawingml/2006/table">
            <a:tbl>
              <a:tblPr/>
              <a:tblGrid>
                <a:gridCol w="2175603"/>
                <a:gridCol w="1631702"/>
                <a:gridCol w="1631702"/>
              </a:tblGrid>
              <a:tr h="383935">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Sensor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Height</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Mass</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a15</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0.66 m</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491 kg</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a16</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1.26 m</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358 kg</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a17</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2.06 m</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470 kg</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1122825" y="4878792"/>
            <a:ext cx="56130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Slabs a13/a14 at 165 kg each · wall split by sensor height (Test_Info F16–F18) · no top beam</a:t>
            </a:r>
            <a:endParaRPr lang="en-US" sz="1200" dirty="0"/>
          </a:p>
        </p:txBody>
      </p:sp>
      <p:sp>
        <p:nvSpPr>
          <p:cNvPr id="8" name="Shape 5"/>
          <p:cNvSpPr/>
          <p:nvPr/>
        </p:nvSpPr>
        <p:spPr>
          <a:xfrm>
            <a:off x="7187240" y="1904876"/>
            <a:ext cx="4191992" cy="1655961"/>
          </a:xfrm>
          <a:prstGeom prst="roundRect">
            <a:avLst>
              <a:gd name="adj" fmla="val 6135"/>
            </a:avLst>
          </a:prstGeom>
          <a:solidFill>
            <a:srgbClr val="1C2733"/>
          </a:solidFill>
          <a:ln/>
        </p:spPr>
      </p:sp>
      <p:sp>
        <p:nvSpPr>
          <p:cNvPr id="9" name="Text 6"/>
          <p:cNvSpPr/>
          <p:nvPr/>
        </p:nvSpPr>
        <p:spPr>
          <a:xfrm>
            <a:off x="7441240" y="2158876"/>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US-1 peak</a:t>
            </a:r>
            <a:endParaRPr lang="en-US" sz="1200" dirty="0"/>
          </a:p>
        </p:txBody>
      </p:sp>
      <p:sp>
        <p:nvSpPr>
          <p:cNvPr id="10" name="Text 7"/>
          <p:cNvSpPr/>
          <p:nvPr/>
        </p:nvSpPr>
        <p:spPr>
          <a:xfrm>
            <a:off x="7441240" y="2397579"/>
            <a:ext cx="3794512" cy="695953"/>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5F1"/>
                </a:solidFill>
                <a:latin typeface="Georgia" pitchFamily="18" charset="0"/>
                <a:ea typeface="Georgia" pitchFamily="18" charset="-122"/>
                <a:cs typeface="Georgia" pitchFamily="18" charset="-120"/>
              </a:rPr>
              <a:t>10.6 kN</a:t>
            </a:r>
            <a:endParaRPr lang="en-US" sz="4800" dirty="0"/>
          </a:p>
        </p:txBody>
      </p:sp>
      <p:sp>
        <p:nvSpPr>
          <p:cNvPr id="11" name="Text 8"/>
          <p:cNvSpPr/>
          <p:nvPr/>
        </p:nvSpPr>
        <p:spPr>
          <a:xfrm>
            <a:off x="7441240" y="3093517"/>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wall only 8.7 kN</a:t>
            </a:r>
            <a:endParaRPr lang="en-US" sz="1200" dirty="0"/>
          </a:p>
        </p:txBody>
      </p:sp>
      <p:sp>
        <p:nvSpPr>
          <p:cNvPr id="12" name="Shape 9"/>
          <p:cNvSpPr/>
          <p:nvPr/>
        </p:nvSpPr>
        <p:spPr>
          <a:xfrm>
            <a:off x="7187240" y="3764028"/>
            <a:ext cx="4191992" cy="1655961"/>
          </a:xfrm>
          <a:prstGeom prst="roundRect">
            <a:avLst>
              <a:gd name="adj" fmla="val 6135"/>
            </a:avLst>
          </a:prstGeom>
          <a:solidFill>
            <a:srgbClr val="2A5D8F"/>
          </a:solidFill>
          <a:ln/>
        </p:spPr>
      </p:sp>
      <p:sp>
        <p:nvSpPr>
          <p:cNvPr id="13" name="Text 10"/>
          <p:cNvSpPr/>
          <p:nvPr/>
        </p:nvSpPr>
        <p:spPr>
          <a:xfrm>
            <a:off x="7441240" y="4018028"/>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7F1"/>
                </a:solidFill>
                <a:latin typeface="Arial" pitchFamily="34" charset="0"/>
                <a:ea typeface="Arial" pitchFamily="34" charset="-122"/>
                <a:cs typeface="Arial" pitchFamily="34" charset="-120"/>
              </a:rPr>
              <a:t>US-2 peak</a:t>
            </a:r>
            <a:endParaRPr lang="en-US" sz="1200" dirty="0"/>
          </a:p>
        </p:txBody>
      </p:sp>
      <p:sp>
        <p:nvSpPr>
          <p:cNvPr id="14" name="Text 11"/>
          <p:cNvSpPr/>
          <p:nvPr/>
        </p:nvSpPr>
        <p:spPr>
          <a:xfrm>
            <a:off x="7441240" y="4256732"/>
            <a:ext cx="3794512" cy="695953"/>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5F1"/>
                </a:solidFill>
                <a:latin typeface="Georgia" pitchFamily="18" charset="0"/>
                <a:ea typeface="Georgia" pitchFamily="18" charset="-122"/>
                <a:cs typeface="Georgia" pitchFamily="18" charset="-120"/>
              </a:rPr>
              <a:t>12.6 kN</a:t>
            </a:r>
            <a:endParaRPr lang="en-US" sz="4800" dirty="0"/>
          </a:p>
        </p:txBody>
      </p:sp>
      <p:sp>
        <p:nvSpPr>
          <p:cNvPr id="15" name="Text 12"/>
          <p:cNvSpPr/>
          <p:nvPr/>
        </p:nvSpPr>
        <p:spPr>
          <a:xfrm>
            <a:off x="7441240" y="4952669"/>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7F1"/>
                </a:solidFill>
                <a:latin typeface="Arial" pitchFamily="34" charset="0"/>
                <a:ea typeface="Arial" pitchFamily="34" charset="-122"/>
                <a:cs typeface="Arial" pitchFamily="34" charset="-120"/>
              </a:rPr>
              <a:t>wall only 10.7 kN</a:t>
            </a:r>
            <a:endParaRPr lang="en-US" sz="1200" dirty="0"/>
          </a:p>
        </p:txBody>
      </p:sp>
      <p:sp>
        <p:nvSpPr>
          <p:cNvPr id="16" name="Text 13"/>
          <p:cNvSpPr/>
          <p:nvPr/>
        </p:nvSpPr>
        <p:spPr>
          <a:xfrm>
            <a:off x="812767" y="6238295"/>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To confirm: slab mass 165 vs 120 kg · top beam 61.4 vs 151.4 kg (and its lateral restraint) · US-1 run 18 channel slip of 1.36 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1 · BASE SHEAR</a:t>
            </a:r>
            <a:endParaRPr lang="en-US" sz="1200" dirty="0"/>
          </a:p>
        </p:txBody>
      </p:sp>
      <p:sp>
        <p:nvSpPr>
          <p:cNvPr id="3" name="Text 1"/>
          <p:cNvSpPr/>
          <p:nvPr>
            <p:ph type="title"/>
          </p:nvPr>
        </p:nvSpPr>
        <p:spPr>
          <a:xfrm>
            <a:off x="812767" y="1102278"/>
            <a:ext cx="10883460" cy="91944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The earlier processed files (Alvand) read about 35 % high</a:t>
            </a:r>
            <a:endParaRPr lang="en-US" sz="3200" dirty="0"/>
          </a:p>
        </p:txBody>
      </p:sp>
      <p:sp>
        <p:nvSpPr>
          <p:cNvPr id="4" name="Shape 2"/>
          <p:cNvSpPr/>
          <p:nvPr/>
        </p:nvSpPr>
        <p:spPr>
          <a:xfrm>
            <a:off x="815942" y="2355072"/>
            <a:ext cx="5129791" cy="3483752"/>
          </a:xfrm>
          <a:prstGeom prst="roundRect">
            <a:avLst>
              <a:gd name="adj" fmla="val 2825"/>
            </a:avLst>
          </a:prstGeom>
          <a:solidFill>
            <a:srgbClr val="FFFFFF"/>
          </a:solidFill>
          <a:ln w="6350">
            <a:solidFill>
              <a:srgbClr val="DCDDD8"/>
            </a:solidFill>
            <a:prstDash val="solid"/>
          </a:ln>
        </p:spPr>
      </p:sp>
      <p:sp>
        <p:nvSpPr>
          <p:cNvPr id="5" name="Text 3"/>
          <p:cNvSpPr/>
          <p:nvPr/>
        </p:nvSpPr>
        <p:spPr>
          <a:xfrm>
            <a:off x="1122825" y="2661955"/>
            <a:ext cx="4651505" cy="25596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5A6672"/>
                </a:solidFill>
                <a:latin typeface="Arial" pitchFamily="34" charset="0"/>
                <a:ea typeface="Arial" pitchFamily="34" charset="-122"/>
                <a:cs typeface="Arial" pitchFamily="34" charset="-120"/>
              </a:rPr>
              <a:t>Earlier processed files</a:t>
            </a:r>
            <a:endParaRPr lang="en-US" sz="1299" dirty="0"/>
          </a:p>
        </p:txBody>
      </p:sp>
      <p:sp>
        <p:nvSpPr>
          <p:cNvPr id="6" name="Text 4"/>
          <p:cNvSpPr/>
          <p:nvPr/>
        </p:nvSpPr>
        <p:spPr>
          <a:xfrm>
            <a:off x="1122825" y="3044899"/>
            <a:ext cx="4651505" cy="343024"/>
          </a:xfrm>
          <a:prstGeom prst="rect">
            <a:avLst/>
          </a:prstGeom>
          <a:noFill/>
          <a:ln/>
        </p:spPr>
        <p:txBody>
          <a:bodyPr wrap="square" lIns="0" tIns="0" rIns="0" bIns="0" rtlCol="0" anchor="t">
            <a:normAutofit/>
          </a:bodyPr>
          <a:lstStyle/>
          <a:p>
            <a:pPr algn="l" indent="0" marL="0">
              <a:lnSpc>
                <a:spcPts val="2523"/>
              </a:lnSpc>
              <a:buNone/>
            </a:pPr>
            <a:r>
              <a:rPr lang="en-US" sz="1682" dirty="0">
                <a:solidFill>
                  <a:srgbClr val="1C2733"/>
                </a:solidFill>
                <a:latin typeface="Arial" pitchFamily="34" charset="0"/>
                <a:ea typeface="Arial" pitchFamily="34" charset="-122"/>
                <a:cs typeface="Arial" pitchFamily="34" charset="-120"/>
              </a:rPr>
              <a:t>V = λ · Σ mj (aj + a12)</a:t>
            </a:r>
            <a:endParaRPr lang="en-US" sz="1682" dirty="0"/>
          </a:p>
        </p:txBody>
      </p:sp>
      <p:sp>
        <p:nvSpPr>
          <p:cNvPr id="7" name="Text 5"/>
          <p:cNvSpPr/>
          <p:nvPr/>
        </p:nvSpPr>
        <p:spPr>
          <a:xfrm>
            <a:off x="1122825" y="3514906"/>
            <a:ext cx="4651505" cy="766523"/>
          </a:xfrm>
          <a:prstGeom prst="rect">
            <a:avLst/>
          </a:prstGeom>
          <a:noFill/>
          <a:ln/>
        </p:spPr>
        <p:txBody>
          <a:bodyPr wrap="square" lIns="0" tIns="0" rIns="0" bIns="0" rtlCol="0" anchor="t">
            <a:normAutofit/>
          </a:bodyPr>
          <a:lstStyle/>
          <a:p>
            <a:pPr algn="l" indent="0" marL="0">
              <a:lnSpc>
                <a:spcPts val="1956"/>
              </a:lnSpc>
              <a:buNone/>
            </a:pPr>
            <a:r>
              <a:rPr lang="en-US" sz="1304" dirty="0">
                <a:solidFill>
                  <a:srgbClr val="3A4651"/>
                </a:solidFill>
                <a:latin typeface="Arial" pitchFamily="34" charset="0"/>
                <a:ea typeface="Arial" pitchFamily="34" charset="-122"/>
                <a:cs typeface="Arial" pitchFamily="34" charset="-120"/>
              </a:rPr>
              <a:t>λ = 2.317 (origin unknown) · masses from ρ = 1619 kg/m³ · table acceleration a12 added to channels that are already absolute</a:t>
            </a:r>
            <a:endParaRPr lang="en-US" sz="1304" dirty="0"/>
          </a:p>
        </p:txBody>
      </p:sp>
      <p:sp>
        <p:nvSpPr>
          <p:cNvPr id="8" name="Text 6"/>
          <p:cNvSpPr/>
          <p:nvPr/>
        </p:nvSpPr>
        <p:spPr>
          <a:xfrm>
            <a:off x="1122825" y="4560796"/>
            <a:ext cx="4651505" cy="646551"/>
          </a:xfrm>
          <a:prstGeom prst="rect">
            <a:avLst/>
          </a:prstGeom>
          <a:noFill/>
          <a:ln/>
        </p:spPr>
        <p:txBody>
          <a:bodyPr wrap="square" lIns="0" tIns="0" rIns="0" bIns="0" rtlCol="0" anchor="t">
            <a:normAutofit/>
          </a:bodyPr>
          <a:lstStyle/>
          <a:p>
            <a:pPr algn="l" indent="0" marL="0">
              <a:lnSpc>
                <a:spcPts val="4917"/>
              </a:lnSpc>
              <a:buNone/>
            </a:pPr>
            <a:r>
              <a:rPr lang="en-US" sz="4470" b="1" dirty="0">
                <a:solidFill>
                  <a:srgbClr val="B5571A"/>
                </a:solidFill>
                <a:latin typeface="Georgia" pitchFamily="18" charset="0"/>
                <a:ea typeface="Georgia" pitchFamily="18" charset="-122"/>
                <a:cs typeface="Georgia" pitchFamily="18" charset="-120"/>
              </a:rPr>
              <a:t>14–16 kN</a:t>
            </a:r>
            <a:endParaRPr lang="en-US" sz="4470" dirty="0"/>
          </a:p>
        </p:txBody>
      </p:sp>
      <p:sp>
        <p:nvSpPr>
          <p:cNvPr id="9" name="Text 7"/>
          <p:cNvSpPr/>
          <p:nvPr/>
        </p:nvSpPr>
        <p:spPr>
          <a:xfrm>
            <a:off x="1122825" y="5334330"/>
            <a:ext cx="4651505" cy="223011"/>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5A6672"/>
                </a:solidFill>
                <a:latin typeface="Arial" pitchFamily="34" charset="0"/>
                <a:ea typeface="Arial" pitchFamily="34" charset="-122"/>
                <a:cs typeface="Arial" pitchFamily="34" charset="-120"/>
              </a:rPr>
              <a:t>test peaks used until 5 October</a:t>
            </a:r>
            <a:endParaRPr lang="en-US" sz="1125" dirty="0"/>
          </a:p>
        </p:txBody>
      </p:sp>
      <p:sp>
        <p:nvSpPr>
          <p:cNvPr id="10" name="Shape 8"/>
          <p:cNvSpPr/>
          <p:nvPr/>
        </p:nvSpPr>
        <p:spPr>
          <a:xfrm>
            <a:off x="6253675" y="2351897"/>
            <a:ext cx="5125558" cy="3490102"/>
          </a:xfrm>
          <a:prstGeom prst="roundRect">
            <a:avLst>
              <a:gd name="adj" fmla="val 2911"/>
            </a:avLst>
          </a:prstGeom>
          <a:solidFill>
            <a:srgbClr val="1C2733"/>
          </a:solidFill>
          <a:ln/>
        </p:spPr>
      </p:sp>
      <p:sp>
        <p:nvSpPr>
          <p:cNvPr id="11" name="Text 9"/>
          <p:cNvSpPr/>
          <p:nvPr/>
        </p:nvSpPr>
        <p:spPr>
          <a:xfrm>
            <a:off x="6558442" y="2656664"/>
            <a:ext cx="465150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Group formula (v3)</a:t>
            </a:r>
            <a:endParaRPr lang="en-US" sz="1400" dirty="0"/>
          </a:p>
        </p:txBody>
      </p:sp>
      <p:sp>
        <p:nvSpPr>
          <p:cNvPr id="12" name="Text 10"/>
          <p:cNvSpPr/>
          <p:nvPr/>
        </p:nvSpPr>
        <p:spPr>
          <a:xfrm>
            <a:off x="6558442" y="3057962"/>
            <a:ext cx="4651505" cy="368325"/>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F6F5F1"/>
                </a:solidFill>
                <a:latin typeface="Arial" pitchFamily="34" charset="0"/>
                <a:ea typeface="Arial" pitchFamily="34" charset="-122"/>
                <a:cs typeface="Arial" pitchFamily="34" charset="-120"/>
              </a:rPr>
              <a:t>V = Σ mj aj on absolute channels</a:t>
            </a:r>
            <a:endParaRPr lang="en-US" sz="1800" dirty="0"/>
          </a:p>
        </p:txBody>
      </p:sp>
      <p:sp>
        <p:nvSpPr>
          <p:cNvPr id="13" name="Text 11"/>
          <p:cNvSpPr/>
          <p:nvPr/>
        </p:nvSpPr>
        <p:spPr>
          <a:xfrm>
            <a:off x="6558442" y="3553271"/>
            <a:ext cx="4651505" cy="55878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3DC"/>
                </a:solidFill>
                <a:latin typeface="Arial" pitchFamily="34" charset="0"/>
                <a:ea typeface="Arial" pitchFamily="34" charset="-122"/>
                <a:cs typeface="Arial" pitchFamily="34" charset="-120"/>
              </a:rPr>
              <a:t>masses from the weighed wall and slabs · no double-counted table motion · no factor</a:t>
            </a:r>
            <a:endParaRPr lang="en-US" sz="1400" dirty="0"/>
          </a:p>
        </p:txBody>
      </p:sp>
      <p:sp>
        <p:nvSpPr>
          <p:cNvPr id="14" name="Text 12"/>
          <p:cNvSpPr/>
          <p:nvPr/>
        </p:nvSpPr>
        <p:spPr>
          <a:xfrm>
            <a:off x="6558442" y="4500975"/>
            <a:ext cx="4651505" cy="695953"/>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5F1"/>
                </a:solidFill>
                <a:latin typeface="Georgia" pitchFamily="18" charset="0"/>
                <a:ea typeface="Georgia" pitchFamily="18" charset="-122"/>
                <a:cs typeface="Georgia" pitchFamily="18" charset="-120"/>
              </a:rPr>
              <a:t>10.6 / 12.6 kN</a:t>
            </a:r>
            <a:endParaRPr lang="en-US" sz="4800" dirty="0"/>
          </a:p>
        </p:txBody>
      </p:sp>
      <p:sp>
        <p:nvSpPr>
          <p:cNvPr id="15" name="Text 13"/>
          <p:cNvSpPr/>
          <p:nvPr/>
        </p:nvSpPr>
        <p:spPr>
          <a:xfrm>
            <a:off x="6558442" y="5323912"/>
            <a:ext cx="46515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US-1 / US-2 peaks</a:t>
            </a:r>
            <a:endParaRPr lang="en-US" sz="1200" dirty="0"/>
          </a:p>
        </p:txBody>
      </p:sp>
      <p:sp>
        <p:nvSpPr>
          <p:cNvPr id="16" name="Text 14"/>
          <p:cNvSpPr/>
          <p:nvPr/>
        </p:nvSpPr>
        <p:spPr>
          <a:xfrm>
            <a:off x="812767" y="6238295"/>
            <a:ext cx="11379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Consequence: the model’s base shear was judged against tests that were too high; on the corrected basis the model sits above the tests (results section)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6"/>
            <a:ext cx="10883460" cy="202588"/>
          </a:xfrm>
          <a:prstGeom prst="rect">
            <a:avLst/>
          </a:prstGeom>
          <a:noFill/>
          <a:ln/>
        </p:spPr>
        <p:txBody>
          <a:bodyPr wrap="square" lIns="0" tIns="0" rIns="0" bIns="0" rtlCol="0" anchor="t">
            <a:normAutofit/>
          </a:bodyPr>
          <a:lstStyle/>
          <a:p>
            <a:pPr algn="l" indent="0" marL="0">
              <a:lnSpc>
                <a:spcPts val="1423"/>
              </a:lnSpc>
              <a:buNone/>
            </a:pPr>
            <a:r>
              <a:rPr lang="en-US" sz="1016" spc="100" kern="0" dirty="0">
                <a:solidFill>
                  <a:srgbClr val="B5571A"/>
                </a:solidFill>
                <a:latin typeface="Arial" pitchFamily="34" charset="0"/>
                <a:ea typeface="Arial" pitchFamily="34" charset="-122"/>
                <a:cs typeface="Arial" pitchFamily="34" charset="-120"/>
              </a:rPr>
              <a:t>2 · PUSHOVER</a:t>
            </a:r>
            <a:endParaRPr lang="en-US" sz="1016" dirty="0"/>
          </a:p>
        </p:txBody>
      </p:sp>
      <p:sp>
        <p:nvSpPr>
          <p:cNvPr id="3" name="Text 1"/>
          <p:cNvSpPr/>
          <p:nvPr>
            <p:ph type="title"/>
          </p:nvPr>
        </p:nvSpPr>
        <p:spPr>
          <a:xfrm>
            <a:off x="812767" y="1066146"/>
            <a:ext cx="11379233" cy="767970"/>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C2733"/>
                </a:solidFill>
                <a:latin typeface="Georgia" pitchFamily="18" charset="0"/>
                <a:ea typeface="Georgia" pitchFamily="18" charset="-122"/>
                <a:cs typeface="Georgia" pitchFamily="18" charset="-120"/>
              </a:rPr>
              <a:t>Mechanical model: hinge moved up to the upper floor</a:t>
            </a:r>
            <a:endParaRPr lang="en-US" sz="3020" dirty="0"/>
          </a:p>
        </p:txBody>
      </p:sp>
      <p:pic>
        <p:nvPicPr>
          <p:cNvPr id="4" name="Image 0" descr="From Onur's cavity-wall model to the US-1 mid-height hinge and the adjusted hinge at 2.09 m with the top-beam pivot, with a table of what changed">    </p:cNvPr>
          <p:cNvPicPr>
            <a:picLocks noChangeAspect="1"/>
          </p:cNvPicPr>
          <p:nvPr/>
        </p:nvPicPr>
        <p:blipFill>
          <a:blip r:embed="rId1"/>
          <a:srcRect l="-17340" r="-17340" t="0" b="0"/>
          <a:stretch/>
        </p:blipFill>
        <p:spPr>
          <a:xfrm>
            <a:off x="812767" y="2062716"/>
            <a:ext cx="10566383" cy="2778621"/>
          </a:xfrm>
          <a:prstGeom prst="rect">
            <a:avLst/>
          </a:prstGeom>
        </p:spPr>
      </p:pic>
      <p:sp>
        <p:nvSpPr>
          <p:cNvPr id="5" name="Shape 2"/>
          <p:cNvSpPr/>
          <p:nvPr/>
        </p:nvSpPr>
        <p:spPr>
          <a:xfrm>
            <a:off x="812767" y="5108037"/>
            <a:ext cx="3386667" cy="0"/>
          </a:xfrm>
          <a:prstGeom prst="line">
            <a:avLst/>
          </a:prstGeom>
          <a:noFill/>
          <a:ln w="25400">
            <a:solidFill>
              <a:srgbClr val="B5571A"/>
            </a:solidFill>
            <a:prstDash val="solid"/>
          </a:ln>
        </p:spPr>
      </p:sp>
      <p:sp>
        <p:nvSpPr>
          <p:cNvPr id="6" name="Text 3"/>
          <p:cNvSpPr/>
          <p:nvPr/>
        </p:nvSpPr>
        <p:spPr>
          <a:xfrm>
            <a:off x="812767" y="5246150"/>
            <a:ext cx="3488267" cy="424755"/>
          </a:xfrm>
          <a:prstGeom prst="rect">
            <a:avLst/>
          </a:prstGeom>
          <a:noFill/>
          <a:ln/>
        </p:spPr>
        <p:txBody>
          <a:bodyPr wrap="square" lIns="0" tIns="0" rIns="0" bIns="0" rtlCol="0" anchor="t">
            <a:normAutofit/>
          </a:bodyPr>
          <a:lstStyle/>
          <a:p>
            <a:pPr algn="l" indent="0" marL="0">
              <a:lnSpc>
                <a:spcPts val="3173"/>
              </a:lnSpc>
              <a:buNone/>
            </a:pPr>
            <a:r>
              <a:rPr lang="en-US" sz="2266" b="1" dirty="0">
                <a:solidFill>
                  <a:srgbClr val="1C2733"/>
                </a:solidFill>
                <a:latin typeface="Georgia" pitchFamily="18" charset="0"/>
                <a:ea typeface="Georgia" pitchFamily="18" charset="-122"/>
                <a:cs typeface="Georgia" pitchFamily="18" charset="-120"/>
              </a:rPr>
              <a:t>2.09 m</a:t>
            </a:r>
            <a:endParaRPr lang="en-US" sz="2266" dirty="0"/>
          </a:p>
        </p:txBody>
      </p:sp>
      <p:sp>
        <p:nvSpPr>
          <p:cNvPr id="7" name="Text 4"/>
          <p:cNvSpPr/>
          <p:nvPr/>
        </p:nvSpPr>
        <p:spPr>
          <a:xfrm>
            <a:off x="812767" y="5670888"/>
            <a:ext cx="3488267" cy="196511"/>
          </a:xfrm>
          <a:prstGeom prst="rect">
            <a:avLst/>
          </a:prstGeom>
          <a:noFill/>
          <a:ln/>
        </p:spPr>
        <p:txBody>
          <a:bodyPr wrap="square" lIns="0" tIns="0" rIns="0" bIns="0" rtlCol="0" anchor="t">
            <a:normAutofit/>
          </a:bodyPr>
          <a:lstStyle/>
          <a:p>
            <a:pPr algn="l" indent="0" marL="0">
              <a:lnSpc>
                <a:spcPts val="1370"/>
              </a:lnSpc>
              <a:buNone/>
            </a:pPr>
            <a:r>
              <a:rPr lang="en-US" sz="979" dirty="0">
                <a:solidFill>
                  <a:srgbClr val="5A6672"/>
                </a:solidFill>
                <a:latin typeface="Arial" pitchFamily="34" charset="0"/>
                <a:ea typeface="Arial" pitchFamily="34" charset="-122"/>
                <a:cs typeface="Arial" pitchFamily="34" charset="-120"/>
              </a:rPr>
              <a:t>hinge, as in DEM and test</a:t>
            </a:r>
            <a:endParaRPr lang="en-US" sz="979" dirty="0"/>
          </a:p>
        </p:txBody>
      </p:sp>
      <p:sp>
        <p:nvSpPr>
          <p:cNvPr id="8" name="Shape 5"/>
          <p:cNvSpPr/>
          <p:nvPr/>
        </p:nvSpPr>
        <p:spPr>
          <a:xfrm>
            <a:off x="4402625" y="5108037"/>
            <a:ext cx="3386708" cy="0"/>
          </a:xfrm>
          <a:prstGeom prst="line">
            <a:avLst/>
          </a:prstGeom>
          <a:noFill/>
          <a:ln w="25400">
            <a:solidFill>
              <a:srgbClr val="2A5D8F"/>
            </a:solidFill>
            <a:prstDash val="solid"/>
          </a:ln>
        </p:spPr>
      </p:sp>
      <p:sp>
        <p:nvSpPr>
          <p:cNvPr id="9" name="Text 6"/>
          <p:cNvSpPr/>
          <p:nvPr/>
        </p:nvSpPr>
        <p:spPr>
          <a:xfrm>
            <a:off x="4402625" y="5246150"/>
            <a:ext cx="3488309" cy="424755"/>
          </a:xfrm>
          <a:prstGeom prst="rect">
            <a:avLst/>
          </a:prstGeom>
          <a:noFill/>
          <a:ln/>
        </p:spPr>
        <p:txBody>
          <a:bodyPr wrap="square" lIns="0" tIns="0" rIns="0" bIns="0" rtlCol="0" anchor="t">
            <a:normAutofit/>
          </a:bodyPr>
          <a:lstStyle/>
          <a:p>
            <a:pPr algn="l" indent="0" marL="0">
              <a:lnSpc>
                <a:spcPts val="3173"/>
              </a:lnSpc>
              <a:buNone/>
            </a:pPr>
            <a:r>
              <a:rPr lang="en-US" sz="2266" b="1" dirty="0">
                <a:solidFill>
                  <a:srgbClr val="1C2733"/>
                </a:solidFill>
                <a:latin typeface="Georgia" pitchFamily="18" charset="0"/>
                <a:ea typeface="Georgia" pitchFamily="18" charset="-122"/>
                <a:cs typeface="Georgia" pitchFamily="18" charset="-120"/>
              </a:rPr>
              <a:t>9.9–11.8 kN</a:t>
            </a:r>
            <a:endParaRPr lang="en-US" sz="2266" dirty="0"/>
          </a:p>
        </p:txBody>
      </p:sp>
      <p:sp>
        <p:nvSpPr>
          <p:cNvPr id="10" name="Text 7"/>
          <p:cNvSpPr/>
          <p:nvPr/>
        </p:nvSpPr>
        <p:spPr>
          <a:xfrm>
            <a:off x="4402625" y="5670888"/>
            <a:ext cx="3488309" cy="196511"/>
          </a:xfrm>
          <a:prstGeom prst="rect">
            <a:avLst/>
          </a:prstGeom>
          <a:noFill/>
          <a:ln/>
        </p:spPr>
        <p:txBody>
          <a:bodyPr wrap="square" lIns="0" tIns="0" rIns="0" bIns="0" rtlCol="0" anchor="t">
            <a:normAutofit/>
          </a:bodyPr>
          <a:lstStyle/>
          <a:p>
            <a:pPr algn="l" indent="0" marL="0">
              <a:lnSpc>
                <a:spcPts val="1370"/>
              </a:lnSpc>
              <a:buNone/>
            </a:pPr>
            <a:r>
              <a:rPr lang="en-US" sz="979" dirty="0">
                <a:solidFill>
                  <a:srgbClr val="5A6672"/>
                </a:solidFill>
                <a:latin typeface="Arial" pitchFamily="34" charset="0"/>
                <a:ea typeface="Arial" pitchFamily="34" charset="-122"/>
                <a:cs typeface="Arial" pitchFamily="34" charset="-120"/>
              </a:rPr>
              <a:t>F0, positive push</a:t>
            </a:r>
            <a:endParaRPr lang="en-US" sz="979" dirty="0"/>
          </a:p>
        </p:txBody>
      </p:sp>
      <p:sp>
        <p:nvSpPr>
          <p:cNvPr id="11" name="Shape 8"/>
          <p:cNvSpPr/>
          <p:nvPr/>
        </p:nvSpPr>
        <p:spPr>
          <a:xfrm>
            <a:off x="7992525" y="5108037"/>
            <a:ext cx="3386708" cy="0"/>
          </a:xfrm>
          <a:prstGeom prst="line">
            <a:avLst/>
          </a:prstGeom>
          <a:noFill/>
          <a:ln w="25400">
            <a:solidFill>
              <a:srgbClr val="1C2733"/>
            </a:solidFill>
            <a:prstDash val="solid"/>
          </a:ln>
        </p:spPr>
      </p:sp>
      <p:sp>
        <p:nvSpPr>
          <p:cNvPr id="12" name="Text 9"/>
          <p:cNvSpPr/>
          <p:nvPr/>
        </p:nvSpPr>
        <p:spPr>
          <a:xfrm>
            <a:off x="7992525" y="5246150"/>
            <a:ext cx="3488309" cy="424755"/>
          </a:xfrm>
          <a:prstGeom prst="rect">
            <a:avLst/>
          </a:prstGeom>
          <a:noFill/>
          <a:ln/>
        </p:spPr>
        <p:txBody>
          <a:bodyPr wrap="square" lIns="0" tIns="0" rIns="0" bIns="0" rtlCol="0" anchor="t">
            <a:normAutofit/>
          </a:bodyPr>
          <a:lstStyle/>
          <a:p>
            <a:pPr algn="l" indent="0" marL="0">
              <a:lnSpc>
                <a:spcPts val="3173"/>
              </a:lnSpc>
              <a:buNone/>
            </a:pPr>
            <a:r>
              <a:rPr lang="en-US" sz="2266" b="1" dirty="0">
                <a:solidFill>
                  <a:srgbClr val="1C2733"/>
                </a:solidFill>
                <a:latin typeface="Georgia" pitchFamily="18" charset="0"/>
                <a:ea typeface="Georgia" pitchFamily="18" charset="-122"/>
                <a:cs typeface="Georgia" pitchFamily="18" charset="-120"/>
              </a:rPr>
              <a:t>≈ 28 mm</a:t>
            </a:r>
            <a:endParaRPr lang="en-US" sz="2266" dirty="0"/>
          </a:p>
        </p:txBody>
      </p:sp>
      <p:sp>
        <p:nvSpPr>
          <p:cNvPr id="13" name="Text 10"/>
          <p:cNvSpPr/>
          <p:nvPr/>
        </p:nvSpPr>
        <p:spPr>
          <a:xfrm>
            <a:off x="7992525" y="5670888"/>
            <a:ext cx="3488309" cy="196511"/>
          </a:xfrm>
          <a:prstGeom prst="rect">
            <a:avLst/>
          </a:prstGeom>
          <a:noFill/>
          <a:ln/>
        </p:spPr>
        <p:txBody>
          <a:bodyPr wrap="square" lIns="0" tIns="0" rIns="0" bIns="0" rtlCol="0" anchor="t">
            <a:normAutofit/>
          </a:bodyPr>
          <a:lstStyle/>
          <a:p>
            <a:pPr algn="l" indent="0" marL="0">
              <a:lnSpc>
                <a:spcPts val="1370"/>
              </a:lnSpc>
              <a:buNone/>
            </a:pPr>
            <a:r>
              <a:rPr lang="en-US" sz="979" dirty="0">
                <a:solidFill>
                  <a:srgbClr val="5A6672"/>
                </a:solidFill>
                <a:latin typeface="Arial" pitchFamily="34" charset="0"/>
                <a:ea typeface="Arial" pitchFamily="34" charset="-122"/>
                <a:cs typeface="Arial" pitchFamily="34" charset="-120"/>
              </a:rPr>
              <a:t>at 80 % V (test 27.4 mm)</a:t>
            </a:r>
            <a:endParaRPr lang="en-US" sz="97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6238295"/>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All joints ft = 0 · end of push, ≈ 80 mm at the 2.06 m sensor · this shape set the adjusted hinge (2.09 / 2.20 m) and the lower pivot (base … 0.30 m)</a:t>
            </a:r>
            <a:endParaRPr lang="en-US" sz="1200" dirty="0"/>
          </a:p>
        </p:txBody>
      </p:sp>
      <p:sp>
        <p:nvSpPr>
          <p:cNvPr id="3" name="Text 1"/>
          <p:cNvSpPr/>
          <p:nvPr/>
        </p:nvSpPr>
        <p:spPr>
          <a:xfrm>
            <a:off x="812767" y="812766"/>
            <a:ext cx="1088993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2 · PUSHOVER</a:t>
            </a:r>
            <a:endParaRPr lang="en-US" sz="1200" dirty="0"/>
          </a:p>
        </p:txBody>
      </p:sp>
      <p:sp>
        <p:nvSpPr>
          <p:cNvPr id="4" name="Text 2"/>
          <p:cNvSpPr/>
          <p:nvPr>
            <p:ph type="title"/>
          </p:nvPr>
        </p:nvSpPr>
        <p:spPr>
          <a:xfrm>
            <a:off x="812767" y="1102277"/>
            <a:ext cx="11379233"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DEM ft = 0 deformed shape: where the wall hinges</a:t>
            </a:r>
            <a:endParaRPr lang="en-US" sz="3200" dirty="0"/>
          </a:p>
        </p:txBody>
      </p:sp>
      <p:pic>
        <p:nvPicPr>
          <p:cNvPr id="5" name="Image 0" descr="Deformed shape at the end of the f_t = 0 pushover, both directions, and the largest bed-joint opening per course; hinges at the upper floor and a kink at the lower floor">    </p:cNvPr>
          <p:cNvPicPr>
            <a:picLocks noChangeAspect="1"/>
          </p:cNvPicPr>
          <p:nvPr/>
        </p:nvPicPr>
        <p:blipFill>
          <a:blip r:embed="rId1"/>
          <a:srcRect l="0" r="0" t="-142" b="-142"/>
          <a:stretch/>
        </p:blipFill>
        <p:spPr>
          <a:xfrm>
            <a:off x="812767" y="1797016"/>
            <a:ext cx="6858000" cy="4064000"/>
          </a:xfrm>
          <a:prstGeom prst="rect">
            <a:avLst/>
          </a:prstGeom>
        </p:spPr>
      </p:pic>
      <p:sp>
        <p:nvSpPr>
          <p:cNvPr id="6" name="Shape 3"/>
          <p:cNvSpPr/>
          <p:nvPr/>
        </p:nvSpPr>
        <p:spPr>
          <a:xfrm>
            <a:off x="7975533" y="2066196"/>
            <a:ext cx="3409983" cy="0"/>
          </a:xfrm>
          <a:prstGeom prst="line">
            <a:avLst/>
          </a:prstGeom>
          <a:noFill/>
          <a:ln w="25400">
            <a:solidFill>
              <a:srgbClr val="B5571A"/>
            </a:solidFill>
            <a:prstDash val="solid"/>
          </a:ln>
        </p:spPr>
      </p:sp>
      <p:sp>
        <p:nvSpPr>
          <p:cNvPr id="7" name="Text 4"/>
          <p:cNvSpPr/>
          <p:nvPr/>
        </p:nvSpPr>
        <p:spPr>
          <a:xfrm>
            <a:off x="7975533" y="2204309"/>
            <a:ext cx="351228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2.05–2.17 m</a:t>
            </a:r>
            <a:endParaRPr lang="en-US" sz="2800" dirty="0"/>
          </a:p>
        </p:txBody>
      </p:sp>
      <p:sp>
        <p:nvSpPr>
          <p:cNvPr id="8" name="Text 5"/>
          <p:cNvSpPr/>
          <p:nvPr/>
        </p:nvSpPr>
        <p:spPr>
          <a:xfrm>
            <a:off x="7975533" y="2752905"/>
            <a:ext cx="351228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upper hinge, in the floor course: 33 mm (+) / 39 mm (−)</a:t>
            </a:r>
            <a:endParaRPr lang="en-US" sz="1400" dirty="0"/>
          </a:p>
        </p:txBody>
      </p:sp>
      <p:sp>
        <p:nvSpPr>
          <p:cNvPr id="9" name="Shape 6"/>
          <p:cNvSpPr/>
          <p:nvPr/>
        </p:nvSpPr>
        <p:spPr>
          <a:xfrm>
            <a:off x="7975533" y="3492010"/>
            <a:ext cx="3409983" cy="0"/>
          </a:xfrm>
          <a:prstGeom prst="line">
            <a:avLst/>
          </a:prstGeom>
          <a:noFill/>
          <a:ln w="25400">
            <a:solidFill>
              <a:srgbClr val="2A5D8F"/>
            </a:solidFill>
            <a:prstDash val="solid"/>
          </a:ln>
        </p:spPr>
      </p:sp>
      <p:sp>
        <p:nvSpPr>
          <p:cNvPr id="10" name="Text 7"/>
          <p:cNvSpPr/>
          <p:nvPr/>
        </p:nvSpPr>
        <p:spPr>
          <a:xfrm>
            <a:off x="7975533" y="3630123"/>
            <a:ext cx="351228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0.3–0.5 m</a:t>
            </a:r>
            <a:endParaRPr lang="en-US" sz="2800" dirty="0"/>
          </a:p>
        </p:txBody>
      </p:sp>
      <p:sp>
        <p:nvSpPr>
          <p:cNvPr id="11" name="Text 8"/>
          <p:cNvSpPr/>
          <p:nvPr/>
        </p:nvSpPr>
        <p:spPr>
          <a:xfrm>
            <a:off x="7975533" y="4178722"/>
            <a:ext cx="3512282"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lower kink at the joist: 3–5 mm</a:t>
            </a:r>
            <a:endParaRPr lang="en-US" sz="1400" dirty="0"/>
          </a:p>
        </p:txBody>
      </p:sp>
      <p:sp>
        <p:nvSpPr>
          <p:cNvPr id="12" name="Shape 9"/>
          <p:cNvSpPr/>
          <p:nvPr/>
        </p:nvSpPr>
        <p:spPr>
          <a:xfrm>
            <a:off x="7975533" y="4668912"/>
            <a:ext cx="3409983" cy="0"/>
          </a:xfrm>
          <a:prstGeom prst="line">
            <a:avLst/>
          </a:prstGeom>
          <a:noFill/>
          <a:ln w="25400">
            <a:solidFill>
              <a:srgbClr val="1C2733"/>
            </a:solidFill>
            <a:prstDash val="solid"/>
          </a:ln>
        </p:spPr>
      </p:sp>
      <p:sp>
        <p:nvSpPr>
          <p:cNvPr id="13" name="Text 10"/>
          <p:cNvSpPr/>
          <p:nvPr/>
        </p:nvSpPr>
        <p:spPr>
          <a:xfrm>
            <a:off x="7975533" y="4807024"/>
            <a:ext cx="351228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No mid-height</a:t>
            </a:r>
            <a:endParaRPr lang="en-US" sz="2800" dirty="0"/>
          </a:p>
        </p:txBody>
      </p:sp>
      <p:sp>
        <p:nvSpPr>
          <p:cNvPr id="14" name="Text 11"/>
          <p:cNvSpPr/>
          <p:nvPr/>
        </p:nvSpPr>
        <p:spPr>
          <a:xfrm>
            <a:off x="7975533" y="5355620"/>
            <a:ext cx="3512282"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hinge at 1.51 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6"/>
            <a:ext cx="10883460" cy="220406"/>
          </a:xfrm>
          <a:prstGeom prst="rect">
            <a:avLst/>
          </a:prstGeom>
          <a:noFill/>
          <a:ln/>
        </p:spPr>
        <p:txBody>
          <a:bodyPr wrap="square" lIns="0" tIns="0" rIns="0" bIns="0" rtlCol="0" anchor="t">
            <a:normAutofit/>
          </a:bodyPr>
          <a:lstStyle/>
          <a:p>
            <a:pPr algn="l" indent="0" marL="0">
              <a:lnSpc>
                <a:spcPts val="1575"/>
              </a:lnSpc>
              <a:buNone/>
            </a:pPr>
            <a:r>
              <a:rPr lang="en-US" sz="1125" spc="100" kern="0" dirty="0">
                <a:solidFill>
                  <a:srgbClr val="B5571A"/>
                </a:solidFill>
                <a:latin typeface="Arial" pitchFamily="34" charset="0"/>
                <a:ea typeface="Arial" pitchFamily="34" charset="-122"/>
                <a:cs typeface="Arial" pitchFamily="34" charset="-120"/>
              </a:rPr>
              <a:t>2 · PUSHOVER</a:t>
            </a:r>
            <a:endParaRPr lang="en-US" sz="1125" dirty="0"/>
          </a:p>
        </p:txBody>
      </p:sp>
      <p:sp>
        <p:nvSpPr>
          <p:cNvPr id="3" name="Text 1"/>
          <p:cNvSpPr/>
          <p:nvPr>
            <p:ph type="title"/>
          </p:nvPr>
        </p:nvSpPr>
        <p:spPr>
          <a:xfrm>
            <a:off x="812767" y="1083965"/>
            <a:ext cx="11379233" cy="842673"/>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C2733"/>
                </a:solidFill>
                <a:latin typeface="Georgia" pitchFamily="18" charset="0"/>
                <a:ea typeface="Georgia" pitchFamily="18" charset="-122"/>
                <a:cs typeface="Georgia" pitchFamily="18" charset="-120"/>
              </a:rPr>
              <a:t>DEM (ft = 0) carries more than the rigid mechanism</a:t>
            </a:r>
            <a:endParaRPr lang="en-US" sz="3110" dirty="0"/>
          </a:p>
        </p:txBody>
      </p:sp>
      <p:pic>
        <p:nvPicPr>
          <p:cNvPr id="4" name="Image 0" descr="Positive and negative pushover: rigid hinge models against the DEM f_t = 0 curve; gap of 1.7 kN and 1.6 kN at 80 mm">    </p:cNvPr>
          <p:cNvPicPr>
            <a:picLocks noChangeAspect="1"/>
          </p:cNvPicPr>
          <p:nvPr/>
        </p:nvPicPr>
        <p:blipFill>
          <a:blip r:embed="rId1"/>
          <a:srcRect l="-15082" r="-15082" t="0" b="0"/>
          <a:stretch/>
        </p:blipFill>
        <p:spPr>
          <a:xfrm>
            <a:off x="812767" y="2104430"/>
            <a:ext cx="10566383" cy="3737570"/>
          </a:xfrm>
          <a:prstGeom prst="rect">
            <a:avLst/>
          </a:prstGeom>
        </p:spPr>
      </p:pic>
      <p:sp>
        <p:nvSpPr>
          <p:cNvPr id="5" name="Text 2"/>
          <p:cNvSpPr/>
          <p:nvPr/>
        </p:nvSpPr>
        <p:spPr>
          <a:xfrm>
            <a:off x="812767" y="6238295"/>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DEM reaches 80 % V at 57 mm, the test at 27 mm · no compressive damage in the DEM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6"/>
            <a:ext cx="10883460" cy="224664"/>
          </a:xfrm>
          <a:prstGeom prst="rect">
            <a:avLst/>
          </a:prstGeom>
          <a:noFill/>
          <a:ln/>
        </p:spPr>
        <p:txBody>
          <a:bodyPr wrap="square" lIns="0" tIns="0" rIns="0" bIns="0" rtlCol="0" anchor="t">
            <a:normAutofit/>
          </a:bodyPr>
          <a:lstStyle/>
          <a:p>
            <a:pPr algn="l" indent="0" marL="0">
              <a:lnSpc>
                <a:spcPts val="1575"/>
              </a:lnSpc>
              <a:buNone/>
            </a:pPr>
            <a:r>
              <a:rPr lang="en-US" sz="1125" spc="100" kern="0" dirty="0">
                <a:solidFill>
                  <a:srgbClr val="B5571A"/>
                </a:solidFill>
                <a:latin typeface="Arial" pitchFamily="34" charset="0"/>
                <a:ea typeface="Arial" pitchFamily="34" charset="-122"/>
                <a:cs typeface="Arial" pitchFamily="34" charset="-120"/>
              </a:rPr>
              <a:t>2 · PUSHOVER</a:t>
            </a:r>
            <a:endParaRPr lang="en-US" sz="1125" dirty="0"/>
          </a:p>
        </p:txBody>
      </p:sp>
      <p:sp>
        <p:nvSpPr>
          <p:cNvPr id="3" name="Text 1"/>
          <p:cNvSpPr/>
          <p:nvPr>
            <p:ph type="title"/>
          </p:nvPr>
        </p:nvSpPr>
        <p:spPr>
          <a:xfrm>
            <a:off x="812767" y="1088222"/>
            <a:ext cx="11379233" cy="860532"/>
          </a:xfrm>
          <a:prstGeom prst="rect">
            <a:avLst/>
          </a:prstGeom>
          <a:noFill/>
          <a:ln/>
        </p:spPr>
        <p:txBody>
          <a:bodyPr wrap="square" lIns="0" tIns="0" rIns="0" bIns="0" rtlCol="0" anchor="t">
            <a:normAutofit/>
          </a:bodyPr>
          <a:lstStyle/>
          <a:p>
            <a:pPr algn="l" indent="0" marL="0">
              <a:lnSpc>
                <a:spcPts val="3443"/>
              </a:lnSpc>
              <a:buNone/>
            </a:pPr>
            <a:r>
              <a:rPr lang="en-US" sz="3130" b="1" i="0" dirty="0">
                <a:solidFill>
                  <a:srgbClr val="1C2733"/>
                </a:solidFill>
                <a:latin typeface="Georgia" pitchFamily="18" charset="0"/>
                <a:ea typeface="Georgia" pitchFamily="18" charset="-122"/>
                <a:cs typeface="Georgia" pitchFamily="18" charset="-120"/>
              </a:rPr>
              <a:t>Forced hinges: right mechanism, force still too high</a:t>
            </a:r>
            <a:endParaRPr lang="en-US" sz="3130" dirty="0"/>
          </a:p>
        </p:txBody>
      </p:sp>
      <p:pic>
        <p:nvPicPr>
          <p:cNvPr id="4" name="Image 0" descr="Forced-hinge DEM, negative push: deformed shape and bed-joint openings; only the base and the 2.110 m joint open">    </p:cNvPr>
          <p:cNvPicPr>
            <a:picLocks noChangeAspect="1"/>
          </p:cNvPicPr>
          <p:nvPr/>
        </p:nvPicPr>
        <p:blipFill>
          <a:blip r:embed="rId1"/>
          <a:srcRect l="0" r="0" t="-37" b="-37"/>
          <a:stretch/>
        </p:blipFill>
        <p:spPr>
          <a:xfrm>
            <a:off x="812767" y="2057053"/>
            <a:ext cx="6604000" cy="3905250"/>
          </a:xfrm>
          <a:prstGeom prst="rect">
            <a:avLst/>
          </a:prstGeom>
        </p:spPr>
      </p:pic>
      <p:sp>
        <p:nvSpPr>
          <p:cNvPr id="5" name="Text 2"/>
          <p:cNvSpPr/>
          <p:nvPr/>
        </p:nvSpPr>
        <p:spPr>
          <a:xfrm>
            <a:off x="7721533" y="2535492"/>
            <a:ext cx="3767430"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ft = 0 only at base, 2.110 m joint, top; 0.344 MPa elsewhere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32117" y="3247099"/>
          <a:ext cx="3647116" cy="1535741"/>
        </p:xfrm>
        <a:graphic>
          <a:graphicData uri="http://schemas.openxmlformats.org/drawingml/2006/table">
            <a:tbl>
              <a:tblPr/>
              <a:tblGrid>
                <a:gridCol w="1240019"/>
                <a:gridCol w="1203548"/>
                <a:gridCol w="1203548"/>
              </a:tblGrid>
              <a:tr h="383935">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d</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DEM</a:t>
                      </a:r>
                      <a:endParaRPr lang="en-US" sz="1400" dirty="0">
                        <a:latin typeface="Arial" charset="0"/>
                        <a:ea typeface="Arial" charset="0"/>
                        <a:cs typeface="Arial"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Rigid</a:t>
                      </a:r>
                      <a:endParaRPr lang="en-US" sz="1400" dirty="0">
                        <a:latin typeface="Arial" charset="0"/>
                        <a:ea typeface="Arial" charset="0"/>
                        <a:cs typeface="Arial"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20 mm</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10.9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8.6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40 mm</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10.6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7.2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77 mm</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9.7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4.5 kN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7" name="Text 3"/>
          <p:cNvSpPr/>
          <p:nvPr/>
        </p:nvSpPr>
        <p:spPr>
          <a:xfrm>
            <a:off x="7721533" y="4986031"/>
            <a:ext cx="3767430"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Exactly three hinges: base 6.9 mm, 2.110 m 40.4 mm, top-beam pivot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2 · PUSHOVER</a:t>
            </a:r>
            <a:endParaRPr lang="en-US" sz="1200" dirty="0"/>
          </a:p>
        </p:txBody>
      </p:sp>
      <p:sp>
        <p:nvSpPr>
          <p:cNvPr id="3" name="Text 1"/>
          <p:cNvSpPr/>
          <p:nvPr>
            <p:ph type="title"/>
          </p:nvPr>
        </p:nvSpPr>
        <p:spPr>
          <a:xfrm>
            <a:off x="812767" y="1102277"/>
            <a:ext cx="10883460"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The extra work is friction in the joist pocket</a:t>
            </a:r>
            <a:endParaRPr lang="en-US" sz="3200" dirty="0"/>
          </a:p>
        </p:txBody>
      </p:sp>
      <p:sp>
        <p:nvSpPr>
          <p:cNvPr id="4" name="Text 2"/>
          <p:cNvSpPr/>
          <p:nvPr/>
        </p:nvSpPr>
        <p:spPr>
          <a:xfrm>
            <a:off x="812767" y="1854067"/>
            <a:ext cx="1088346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672"/>
                </a:solidFill>
                <a:latin typeface="Arial" pitchFamily="34" charset="0"/>
                <a:ea typeface="Arial" pitchFamily="34" charset="-122"/>
                <a:cs typeface="Arial" pitchFamily="34" charset="-120"/>
              </a:rPr>
              <a:t>Push work to 80 mm = potential energy + dissipated</a:t>
            </a:r>
            <a:endParaRPr lang="en-US" sz="1400" dirty="0"/>
          </a:p>
        </p:txBody>
      </p:sp>
      <p:sp>
        <p:nvSpPr>
          <p:cNvPr id="5" name="Text 3"/>
          <p:cNvSpPr/>
          <p:nvPr/>
        </p:nvSpPr>
        <p:spPr>
          <a:xfrm>
            <a:off x="812767" y="2306172"/>
            <a:ext cx="170180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733"/>
                </a:solidFill>
                <a:latin typeface="Arial" pitchFamily="34" charset="0"/>
                <a:ea typeface="Arial" pitchFamily="34" charset="-122"/>
                <a:cs typeface="Arial" pitchFamily="34" charset="-120"/>
              </a:rPr>
              <a:t>Forced hinges</a:t>
            </a:r>
            <a:endParaRPr lang="en-US" sz="1400" dirty="0"/>
          </a:p>
        </p:txBody>
      </p:sp>
      <p:sp>
        <p:nvSpPr>
          <p:cNvPr id="6" name="Text 4"/>
          <p:cNvSpPr/>
          <p:nvPr/>
        </p:nvSpPr>
        <p:spPr>
          <a:xfrm>
            <a:off x="2616150" y="2229982"/>
            <a:ext cx="4864075" cy="401298"/>
          </a:xfrm>
          <a:prstGeom prst="rect">
            <a:avLst/>
          </a:prstGeom>
          <a:solidFill>
            <a:srgbClr val="2A5D8F"/>
          </a:solidFill>
          <a:ln/>
        </p:spPr>
        <p:txBody>
          <a:bodyPr wrap="square" lIns="127000" tIns="76200" rIns="0" bIns="50783" rtlCol="0" anchor="t">
            <a:normAutofit/>
          </a:bodyPr>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PE 268 J</a:t>
            </a:r>
            <a:endParaRPr lang="en-US" sz="1400" dirty="0"/>
          </a:p>
        </p:txBody>
      </p:sp>
      <p:sp>
        <p:nvSpPr>
          <p:cNvPr id="7" name="Text 5"/>
          <p:cNvSpPr/>
          <p:nvPr/>
        </p:nvSpPr>
        <p:spPr>
          <a:xfrm>
            <a:off x="7480226" y="2229982"/>
            <a:ext cx="2755883" cy="401298"/>
          </a:xfrm>
          <a:prstGeom prst="rect">
            <a:avLst/>
          </a:prstGeom>
          <a:solidFill>
            <a:srgbClr val="B5571A"/>
          </a:solidFill>
          <a:ln/>
        </p:spPr>
        <p:txBody>
          <a:bodyPr wrap="square" lIns="127000" tIns="76200" rIns="51943" bIns="50783" rtlCol="0" anchor="t">
            <a:normAutofit/>
          </a:bodyPr>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152 J</a:t>
            </a:r>
            <a:endParaRPr lang="en-US" sz="1400" dirty="0"/>
          </a:p>
        </p:txBody>
      </p:sp>
      <p:sp>
        <p:nvSpPr>
          <p:cNvPr id="8" name="Text 6"/>
          <p:cNvSpPr/>
          <p:nvPr/>
        </p:nvSpPr>
        <p:spPr>
          <a:xfrm>
            <a:off x="10388533" y="2306172"/>
            <a:ext cx="521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733"/>
                </a:solidFill>
                <a:latin typeface="Arial" pitchFamily="34" charset="0"/>
                <a:ea typeface="Arial" pitchFamily="34" charset="-122"/>
                <a:cs typeface="Arial" pitchFamily="34" charset="-120"/>
              </a:rPr>
              <a:t>420 J</a:t>
            </a:r>
            <a:endParaRPr lang="en-US" sz="1400" dirty="0"/>
          </a:p>
        </p:txBody>
      </p:sp>
      <p:sp>
        <p:nvSpPr>
          <p:cNvPr id="9" name="Text 7"/>
          <p:cNvSpPr/>
          <p:nvPr/>
        </p:nvSpPr>
        <p:spPr>
          <a:xfrm>
            <a:off x="812767" y="2834472"/>
            <a:ext cx="170180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733"/>
                </a:solidFill>
                <a:latin typeface="Arial" pitchFamily="34" charset="0"/>
                <a:ea typeface="Arial" pitchFamily="34" charset="-122"/>
                <a:cs typeface="Arial" pitchFamily="34" charset="-120"/>
              </a:rPr>
              <a:t>All ft = 0</a:t>
            </a:r>
            <a:endParaRPr lang="en-US" sz="1400" dirty="0"/>
          </a:p>
        </p:txBody>
      </p:sp>
      <p:sp>
        <p:nvSpPr>
          <p:cNvPr id="10" name="Text 8"/>
          <p:cNvSpPr/>
          <p:nvPr/>
        </p:nvSpPr>
        <p:spPr>
          <a:xfrm>
            <a:off x="2616150" y="2758281"/>
            <a:ext cx="4737075" cy="401298"/>
          </a:xfrm>
          <a:prstGeom prst="rect">
            <a:avLst/>
          </a:prstGeom>
          <a:solidFill>
            <a:srgbClr val="2A5D8F"/>
          </a:solidFill>
          <a:ln/>
        </p:spPr>
        <p:txBody>
          <a:bodyPr wrap="square" lIns="127000" tIns="76200" rIns="0" bIns="50783" rtlCol="0" anchor="t">
            <a:normAutofit/>
          </a:bodyPr>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PE 261 J</a:t>
            </a:r>
            <a:endParaRPr lang="en-US" sz="1400" dirty="0"/>
          </a:p>
        </p:txBody>
      </p:sp>
      <p:sp>
        <p:nvSpPr>
          <p:cNvPr id="11" name="Text 9"/>
          <p:cNvSpPr/>
          <p:nvPr/>
        </p:nvSpPr>
        <p:spPr>
          <a:xfrm>
            <a:off x="7353226" y="2758281"/>
            <a:ext cx="1447767" cy="401298"/>
          </a:xfrm>
          <a:prstGeom prst="rect">
            <a:avLst/>
          </a:prstGeom>
          <a:solidFill>
            <a:srgbClr val="B5571A"/>
          </a:solidFill>
          <a:ln/>
        </p:spPr>
        <p:txBody>
          <a:bodyPr wrap="square" lIns="127000" tIns="76200" rIns="76200" bIns="50783" rtlCol="0" anchor="t">
            <a:normAutofit/>
          </a:bodyPr>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80 J</a:t>
            </a:r>
            <a:endParaRPr lang="en-US" sz="1400" dirty="0"/>
          </a:p>
        </p:txBody>
      </p:sp>
      <p:sp>
        <p:nvSpPr>
          <p:cNvPr id="12" name="Text 10"/>
          <p:cNvSpPr/>
          <p:nvPr/>
        </p:nvSpPr>
        <p:spPr>
          <a:xfrm>
            <a:off x="8953417" y="2834472"/>
            <a:ext cx="521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733"/>
                </a:solidFill>
                <a:latin typeface="Arial" pitchFamily="34" charset="0"/>
                <a:ea typeface="Arial" pitchFamily="34" charset="-122"/>
                <a:cs typeface="Arial" pitchFamily="34" charset="-120"/>
              </a:rPr>
              <a:t>341 J</a:t>
            </a:r>
            <a:endParaRPr lang="en-US" sz="1400" dirty="0"/>
          </a:p>
        </p:txBody>
      </p:sp>
      <p:sp>
        <p:nvSpPr>
          <p:cNvPr id="13" name="Shape 11"/>
          <p:cNvSpPr/>
          <p:nvPr/>
        </p:nvSpPr>
        <p:spPr>
          <a:xfrm>
            <a:off x="812767" y="3477047"/>
            <a:ext cx="3386667" cy="0"/>
          </a:xfrm>
          <a:prstGeom prst="line">
            <a:avLst/>
          </a:prstGeom>
          <a:noFill/>
          <a:ln w="25400">
            <a:solidFill>
              <a:srgbClr val="B5571A"/>
            </a:solidFill>
            <a:prstDash val="solid"/>
          </a:ln>
        </p:spPr>
      </p:sp>
      <p:sp>
        <p:nvSpPr>
          <p:cNvPr id="14" name="Text 12"/>
          <p:cNvSpPr/>
          <p:nvPr/>
        </p:nvSpPr>
        <p:spPr>
          <a:xfrm>
            <a:off x="812767" y="3615159"/>
            <a:ext cx="348826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 130 J</a:t>
            </a:r>
            <a:endParaRPr lang="en-US" sz="2800" dirty="0"/>
          </a:p>
        </p:txBody>
      </p:sp>
      <p:sp>
        <p:nvSpPr>
          <p:cNvPr id="15" name="Text 13"/>
          <p:cNvSpPr/>
          <p:nvPr/>
        </p:nvSpPr>
        <p:spPr>
          <a:xfrm>
            <a:off x="812767" y="4163752"/>
            <a:ext cx="34882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0.73 × 44 kN × 4 mm joist slip</a:t>
            </a:r>
            <a:endParaRPr lang="en-US" sz="1200" dirty="0"/>
          </a:p>
        </p:txBody>
      </p:sp>
      <p:sp>
        <p:nvSpPr>
          <p:cNvPr id="16" name="Shape 14"/>
          <p:cNvSpPr/>
          <p:nvPr/>
        </p:nvSpPr>
        <p:spPr>
          <a:xfrm>
            <a:off x="4402625" y="3477047"/>
            <a:ext cx="3386708" cy="0"/>
          </a:xfrm>
          <a:prstGeom prst="line">
            <a:avLst/>
          </a:prstGeom>
          <a:noFill/>
          <a:ln w="25400">
            <a:solidFill>
              <a:srgbClr val="2A5D8F"/>
            </a:solidFill>
            <a:prstDash val="solid"/>
          </a:ln>
        </p:spPr>
      </p:sp>
      <p:sp>
        <p:nvSpPr>
          <p:cNvPr id="17" name="Text 15"/>
          <p:cNvSpPr/>
          <p:nvPr/>
        </p:nvSpPr>
        <p:spPr>
          <a:xfrm>
            <a:off x="4402625" y="3615159"/>
            <a:ext cx="348830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 10 J</a:t>
            </a:r>
            <a:endParaRPr lang="en-US" sz="2800" dirty="0"/>
          </a:p>
        </p:txBody>
      </p:sp>
      <p:sp>
        <p:nvSpPr>
          <p:cNvPr id="18" name="Text 16"/>
          <p:cNvSpPr/>
          <p:nvPr/>
        </p:nvSpPr>
        <p:spPr>
          <a:xfrm>
            <a:off x="4402625" y="4163752"/>
            <a:ext cx="34883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all hinge joints (≈ no slip)</a:t>
            </a:r>
            <a:endParaRPr lang="en-US" sz="1200" dirty="0"/>
          </a:p>
        </p:txBody>
      </p:sp>
      <p:sp>
        <p:nvSpPr>
          <p:cNvPr id="19" name="Shape 17"/>
          <p:cNvSpPr/>
          <p:nvPr/>
        </p:nvSpPr>
        <p:spPr>
          <a:xfrm>
            <a:off x="7992525" y="3477047"/>
            <a:ext cx="3386708" cy="0"/>
          </a:xfrm>
          <a:prstGeom prst="line">
            <a:avLst/>
          </a:prstGeom>
          <a:noFill/>
          <a:ln w="25400">
            <a:solidFill>
              <a:srgbClr val="1C2733"/>
            </a:solidFill>
            <a:prstDash val="solid"/>
          </a:ln>
        </p:spPr>
      </p:sp>
      <p:sp>
        <p:nvSpPr>
          <p:cNvPr id="20" name="Text 18"/>
          <p:cNvSpPr/>
          <p:nvPr/>
        </p:nvSpPr>
        <p:spPr>
          <a:xfrm>
            <a:off x="7992525" y="3615159"/>
            <a:ext cx="348830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C2733"/>
                </a:solidFill>
                <a:latin typeface="Georgia" pitchFamily="18" charset="0"/>
                <a:ea typeface="Georgia" pitchFamily="18" charset="-122"/>
                <a:cs typeface="Georgia" pitchFamily="18" charset="-120"/>
              </a:rPr>
              <a:t>≈ 75 %</a:t>
            </a:r>
            <a:endParaRPr lang="en-US" sz="2800" dirty="0"/>
          </a:p>
        </p:txBody>
      </p:sp>
      <p:sp>
        <p:nvSpPr>
          <p:cNvPr id="21" name="Text 19"/>
          <p:cNvSpPr/>
          <p:nvPr/>
        </p:nvSpPr>
        <p:spPr>
          <a:xfrm>
            <a:off x="7992525" y="4163752"/>
            <a:ext cx="34883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of the wall load goes through the rigid joist</a:t>
            </a:r>
            <a:endParaRPr lang="en-US" sz="1200" dirty="0"/>
          </a:p>
        </p:txBody>
      </p:sp>
      <p:sp>
        <p:nvSpPr>
          <p:cNvPr id="22" name="Text 20"/>
          <p:cNvSpPr/>
          <p:nvPr/>
        </p:nvSpPr>
        <p:spPr>
          <a:xfrm>
            <a:off x="812767" y="6238292"/>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Frictionless pockets: joists slide out already under gravity · next: timber friction (μ ≈ 0.5) in the pockets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3 · ROUTE 2 PERIODS</a:t>
            </a:r>
            <a:endParaRPr lang="en-US" sz="1200" dirty="0"/>
          </a:p>
        </p:txBody>
      </p:sp>
      <p:sp>
        <p:nvSpPr>
          <p:cNvPr id="3" name="Text 1"/>
          <p:cNvSpPr/>
          <p:nvPr>
            <p:ph type="title"/>
          </p:nvPr>
        </p:nvSpPr>
        <p:spPr>
          <a:xfrm>
            <a:off x="812767" y="1102277"/>
            <a:ext cx="10883460" cy="91944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Ihsan’s idea: take the sine period from the record (Tp)</a:t>
            </a:r>
            <a:endParaRPr lang="en-US" sz="3200" dirty="0"/>
          </a:p>
        </p:txBody>
      </p:sp>
      <p:sp>
        <p:nvSpPr>
          <p:cNvPr id="4" name="Shape 2"/>
          <p:cNvSpPr/>
          <p:nvPr/>
        </p:nvSpPr>
        <p:spPr>
          <a:xfrm>
            <a:off x="812767" y="3304394"/>
            <a:ext cx="10566383" cy="38075"/>
          </a:xfrm>
          <a:prstGeom prst="rect">
            <a:avLst/>
          </a:prstGeom>
          <a:solidFill>
            <a:srgbClr val="1C2733"/>
          </a:solidFill>
          <a:ln/>
        </p:spPr>
      </p:sp>
      <p:sp>
        <p:nvSpPr>
          <p:cNvPr id="5" name="Text 3"/>
          <p:cNvSpPr/>
          <p:nvPr/>
        </p:nvSpPr>
        <p:spPr>
          <a:xfrm>
            <a:off x="812767" y="3494894"/>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0 s</a:t>
            </a:r>
            <a:endParaRPr lang="en-US" sz="1200" dirty="0"/>
          </a:p>
        </p:txBody>
      </p:sp>
      <p:sp>
        <p:nvSpPr>
          <p:cNvPr id="6" name="Text 4"/>
          <p:cNvSpPr/>
          <p:nvPr/>
        </p:nvSpPr>
        <p:spPr>
          <a:xfrm>
            <a:off x="10286967" y="3494894"/>
            <a:ext cx="10921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0.6 s</a:t>
            </a:r>
            <a:endParaRPr lang="en-US" sz="1200" dirty="0"/>
          </a:p>
        </p:txBody>
      </p:sp>
      <p:sp>
        <p:nvSpPr>
          <p:cNvPr id="7" name="Shape 5"/>
          <p:cNvSpPr/>
          <p:nvPr/>
        </p:nvSpPr>
        <p:spPr>
          <a:xfrm>
            <a:off x="2622517" y="3050394"/>
            <a:ext cx="101575" cy="546075"/>
          </a:xfrm>
          <a:prstGeom prst="rect">
            <a:avLst/>
          </a:prstGeom>
          <a:solidFill>
            <a:srgbClr val="5A6672"/>
          </a:solidFill>
          <a:ln/>
        </p:spPr>
      </p:sp>
      <p:sp>
        <p:nvSpPr>
          <p:cNvPr id="8" name="Text 6"/>
          <p:cNvSpPr/>
          <p:nvPr/>
        </p:nvSpPr>
        <p:spPr>
          <a:xfrm>
            <a:off x="1930367" y="2478894"/>
            <a:ext cx="1574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A6672"/>
                </a:solidFill>
                <a:latin typeface="Arial" pitchFamily="34" charset="0"/>
                <a:ea typeface="Arial" pitchFamily="34" charset="-122"/>
                <a:cs typeface="Arial" pitchFamily="34" charset="-120"/>
              </a:rPr>
              <a:t>T1 0.09–0.11</a:t>
            </a:r>
            <a:endParaRPr lang="en-US" sz="1400" dirty="0"/>
          </a:p>
        </p:txBody>
      </p:sp>
      <p:sp>
        <p:nvSpPr>
          <p:cNvPr id="9" name="Shape 7"/>
          <p:cNvSpPr/>
          <p:nvPr/>
        </p:nvSpPr>
        <p:spPr>
          <a:xfrm>
            <a:off x="2927284" y="3050394"/>
            <a:ext cx="101575" cy="546075"/>
          </a:xfrm>
          <a:prstGeom prst="rect">
            <a:avLst/>
          </a:prstGeom>
          <a:solidFill>
            <a:srgbClr val="B5571A"/>
          </a:solidFill>
          <a:ln/>
        </p:spPr>
      </p:sp>
      <p:sp>
        <p:nvSpPr>
          <p:cNvPr id="10" name="Text 8"/>
          <p:cNvSpPr/>
          <p:nvPr/>
        </p:nvSpPr>
        <p:spPr>
          <a:xfrm>
            <a:off x="2692367" y="3621894"/>
            <a:ext cx="1320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5571A"/>
                </a:solidFill>
                <a:latin typeface="Arial" pitchFamily="34" charset="0"/>
                <a:ea typeface="Arial" pitchFamily="34" charset="-122"/>
                <a:cs typeface="Arial" pitchFamily="34" charset="-120"/>
              </a:rPr>
              <a:t>Tp 0.121</a:t>
            </a:r>
            <a:endParaRPr lang="en-US" sz="1400" dirty="0"/>
          </a:p>
        </p:txBody>
      </p:sp>
      <p:sp>
        <p:nvSpPr>
          <p:cNvPr id="11" name="Shape 9"/>
          <p:cNvSpPr/>
          <p:nvPr/>
        </p:nvSpPr>
        <p:spPr>
          <a:xfrm>
            <a:off x="4419534" y="3050394"/>
            <a:ext cx="101575" cy="546075"/>
          </a:xfrm>
          <a:prstGeom prst="rect">
            <a:avLst/>
          </a:prstGeom>
          <a:solidFill>
            <a:srgbClr val="2A5D8F"/>
          </a:solidFill>
          <a:ln/>
        </p:spPr>
      </p:sp>
      <p:sp>
        <p:nvSpPr>
          <p:cNvPr id="12" name="Text 10"/>
          <p:cNvSpPr/>
          <p:nvPr/>
        </p:nvSpPr>
        <p:spPr>
          <a:xfrm>
            <a:off x="3771867" y="2478894"/>
            <a:ext cx="1447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A5D8F"/>
                </a:solidFill>
                <a:latin typeface="Arial" pitchFamily="34" charset="0"/>
                <a:ea typeface="Arial" pitchFamily="34" charset="-122"/>
                <a:cs typeface="Arial" pitchFamily="34" charset="-120"/>
              </a:rPr>
              <a:t>Tm 0.206</a:t>
            </a:r>
            <a:endParaRPr lang="en-US" sz="1400" dirty="0"/>
          </a:p>
        </p:txBody>
      </p:sp>
      <p:sp>
        <p:nvSpPr>
          <p:cNvPr id="13" name="Shape 11"/>
          <p:cNvSpPr/>
          <p:nvPr/>
        </p:nvSpPr>
        <p:spPr>
          <a:xfrm>
            <a:off x="7048458" y="3050394"/>
            <a:ext cx="101575" cy="546075"/>
          </a:xfrm>
          <a:prstGeom prst="rect">
            <a:avLst/>
          </a:prstGeom>
          <a:solidFill>
            <a:srgbClr val="1C2733"/>
          </a:solidFill>
          <a:ln/>
        </p:spPr>
      </p:sp>
      <p:sp>
        <p:nvSpPr>
          <p:cNvPr id="14" name="Text 12"/>
          <p:cNvSpPr/>
          <p:nvPr/>
        </p:nvSpPr>
        <p:spPr>
          <a:xfrm>
            <a:off x="6375367" y="2478894"/>
            <a:ext cx="1447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C2733"/>
                </a:solidFill>
                <a:latin typeface="Arial" pitchFamily="34" charset="0"/>
                <a:ea typeface="Arial" pitchFamily="34" charset="-122"/>
                <a:cs typeface="Arial" pitchFamily="34" charset="-120"/>
              </a:rPr>
              <a:t>Teff 0.357</a:t>
            </a:r>
            <a:endParaRPr lang="en-US" sz="1400" dirty="0"/>
          </a:p>
        </p:txBody>
      </p:sp>
      <p:sp>
        <p:nvSpPr>
          <p:cNvPr id="15" name="Text 13"/>
          <p:cNvSpPr/>
          <p:nvPr/>
        </p:nvSpPr>
        <p:spPr>
          <a:xfrm>
            <a:off x="7797767" y="2478894"/>
            <a:ext cx="261620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672"/>
                </a:solidFill>
                <a:latin typeface="Arial" pitchFamily="34" charset="0"/>
                <a:ea typeface="Arial" pitchFamily="34" charset="-122"/>
                <a:cs typeface="Arial" pitchFamily="34" charset="-120"/>
              </a:rPr>
              <a:t>HU12 record, seconds</a:t>
            </a:r>
            <a:endParaRPr lang="en-US" sz="1400" dirty="0"/>
          </a:p>
        </p:txBody>
      </p:sp>
      <p:sp>
        <p:nvSpPr>
          <p:cNvPr id="16" name="Shape 14"/>
          <p:cNvSpPr/>
          <p:nvPr/>
        </p:nvSpPr>
        <p:spPr>
          <a:xfrm>
            <a:off x="812767" y="4244169"/>
            <a:ext cx="3386667" cy="0"/>
          </a:xfrm>
          <a:prstGeom prst="line">
            <a:avLst/>
          </a:prstGeom>
          <a:noFill/>
          <a:ln w="25400">
            <a:solidFill>
              <a:srgbClr val="B5571A"/>
            </a:solidFill>
            <a:prstDash val="solid"/>
          </a:ln>
        </p:spPr>
      </p:sp>
      <p:sp>
        <p:nvSpPr>
          <p:cNvPr id="17" name="Text 15"/>
          <p:cNvSpPr/>
          <p:nvPr/>
        </p:nvSpPr>
        <p:spPr>
          <a:xfrm>
            <a:off x="812767" y="4382281"/>
            <a:ext cx="3488267" cy="665444"/>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C2733"/>
                </a:solidFill>
                <a:latin typeface="Georgia" pitchFamily="18" charset="0"/>
                <a:ea typeface="Georgia" pitchFamily="18" charset="-122"/>
                <a:cs typeface="Georgia" pitchFamily="18" charset="-120"/>
              </a:rPr>
              <a:t>3.6 ×</a:t>
            </a:r>
            <a:endParaRPr lang="en-US" sz="3600" dirty="0"/>
          </a:p>
        </p:txBody>
      </p:sp>
      <p:sp>
        <p:nvSpPr>
          <p:cNvPr id="18" name="Text 16"/>
          <p:cNvSpPr/>
          <p:nvPr/>
        </p:nvSpPr>
        <p:spPr>
          <a:xfrm>
            <a:off x="812767" y="5073092"/>
            <a:ext cx="3488267"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record PGA needed by wave B (2.85 g at run 21)</a:t>
            </a:r>
            <a:endParaRPr lang="en-US" sz="1400" dirty="0"/>
          </a:p>
        </p:txBody>
      </p:sp>
      <p:sp>
        <p:nvSpPr>
          <p:cNvPr id="19" name="Shape 17"/>
          <p:cNvSpPr/>
          <p:nvPr/>
        </p:nvSpPr>
        <p:spPr>
          <a:xfrm>
            <a:off x="4402625" y="4244169"/>
            <a:ext cx="3386708" cy="0"/>
          </a:xfrm>
          <a:prstGeom prst="line">
            <a:avLst/>
          </a:prstGeom>
          <a:noFill/>
          <a:ln w="25400">
            <a:solidFill>
              <a:srgbClr val="B5571A"/>
            </a:solidFill>
            <a:prstDash val="solid"/>
          </a:ln>
        </p:spPr>
      </p:sp>
      <p:sp>
        <p:nvSpPr>
          <p:cNvPr id="20" name="Text 18"/>
          <p:cNvSpPr/>
          <p:nvPr/>
        </p:nvSpPr>
        <p:spPr>
          <a:xfrm>
            <a:off x="4402625" y="4382281"/>
            <a:ext cx="3488309" cy="665444"/>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C2733"/>
                </a:solidFill>
                <a:latin typeface="Georgia" pitchFamily="18" charset="0"/>
                <a:ea typeface="Georgia" pitchFamily="18" charset="-122"/>
                <a:cs typeface="Georgia" pitchFamily="18" charset="-120"/>
              </a:rPr>
              <a:t>5 ×</a:t>
            </a:r>
            <a:endParaRPr lang="en-US" sz="3600" dirty="0"/>
          </a:p>
        </p:txBody>
      </p:sp>
      <p:sp>
        <p:nvSpPr>
          <p:cNvPr id="21" name="Text 19"/>
          <p:cNvSpPr/>
          <p:nvPr/>
        </p:nvSpPr>
        <p:spPr>
          <a:xfrm>
            <a:off x="4402625" y="5073092"/>
            <a:ext cx="3488309"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overshoot of the Sd(T1) target: Tp sits next to T1</a:t>
            </a:r>
            <a:endParaRPr lang="en-US" sz="1400" dirty="0"/>
          </a:p>
        </p:txBody>
      </p:sp>
      <p:sp>
        <p:nvSpPr>
          <p:cNvPr id="22" name="Shape 20"/>
          <p:cNvSpPr/>
          <p:nvPr/>
        </p:nvSpPr>
        <p:spPr>
          <a:xfrm>
            <a:off x="7992525" y="4244169"/>
            <a:ext cx="3386708" cy="0"/>
          </a:xfrm>
          <a:prstGeom prst="line">
            <a:avLst/>
          </a:prstGeom>
          <a:noFill/>
          <a:ln w="25400">
            <a:solidFill>
              <a:srgbClr val="1C2733"/>
            </a:solidFill>
            <a:prstDash val="solid"/>
          </a:ln>
        </p:spPr>
      </p:sp>
      <p:sp>
        <p:nvSpPr>
          <p:cNvPr id="23" name="Text 21"/>
          <p:cNvSpPr/>
          <p:nvPr/>
        </p:nvSpPr>
        <p:spPr>
          <a:xfrm>
            <a:off x="7992525" y="4382281"/>
            <a:ext cx="3488309" cy="665444"/>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C2733"/>
                </a:solidFill>
                <a:latin typeface="Georgia" pitchFamily="18" charset="0"/>
                <a:ea typeface="Georgia" pitchFamily="18" charset="-122"/>
                <a:cs typeface="Georgia" pitchFamily="18" charset="-120"/>
              </a:rPr>
              <a:t>21 / 25</a:t>
            </a:r>
            <a:endParaRPr lang="en-US" sz="3600" dirty="0"/>
          </a:p>
        </p:txBody>
      </p:sp>
      <p:sp>
        <p:nvSpPr>
          <p:cNvPr id="24" name="Text 22"/>
          <p:cNvSpPr/>
          <p:nvPr/>
        </p:nvSpPr>
        <p:spPr>
          <a:xfrm>
            <a:off x="7992525" y="5073092"/>
            <a:ext cx="3488309"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runs flagged with Tp for both waves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3 · ROUTE 2 PERIODS</a:t>
            </a:r>
            <a:endParaRPr lang="en-US" sz="1200" dirty="0"/>
          </a:p>
        </p:txBody>
      </p:sp>
      <p:sp>
        <p:nvSpPr>
          <p:cNvPr id="3" name="Text 1"/>
          <p:cNvSpPr/>
          <p:nvPr>
            <p:ph type="title"/>
          </p:nvPr>
        </p:nvSpPr>
        <p:spPr>
          <a:xfrm>
            <a:off x="812767" y="1102277"/>
            <a:ext cx="11379233"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Wave A at Tp, wave B at Rathje’s mean period Tm</a:t>
            </a:r>
            <a:endParaRPr lang="en-US" sz="3200" dirty="0"/>
          </a:p>
        </p:txBody>
      </p:sp>
      <p:sp>
        <p:nvSpPr>
          <p:cNvPr id="4" name="Shape 2"/>
          <p:cNvSpPr/>
          <p:nvPr/>
        </p:nvSpPr>
        <p:spPr>
          <a:xfrm>
            <a:off x="812767" y="1904876"/>
            <a:ext cx="5665432" cy="2123281"/>
          </a:xfrm>
          <a:prstGeom prst="roundRect">
            <a:avLst>
              <a:gd name="adj" fmla="val 4785"/>
            </a:avLst>
          </a:prstGeom>
          <a:solidFill>
            <a:srgbClr val="1C2733"/>
          </a:solidFill>
          <a:ln/>
        </p:spPr>
      </p:sp>
      <p:sp>
        <p:nvSpPr>
          <p:cNvPr id="5" name="Text 3"/>
          <p:cNvSpPr/>
          <p:nvPr/>
        </p:nvSpPr>
        <p:spPr>
          <a:xfrm>
            <a:off x="1117534" y="2209639"/>
            <a:ext cx="5207575" cy="52323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F6F5F1"/>
                </a:solidFill>
                <a:latin typeface="Georgia" pitchFamily="18" charset="0"/>
                <a:ea typeface="Georgia" pitchFamily="18" charset="-122"/>
                <a:cs typeface="Georgia" pitchFamily="18" charset="-120"/>
              </a:rPr>
              <a:t>Tm = Σ (Ci² / fi) / Σ Ci²</a:t>
            </a:r>
            <a:endParaRPr lang="en-US" sz="2800" dirty="0"/>
          </a:p>
        </p:txBody>
      </p:sp>
      <p:sp>
        <p:nvSpPr>
          <p:cNvPr id="6" name="Text 4"/>
          <p:cNvSpPr/>
          <p:nvPr/>
        </p:nvSpPr>
        <p:spPr>
          <a:xfrm>
            <a:off x="1117534" y="2859856"/>
            <a:ext cx="5207575"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Ci = Fourier amplitudes of the record acceleration, 0.25 ≤ fi ≤ 20 Hz</a:t>
            </a:r>
            <a:endParaRPr lang="en-US" sz="1400" dirty="0"/>
          </a:p>
        </p:txBody>
      </p:sp>
      <p:sp>
        <p:nvSpPr>
          <p:cNvPr id="7" name="Text 5"/>
          <p:cNvSpPr/>
          <p:nvPr/>
        </p:nvSpPr>
        <p:spPr>
          <a:xfrm>
            <a:off x="1117534" y="3510068"/>
            <a:ext cx="52075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Rathje, Abrahamson &amp; Bray (1998); Rathje et al. (2004)</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93549" y="1915459"/>
          <a:ext cx="4585684" cy="1535741"/>
        </p:xfrm>
        <a:graphic>
          <a:graphicData uri="http://schemas.openxmlformats.org/drawingml/2006/table">
            <a:tbl>
              <a:tblPr/>
              <a:tblGrid>
                <a:gridCol w="1559132"/>
                <a:gridCol w="1513276"/>
                <a:gridCol w="1513276"/>
              </a:tblGrid>
              <a:tr h="383935">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Record</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Tp (s)</a:t>
                      </a:r>
                      <a:endParaRPr lang="en-US" sz="1400" dirty="0">
                        <a:latin typeface="Arial" charset="0"/>
                        <a:ea typeface="Arial" charset="0"/>
                        <a:cs typeface="Arial"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C2733"/>
                          </a:solidFill>
                          <a:latin typeface="Arial" pitchFamily="34" charset="0"/>
                          <a:ea typeface="Arial" pitchFamily="34" charset="-122"/>
                          <a:cs typeface="Arial" pitchFamily="34" charset="-120"/>
                        </a:rPr>
                        <a:t>Tm (s)</a:t>
                      </a:r>
                      <a:endParaRPr lang="en-US" sz="1400" dirty="0">
                        <a:latin typeface="Arial" charset="0"/>
                        <a:ea typeface="Arial" charset="0"/>
                        <a:cs typeface="Arial"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HU12</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0.121</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0.206</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EC40</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0.251</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0.544</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3935">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FR76</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0.261</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C2733"/>
                          </a:solidFill>
                          <a:latin typeface="Arial" pitchFamily="34" charset="0"/>
                          <a:ea typeface="Arial" pitchFamily="34" charset="-122"/>
                          <a:cs typeface="Arial" pitchFamily="34" charset="-120"/>
                        </a:rPr>
                        <a:t>0.374</a:t>
                      </a:r>
                      <a:endParaRPr lang="en-US" sz="1400" dirty="0">
                        <a:latin typeface="Arial" charset="0"/>
                        <a:ea typeface="Arial" charset="0"/>
                        <a:cs typeface="Arial"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9" name="Shape 6"/>
          <p:cNvSpPr/>
          <p:nvPr/>
        </p:nvSpPr>
        <p:spPr>
          <a:xfrm>
            <a:off x="815942" y="4386907"/>
            <a:ext cx="3383872" cy="1208129"/>
          </a:xfrm>
          <a:prstGeom prst="roundRect">
            <a:avLst>
              <a:gd name="adj" fmla="val 8147"/>
            </a:avLst>
          </a:prstGeom>
          <a:solidFill>
            <a:srgbClr val="FFFFFF"/>
          </a:solidFill>
          <a:ln w="6350">
            <a:solidFill>
              <a:srgbClr val="DCDDD8"/>
            </a:solidFill>
            <a:prstDash val="solid"/>
          </a:ln>
        </p:spPr>
      </p:sp>
      <p:sp>
        <p:nvSpPr>
          <p:cNvPr id="10" name="Text 7"/>
          <p:cNvSpPr/>
          <p:nvPr/>
        </p:nvSpPr>
        <p:spPr>
          <a:xfrm>
            <a:off x="1021250" y="4592216"/>
            <a:ext cx="306245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733"/>
                </a:solidFill>
                <a:latin typeface="Arial" pitchFamily="34" charset="0"/>
                <a:ea typeface="Arial" pitchFamily="34" charset="-122"/>
                <a:cs typeface="Arial" pitchFamily="34" charset="-120"/>
              </a:rPr>
              <a:t>(Tm, Tm)</a:t>
            </a:r>
            <a:endParaRPr lang="en-US" sz="1400" dirty="0"/>
          </a:p>
        </p:txBody>
      </p:sp>
      <p:sp>
        <p:nvSpPr>
          <p:cNvPr id="11" name="Text 8"/>
          <p:cNvSpPr/>
          <p:nvPr/>
        </p:nvSpPr>
        <p:spPr>
          <a:xfrm>
            <a:off x="1021250" y="4891894"/>
            <a:ext cx="3062453"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8 runs flagged: one shape cannot meet two targets</a:t>
            </a:r>
            <a:endParaRPr lang="en-US" sz="1400" dirty="0"/>
          </a:p>
        </p:txBody>
      </p:sp>
      <p:sp>
        <p:nvSpPr>
          <p:cNvPr id="12" name="Shape 9"/>
          <p:cNvSpPr/>
          <p:nvPr/>
        </p:nvSpPr>
        <p:spPr>
          <a:xfrm>
            <a:off x="4409356" y="4386907"/>
            <a:ext cx="3383872" cy="1208129"/>
          </a:xfrm>
          <a:prstGeom prst="roundRect">
            <a:avLst>
              <a:gd name="adj" fmla="val 8147"/>
            </a:avLst>
          </a:prstGeom>
          <a:solidFill>
            <a:srgbClr val="FFFFFF"/>
          </a:solidFill>
          <a:ln w="6350">
            <a:solidFill>
              <a:srgbClr val="DCDDD8"/>
            </a:solidFill>
            <a:prstDash val="solid"/>
          </a:ln>
        </p:spPr>
      </p:sp>
      <p:sp>
        <p:nvSpPr>
          <p:cNvPr id="13" name="Text 10"/>
          <p:cNvSpPr/>
          <p:nvPr/>
        </p:nvSpPr>
        <p:spPr>
          <a:xfrm>
            <a:off x="4614664" y="4592216"/>
            <a:ext cx="306245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733"/>
                </a:solidFill>
                <a:latin typeface="Arial" pitchFamily="34" charset="0"/>
                <a:ea typeface="Arial" pitchFamily="34" charset="-122"/>
                <a:cs typeface="Arial" pitchFamily="34" charset="-120"/>
              </a:rPr>
              <a:t>(Tp, Tp)</a:t>
            </a:r>
            <a:endParaRPr lang="en-US" sz="1400" dirty="0"/>
          </a:p>
        </p:txBody>
      </p:sp>
      <p:sp>
        <p:nvSpPr>
          <p:cNvPr id="14" name="Text 11"/>
          <p:cNvSpPr/>
          <p:nvPr/>
        </p:nvSpPr>
        <p:spPr>
          <a:xfrm>
            <a:off x="4614664" y="4891894"/>
            <a:ext cx="3062453"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21 runs flagged: 3 × PGA on HU12</a:t>
            </a:r>
            <a:endParaRPr lang="en-US" sz="1400" dirty="0"/>
          </a:p>
        </p:txBody>
      </p:sp>
      <p:sp>
        <p:nvSpPr>
          <p:cNvPr id="15" name="Shape 12"/>
          <p:cNvSpPr/>
          <p:nvPr/>
        </p:nvSpPr>
        <p:spPr>
          <a:xfrm>
            <a:off x="7999594" y="4383732"/>
            <a:ext cx="3379639" cy="1214479"/>
          </a:xfrm>
          <a:prstGeom prst="roundRect">
            <a:avLst>
              <a:gd name="adj" fmla="val 8366"/>
            </a:avLst>
          </a:prstGeom>
          <a:solidFill>
            <a:srgbClr val="2A5D8F"/>
          </a:solidFill>
          <a:ln/>
        </p:spPr>
      </p:sp>
      <p:sp>
        <p:nvSpPr>
          <p:cNvPr id="16" name="Text 13"/>
          <p:cNvSpPr/>
          <p:nvPr/>
        </p:nvSpPr>
        <p:spPr>
          <a:xfrm>
            <a:off x="8202786" y="4586920"/>
            <a:ext cx="3062453"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Arial" pitchFamily="34" charset="0"/>
                <a:ea typeface="Arial" pitchFamily="34" charset="-122"/>
                <a:cs typeface="Arial" pitchFamily="34" charset="-120"/>
              </a:rPr>
              <a:t>(Tp, Tm)</a:t>
            </a:r>
            <a:endParaRPr lang="en-US" sz="1400" dirty="0"/>
          </a:p>
        </p:txBody>
      </p:sp>
      <p:sp>
        <p:nvSpPr>
          <p:cNvPr id="17" name="Text 14"/>
          <p:cNvSpPr/>
          <p:nvPr/>
        </p:nvSpPr>
        <p:spPr>
          <a:xfrm>
            <a:off x="8202786" y="4886604"/>
            <a:ext cx="3062453"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7F1"/>
                </a:solidFill>
                <a:latin typeface="Arial" pitchFamily="34" charset="0"/>
                <a:ea typeface="Arial" pitchFamily="34" charset="-122"/>
                <a:cs typeface="Arial" pitchFamily="34" charset="-120"/>
              </a:rPr>
              <a:t>0 flagged: both targets met on all 25 runs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4 · RESULTS</a:t>
            </a:r>
            <a:endParaRPr lang="en-US" sz="1200" dirty="0"/>
          </a:p>
        </p:txBody>
      </p:sp>
      <p:sp>
        <p:nvSpPr>
          <p:cNvPr id="3" name="Text 1"/>
          <p:cNvSpPr/>
          <p:nvPr>
            <p:ph type="title"/>
          </p:nvPr>
        </p:nvSpPr>
        <p:spPr>
          <a:xfrm>
            <a:off x="812767" y="1102277"/>
            <a:ext cx="10883460"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733"/>
                </a:solidFill>
                <a:latin typeface="Georgia" pitchFamily="18" charset="0"/>
                <a:ea typeface="Georgia" pitchFamily="18" charset="-122"/>
                <a:cs typeface="Georgia" pitchFamily="18" charset="-120"/>
              </a:rPr>
              <a:t>Input: the table delivers the designed signal</a:t>
            </a:r>
            <a:endParaRPr lang="en-US" sz="3200" dirty="0"/>
          </a:p>
        </p:txBody>
      </p:sp>
      <p:pic>
        <p:nvPicPr>
          <p:cNvPr id="4" name="Image 0" descr="Designed vs achieved table PGA by run, and the spectral-displacement error of both waves, all within 0.5 percent">    </p:cNvPr>
          <p:cNvPicPr>
            <a:picLocks noChangeAspect="1"/>
          </p:cNvPicPr>
          <p:nvPr/>
        </p:nvPicPr>
        <p:blipFill>
          <a:blip r:embed="rId1"/>
          <a:srcRect l="-8343" r="-8343" t="0" b="0"/>
          <a:stretch/>
        </p:blipFill>
        <p:spPr>
          <a:xfrm>
            <a:off x="812767" y="1752488"/>
            <a:ext cx="6985000" cy="4064000"/>
          </a:xfrm>
          <a:prstGeom prst="rect">
            <a:avLst/>
          </a:prstGeom>
        </p:spPr>
      </p:pic>
      <p:sp>
        <p:nvSpPr>
          <p:cNvPr id="5" name="Shape 2"/>
          <p:cNvSpPr/>
          <p:nvPr/>
        </p:nvSpPr>
        <p:spPr>
          <a:xfrm>
            <a:off x="8102533" y="2455174"/>
            <a:ext cx="3276699" cy="0"/>
          </a:xfrm>
          <a:prstGeom prst="line">
            <a:avLst/>
          </a:prstGeom>
          <a:noFill/>
          <a:ln w="25400">
            <a:solidFill>
              <a:srgbClr val="2A5D8F"/>
            </a:solidFill>
            <a:prstDash val="solid"/>
          </a:ln>
        </p:spPr>
      </p:sp>
      <p:sp>
        <p:nvSpPr>
          <p:cNvPr id="6" name="Text 3"/>
          <p:cNvSpPr/>
          <p:nvPr/>
        </p:nvSpPr>
        <p:spPr>
          <a:xfrm>
            <a:off x="8102533" y="2593287"/>
            <a:ext cx="3375000" cy="665444"/>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C2733"/>
                </a:solidFill>
                <a:latin typeface="Georgia" pitchFamily="18" charset="0"/>
                <a:ea typeface="Georgia" pitchFamily="18" charset="-122"/>
                <a:cs typeface="Georgia" pitchFamily="18" charset="-120"/>
              </a:rPr>
              <a:t>&lt; 0.5 %</a:t>
            </a:r>
            <a:endParaRPr lang="en-US" sz="3600" dirty="0"/>
          </a:p>
        </p:txBody>
      </p:sp>
      <p:sp>
        <p:nvSpPr>
          <p:cNvPr id="7" name="Text 4"/>
          <p:cNvSpPr/>
          <p:nvPr/>
        </p:nvSpPr>
        <p:spPr>
          <a:xfrm>
            <a:off x="8102533" y="3284097"/>
            <a:ext cx="337500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Sd error, both waves, all 25 runs</a:t>
            </a:r>
            <a:endParaRPr lang="en-US" sz="1400" dirty="0"/>
          </a:p>
        </p:txBody>
      </p:sp>
      <p:sp>
        <p:nvSpPr>
          <p:cNvPr id="8" name="Shape 5"/>
          <p:cNvSpPr/>
          <p:nvPr/>
        </p:nvSpPr>
        <p:spPr>
          <a:xfrm>
            <a:off x="8102533" y="3799712"/>
            <a:ext cx="3276699" cy="0"/>
          </a:xfrm>
          <a:prstGeom prst="line">
            <a:avLst/>
          </a:prstGeom>
          <a:noFill/>
          <a:ln w="25400">
            <a:solidFill>
              <a:srgbClr val="1C2733"/>
            </a:solidFill>
            <a:prstDash val="solid"/>
          </a:ln>
        </p:spPr>
      </p:sp>
      <p:sp>
        <p:nvSpPr>
          <p:cNvPr id="9" name="Text 6"/>
          <p:cNvSpPr/>
          <p:nvPr/>
        </p:nvSpPr>
        <p:spPr>
          <a:xfrm>
            <a:off x="8102533" y="3937825"/>
            <a:ext cx="3375000" cy="665444"/>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C2733"/>
                </a:solidFill>
                <a:latin typeface="Georgia" pitchFamily="18" charset="0"/>
                <a:ea typeface="Georgia" pitchFamily="18" charset="-122"/>
                <a:cs typeface="Georgia" pitchFamily="18" charset="-120"/>
              </a:rPr>
              <a:t>0.74 g</a:t>
            </a:r>
            <a:endParaRPr lang="en-US" sz="3600" dirty="0"/>
          </a:p>
        </p:txBody>
      </p:sp>
      <p:sp>
        <p:nvSpPr>
          <p:cNvPr id="10" name="Text 7"/>
          <p:cNvSpPr/>
          <p:nvPr/>
        </p:nvSpPr>
        <p:spPr>
          <a:xfrm>
            <a:off x="8102533" y="4628635"/>
            <a:ext cx="3375000"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highest table PGA (run 25); below the record on HU12</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3"/>
            <a:ext cx="10883460" cy="189896"/>
          </a:xfrm>
          <a:prstGeom prst="rect">
            <a:avLst/>
          </a:prstGeom>
          <a:noFill/>
          <a:ln/>
        </p:spPr>
        <p:txBody>
          <a:bodyPr wrap="square" lIns="0" tIns="0" rIns="0" bIns="0" rtlCol="0" anchor="t">
            <a:normAutofit/>
          </a:bodyPr>
          <a:lstStyle/>
          <a:p>
            <a:pPr algn="l" indent="0" marL="0">
              <a:lnSpc>
                <a:spcPts val="1323"/>
              </a:lnSpc>
              <a:buNone/>
            </a:pPr>
            <a:r>
              <a:rPr lang="en-US" sz="945" spc="100" kern="0" dirty="0">
                <a:solidFill>
                  <a:srgbClr val="B5571A"/>
                </a:solidFill>
                <a:latin typeface="Arial" pitchFamily="34" charset="0"/>
                <a:ea typeface="Arial" pitchFamily="34" charset="-122"/>
                <a:cs typeface="Arial" pitchFamily="34" charset="-120"/>
              </a:rPr>
              <a:t>4 · RESULTS</a:t>
            </a:r>
            <a:endParaRPr lang="en-US" sz="945" dirty="0"/>
          </a:p>
        </p:txBody>
      </p:sp>
      <p:sp>
        <p:nvSpPr>
          <p:cNvPr id="3" name="Text 1"/>
          <p:cNvSpPr/>
          <p:nvPr>
            <p:ph type="title"/>
          </p:nvPr>
        </p:nvSpPr>
        <p:spPr>
          <a:xfrm>
            <a:off x="812767" y="1053455"/>
            <a:ext cx="11379233" cy="714846"/>
          </a:xfrm>
          <a:prstGeom prst="rect">
            <a:avLst/>
          </a:prstGeom>
          <a:noFill/>
          <a:ln/>
        </p:spPr>
        <p:txBody>
          <a:bodyPr wrap="square" lIns="0" tIns="0" rIns="0" bIns="0" rtlCol="0" anchor="t">
            <a:normAutofit/>
          </a:bodyPr>
          <a:lstStyle/>
          <a:p>
            <a:pPr algn="l" indent="0" marL="0">
              <a:lnSpc>
                <a:spcPts val="2926"/>
              </a:lnSpc>
              <a:buNone/>
            </a:pPr>
            <a:r>
              <a:rPr lang="en-US" sz="2660" b="1" i="0" dirty="0">
                <a:solidFill>
                  <a:srgbClr val="1C2733"/>
                </a:solidFill>
                <a:latin typeface="Georgia" pitchFamily="18" charset="0"/>
                <a:ea typeface="Georgia" pitchFamily="18" charset="-122"/>
                <a:cs typeface="Georgia" pitchFamily="18" charset="-120"/>
              </a:rPr>
              <a:t>Peak displacement: Strategy F tracks US-1, Route 2 runs high</a:t>
            </a:r>
            <a:endParaRPr lang="en-US" sz="2660" dirty="0"/>
          </a:p>
        </p:txBody>
      </p:sp>
      <p:pic>
        <p:nvPicPr>
          <p:cNvPr id="4" name="Image 0" descr="Peak out-of-plane displacement by run 1 to 25 for Route 2, Strategy F, US-1 and US-2; FR76 runs 22 to 25 shaded">    </p:cNvPr>
          <p:cNvPicPr>
            <a:picLocks noChangeAspect="1"/>
          </p:cNvPicPr>
          <p:nvPr/>
        </p:nvPicPr>
        <p:blipFill>
          <a:blip r:embed="rId1"/>
          <a:srcRect l="-13641" r="-13641" t="0" b="0"/>
          <a:stretch/>
        </p:blipFill>
        <p:spPr>
          <a:xfrm>
            <a:off x="812767" y="1946089"/>
            <a:ext cx="10566383" cy="2475218"/>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4635082"/>
          <a:ext cx="10555883" cy="1209146"/>
        </p:xfrm>
        <a:graphic>
          <a:graphicData uri="http://schemas.openxmlformats.org/drawingml/2006/table">
            <a:tbl>
              <a:tblPr/>
              <a:tblGrid>
                <a:gridCol w="2638971"/>
                <a:gridCol w="2638971"/>
                <a:gridCol w="2638971"/>
                <a:gridCol w="2638971"/>
              </a:tblGrid>
              <a:tr h="302286">
                <a:tc>
                  <a:txBody>
                    <a:bodyPr/>
                    <a:lstStyle/>
                    <a:p>
                      <a:pPr indent="0" marL="0">
                        <a:lnSpc>
                          <a:spcPts val="1531"/>
                        </a:lnSpc>
                        <a:buNone/>
                      </a:pPr>
                      <a:r>
                        <a:rPr lang="en-US" sz="1094" b="1" dirty="0">
                          <a:solidFill>
                            <a:srgbClr val="1C2733"/>
                          </a:solidFill>
                          <a:latin typeface="Arial" pitchFamily="34" charset="0"/>
                          <a:ea typeface="Arial" pitchFamily="34" charset="-122"/>
                          <a:cs typeface="Arial" pitchFamily="34" charset="-120"/>
                        </a:rPr>
                        <a:t>Peak (mm)</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531"/>
                        </a:lnSpc>
                        <a:buNone/>
                      </a:pPr>
                      <a:r>
                        <a:rPr lang="en-US" sz="1094" b="1" dirty="0">
                          <a:solidFill>
                            <a:srgbClr val="1C2733"/>
                          </a:solidFill>
                          <a:latin typeface="Arial" pitchFamily="34" charset="0"/>
                          <a:ea typeface="Arial" pitchFamily="34" charset="-122"/>
                          <a:cs typeface="Arial" pitchFamily="34" charset="-120"/>
                        </a:rPr>
                        <a:t>Route 2</a:t>
                      </a:r>
                      <a:endParaRPr lang="en-US" sz="1094" dirty="0">
                        <a:latin typeface="Arial" charset="0"/>
                        <a:ea typeface="Arial" charset="0"/>
                        <a:cs typeface="Arial" charset="0"/>
                      </a:endParaRPr>
                    </a:p>
                  </a:txBody>
                  <a:tcPr marL="48617" marR="48617" marT="48617" marB="48617"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531"/>
                        </a:lnSpc>
                        <a:buNone/>
                      </a:pPr>
                      <a:r>
                        <a:rPr lang="en-US" sz="1094" b="1" dirty="0">
                          <a:solidFill>
                            <a:srgbClr val="1C2733"/>
                          </a:solidFill>
                          <a:latin typeface="Arial" pitchFamily="34" charset="0"/>
                          <a:ea typeface="Arial" pitchFamily="34" charset="-122"/>
                          <a:cs typeface="Arial" pitchFamily="34" charset="-120"/>
                        </a:rPr>
                        <a:t>Strategy F</a:t>
                      </a:r>
                      <a:endParaRPr lang="en-US" sz="1094" dirty="0">
                        <a:latin typeface="Arial" charset="0"/>
                        <a:ea typeface="Arial" charset="0"/>
                        <a:cs typeface="Arial" charset="0"/>
                      </a:endParaRPr>
                    </a:p>
                  </a:txBody>
                  <a:tcPr marL="48617" marR="48617" marT="48617" marB="48617"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531"/>
                        </a:lnSpc>
                        <a:buNone/>
                      </a:pPr>
                      <a:r>
                        <a:rPr lang="en-US" sz="1094" b="1" dirty="0">
                          <a:solidFill>
                            <a:srgbClr val="1C2733"/>
                          </a:solidFill>
                          <a:latin typeface="Arial" pitchFamily="34" charset="0"/>
                          <a:ea typeface="Arial" pitchFamily="34" charset="-122"/>
                          <a:cs typeface="Arial" pitchFamily="34" charset="-120"/>
                        </a:rPr>
                        <a:t>US-1</a:t>
                      </a:r>
                      <a:endParaRPr lang="en-US" sz="1094" dirty="0">
                        <a:latin typeface="Arial" charset="0"/>
                        <a:ea typeface="Arial" charset="0"/>
                        <a:cs typeface="Arial" charset="0"/>
                      </a:endParaRPr>
                    </a:p>
                  </a:txBody>
                  <a:tcPr marL="48617" marR="48617" marT="48617" marB="48617"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02286">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Run 15</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9.9</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4.3</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3.7</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02286">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Run 21</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20.2</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12.9</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16.4</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02286">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Run 24</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45.4</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45.3</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31"/>
                        </a:lnSpc>
                        <a:buNone/>
                      </a:pPr>
                      <a:r>
                        <a:rPr lang="en-US" sz="1094" dirty="0">
                          <a:solidFill>
                            <a:srgbClr val="1C2733"/>
                          </a:solidFill>
                          <a:latin typeface="Arial" pitchFamily="34" charset="0"/>
                          <a:ea typeface="Arial" pitchFamily="34" charset="-122"/>
                          <a:cs typeface="Arial" pitchFamily="34" charset="-120"/>
                        </a:rPr>
                        <a:t>29.3</a:t>
                      </a:r>
                      <a:endParaRPr lang="en-US" sz="1094" dirty="0">
                        <a:latin typeface="Arial" charset="0"/>
                        <a:ea typeface="Arial" charset="0"/>
                        <a:cs typeface="Arial" charset="0"/>
                      </a:endParaRPr>
                    </a:p>
                  </a:txBody>
                  <a:tcPr marL="48617" marR="48617" marT="48617" marB="48617"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2"/>
          <p:cNvSpPr/>
          <p:nvPr/>
        </p:nvSpPr>
        <p:spPr>
          <a:xfrm>
            <a:off x="812767" y="6238292"/>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x-axis: runs 1–25, shaded = FR76 (22–25)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697260"/>
            <a:ext cx="12547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571A"/>
                </a:solidFill>
                <a:latin typeface="Arial" pitchFamily="34" charset="0"/>
                <a:ea typeface="Arial" pitchFamily="34" charset="-122"/>
                <a:cs typeface="Arial" pitchFamily="34" charset="-120"/>
              </a:rPr>
              <a:t>4 · RESULTS</a:t>
            </a:r>
            <a:endParaRPr lang="en-US" sz="1200" dirty="0"/>
          </a:p>
        </p:txBody>
      </p:sp>
      <p:sp>
        <p:nvSpPr>
          <p:cNvPr id="3" name="Text 1"/>
          <p:cNvSpPr/>
          <p:nvPr>
            <p:ph type="title"/>
          </p:nvPr>
        </p:nvSpPr>
        <p:spPr>
          <a:xfrm>
            <a:off x="2067471" y="608372"/>
            <a:ext cx="6006604" cy="41657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C2733"/>
                </a:solidFill>
                <a:latin typeface="Georgia" pitchFamily="18" charset="0"/>
                <a:ea typeface="Georgia" pitchFamily="18" charset="-122"/>
                <a:cs typeface="Georgia" pitchFamily="18" charset="-120"/>
              </a:rPr>
              <a:t>Hysteresis loops at six runs</a:t>
            </a:r>
            <a:endParaRPr lang="en-US" sz="2800" dirty="0"/>
          </a:p>
        </p:txBody>
      </p:sp>
      <p:pic>
        <p:nvPicPr>
          <p:cNvPr id="4" name="Image 0" descr="Base shear against displacement for Route 2, Strategy F, US-1 and US-2 at runs 1, 15, 18, 21, 23 and 24">    </p:cNvPr>
          <p:cNvPicPr>
            <a:picLocks noChangeAspect="1"/>
          </p:cNvPicPr>
          <p:nvPr/>
        </p:nvPicPr>
        <p:blipFill>
          <a:blip r:embed="rId1"/>
          <a:srcRect l="-6689" r="-6689" t="0" b="0"/>
          <a:stretch/>
        </p:blipFill>
        <p:spPr>
          <a:xfrm>
            <a:off x="812767" y="1150689"/>
            <a:ext cx="10566383" cy="53009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3"/>
            <a:ext cx="10883460" cy="215528"/>
          </a:xfrm>
          <a:prstGeom prst="rect">
            <a:avLst/>
          </a:prstGeom>
          <a:noFill/>
          <a:ln/>
        </p:spPr>
        <p:txBody>
          <a:bodyPr wrap="square" lIns="0" tIns="0" rIns="0" bIns="0" rtlCol="0" anchor="t">
            <a:normAutofit/>
          </a:bodyPr>
          <a:lstStyle/>
          <a:p>
            <a:pPr algn="l" indent="0" marL="0">
              <a:lnSpc>
                <a:spcPts val="1523"/>
              </a:lnSpc>
              <a:buNone/>
            </a:pPr>
            <a:r>
              <a:rPr lang="en-US" sz="1088" spc="100" kern="0" dirty="0">
                <a:solidFill>
                  <a:srgbClr val="B5571A"/>
                </a:solidFill>
                <a:latin typeface="Arial" pitchFamily="34" charset="0"/>
                <a:ea typeface="Arial" pitchFamily="34" charset="-122"/>
                <a:cs typeface="Arial" pitchFamily="34" charset="-120"/>
              </a:rPr>
              <a:t>4 · RESULTS</a:t>
            </a:r>
            <a:endParaRPr lang="en-US" sz="1088" dirty="0"/>
          </a:p>
        </p:txBody>
      </p:sp>
      <p:sp>
        <p:nvSpPr>
          <p:cNvPr id="3" name="Text 1"/>
          <p:cNvSpPr/>
          <p:nvPr>
            <p:ph type="title"/>
          </p:nvPr>
        </p:nvSpPr>
        <p:spPr>
          <a:xfrm>
            <a:off x="812767" y="1079085"/>
            <a:ext cx="10883460" cy="423722"/>
          </a:xfrm>
          <a:prstGeom prst="rect">
            <a:avLst/>
          </a:prstGeom>
          <a:noFill/>
          <a:ln/>
        </p:spPr>
        <p:txBody>
          <a:bodyPr wrap="square" lIns="0" tIns="0" rIns="0" bIns="0" rtlCol="0" anchor="t">
            <a:normAutofit/>
          </a:bodyPr>
          <a:lstStyle/>
          <a:p>
            <a:pPr algn="l" indent="0" marL="0">
              <a:lnSpc>
                <a:spcPts val="3168"/>
              </a:lnSpc>
              <a:buNone/>
            </a:pPr>
            <a:r>
              <a:rPr lang="en-US" sz="2880" b="1" i="0" dirty="0">
                <a:solidFill>
                  <a:srgbClr val="1C2733"/>
                </a:solidFill>
                <a:latin typeface="Georgia" pitchFamily="18" charset="0"/>
                <a:ea typeface="Georgia" pitchFamily="18" charset="-122"/>
                <a:cs typeface="Georgia" pitchFamily="18" charset="-120"/>
              </a:rPr>
              <a:t>Peak base shear: both models above the tests</a:t>
            </a:r>
            <a:endParaRPr lang="en-US" sz="2880" dirty="0"/>
          </a:p>
        </p:txBody>
      </p:sp>
      <p:pic>
        <p:nvPicPr>
          <p:cNvPr id="4" name="Image 0" descr="Peak base shear by run with the group's formula: Route 2 and Strategy F above US-1 and US-2">    </p:cNvPr>
          <p:cNvPicPr>
            <a:picLocks noChangeAspect="1"/>
          </p:cNvPicPr>
          <p:nvPr/>
        </p:nvPicPr>
        <p:blipFill>
          <a:blip r:embed="rId1"/>
          <a:srcRect l="-5436" r="-5436" t="0" b="0"/>
          <a:stretch/>
        </p:blipFill>
        <p:spPr>
          <a:xfrm>
            <a:off x="812767" y="1680598"/>
            <a:ext cx="10566383" cy="3180416"/>
          </a:xfrm>
          <a:prstGeom prst="rect">
            <a:avLst/>
          </a:prstGeom>
        </p:spPr>
      </p:pic>
      <p:sp>
        <p:nvSpPr>
          <p:cNvPr id="5" name="Shape 2"/>
          <p:cNvSpPr/>
          <p:nvPr/>
        </p:nvSpPr>
        <p:spPr>
          <a:xfrm>
            <a:off x="812767" y="5076906"/>
            <a:ext cx="3386667" cy="0"/>
          </a:xfrm>
          <a:prstGeom prst="line">
            <a:avLst/>
          </a:prstGeom>
          <a:noFill/>
          <a:ln w="25400">
            <a:solidFill>
              <a:srgbClr val="C0504D"/>
            </a:solidFill>
            <a:prstDash val="solid"/>
          </a:ln>
        </p:spPr>
      </p:sp>
      <p:sp>
        <p:nvSpPr>
          <p:cNvPr id="6" name="Text 3"/>
          <p:cNvSpPr/>
          <p:nvPr/>
        </p:nvSpPr>
        <p:spPr>
          <a:xfrm>
            <a:off x="812767" y="5189593"/>
            <a:ext cx="3488267" cy="464319"/>
          </a:xfrm>
          <a:prstGeom prst="rect">
            <a:avLst/>
          </a:prstGeom>
          <a:noFill/>
          <a:ln/>
        </p:spPr>
        <p:txBody>
          <a:bodyPr wrap="square" lIns="0" tIns="0" rIns="0" bIns="0" rtlCol="0" anchor="t">
            <a:normAutofit/>
          </a:bodyPr>
          <a:lstStyle/>
          <a:p>
            <a:pPr algn="l" indent="0" marL="0">
              <a:lnSpc>
                <a:spcPts val="3467"/>
              </a:lnSpc>
              <a:buNone/>
            </a:pPr>
            <a:r>
              <a:rPr lang="en-US" sz="2476" b="1" dirty="0">
                <a:solidFill>
                  <a:srgbClr val="1C2733"/>
                </a:solidFill>
                <a:latin typeface="Georgia" pitchFamily="18" charset="0"/>
                <a:ea typeface="Georgia" pitchFamily="18" charset="-122"/>
                <a:cs typeface="Georgia" pitchFamily="18" charset="-120"/>
              </a:rPr>
              <a:t>17.0 kN</a:t>
            </a:r>
            <a:endParaRPr lang="en-US" sz="2476" dirty="0"/>
          </a:p>
        </p:txBody>
      </p:sp>
      <p:sp>
        <p:nvSpPr>
          <p:cNvPr id="7" name="Text 4"/>
          <p:cNvSpPr/>
          <p:nvPr/>
        </p:nvSpPr>
        <p:spPr>
          <a:xfrm>
            <a:off x="812767" y="5653894"/>
            <a:ext cx="3488267" cy="213502"/>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672"/>
                </a:solidFill>
                <a:latin typeface="Arial" pitchFamily="34" charset="0"/>
                <a:ea typeface="Arial" pitchFamily="34" charset="-122"/>
                <a:cs typeface="Arial" pitchFamily="34" charset="-120"/>
              </a:rPr>
              <a:t>Route 2, run 23</a:t>
            </a:r>
            <a:endParaRPr lang="en-US" sz="1088" dirty="0"/>
          </a:p>
        </p:txBody>
      </p:sp>
      <p:sp>
        <p:nvSpPr>
          <p:cNvPr id="8" name="Shape 5"/>
          <p:cNvSpPr/>
          <p:nvPr/>
        </p:nvSpPr>
        <p:spPr>
          <a:xfrm>
            <a:off x="4402625" y="5076906"/>
            <a:ext cx="3386708" cy="0"/>
          </a:xfrm>
          <a:prstGeom prst="line">
            <a:avLst/>
          </a:prstGeom>
          <a:noFill/>
          <a:ln w="25400">
            <a:solidFill>
              <a:srgbClr val="5E9E94"/>
            </a:solidFill>
            <a:prstDash val="solid"/>
          </a:ln>
        </p:spPr>
      </p:sp>
      <p:sp>
        <p:nvSpPr>
          <p:cNvPr id="9" name="Text 6"/>
          <p:cNvSpPr/>
          <p:nvPr/>
        </p:nvSpPr>
        <p:spPr>
          <a:xfrm>
            <a:off x="4402625" y="5189593"/>
            <a:ext cx="3488309" cy="464319"/>
          </a:xfrm>
          <a:prstGeom prst="rect">
            <a:avLst/>
          </a:prstGeom>
          <a:noFill/>
          <a:ln/>
        </p:spPr>
        <p:txBody>
          <a:bodyPr wrap="square" lIns="0" tIns="0" rIns="0" bIns="0" rtlCol="0" anchor="t">
            <a:normAutofit/>
          </a:bodyPr>
          <a:lstStyle/>
          <a:p>
            <a:pPr algn="l" indent="0" marL="0">
              <a:lnSpc>
                <a:spcPts val="3467"/>
              </a:lnSpc>
              <a:buNone/>
            </a:pPr>
            <a:r>
              <a:rPr lang="en-US" sz="2476" b="1" dirty="0">
                <a:solidFill>
                  <a:srgbClr val="1C2733"/>
                </a:solidFill>
                <a:latin typeface="Georgia" pitchFamily="18" charset="0"/>
                <a:ea typeface="Georgia" pitchFamily="18" charset="-122"/>
                <a:cs typeface="Georgia" pitchFamily="18" charset="-120"/>
              </a:rPr>
              <a:t>14.2 kN</a:t>
            </a:r>
            <a:endParaRPr lang="en-US" sz="2476" dirty="0"/>
          </a:p>
        </p:txBody>
      </p:sp>
      <p:sp>
        <p:nvSpPr>
          <p:cNvPr id="10" name="Text 7"/>
          <p:cNvSpPr/>
          <p:nvPr/>
        </p:nvSpPr>
        <p:spPr>
          <a:xfrm>
            <a:off x="4402625" y="5653894"/>
            <a:ext cx="3488309" cy="213502"/>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672"/>
                </a:solidFill>
                <a:latin typeface="Arial" pitchFamily="34" charset="0"/>
                <a:ea typeface="Arial" pitchFamily="34" charset="-122"/>
                <a:cs typeface="Arial" pitchFamily="34" charset="-120"/>
              </a:rPr>
              <a:t>Strategy F, run 23</a:t>
            </a:r>
            <a:endParaRPr lang="en-US" sz="1088" dirty="0"/>
          </a:p>
        </p:txBody>
      </p:sp>
      <p:sp>
        <p:nvSpPr>
          <p:cNvPr id="11" name="Shape 8"/>
          <p:cNvSpPr/>
          <p:nvPr/>
        </p:nvSpPr>
        <p:spPr>
          <a:xfrm>
            <a:off x="7992525" y="5076906"/>
            <a:ext cx="3386708" cy="0"/>
          </a:xfrm>
          <a:prstGeom prst="line">
            <a:avLst/>
          </a:prstGeom>
          <a:noFill/>
          <a:ln w="25400">
            <a:solidFill>
              <a:srgbClr val="1C2733"/>
            </a:solidFill>
            <a:prstDash val="solid"/>
          </a:ln>
        </p:spPr>
      </p:sp>
      <p:sp>
        <p:nvSpPr>
          <p:cNvPr id="12" name="Text 9"/>
          <p:cNvSpPr/>
          <p:nvPr/>
        </p:nvSpPr>
        <p:spPr>
          <a:xfrm>
            <a:off x="7992525" y="5189593"/>
            <a:ext cx="3488309" cy="464319"/>
          </a:xfrm>
          <a:prstGeom prst="rect">
            <a:avLst/>
          </a:prstGeom>
          <a:noFill/>
          <a:ln/>
        </p:spPr>
        <p:txBody>
          <a:bodyPr wrap="square" lIns="0" tIns="0" rIns="0" bIns="0" rtlCol="0" anchor="t">
            <a:normAutofit/>
          </a:bodyPr>
          <a:lstStyle/>
          <a:p>
            <a:pPr algn="l" indent="0" marL="0">
              <a:lnSpc>
                <a:spcPts val="3467"/>
              </a:lnSpc>
              <a:buNone/>
            </a:pPr>
            <a:r>
              <a:rPr lang="en-US" sz="2476" b="1" dirty="0">
                <a:solidFill>
                  <a:srgbClr val="1C2733"/>
                </a:solidFill>
                <a:latin typeface="Georgia" pitchFamily="18" charset="0"/>
                <a:ea typeface="Georgia" pitchFamily="18" charset="-122"/>
                <a:cs typeface="Georgia" pitchFamily="18" charset="-120"/>
              </a:rPr>
              <a:t>10.6 kN</a:t>
            </a:r>
            <a:endParaRPr lang="en-US" sz="2476" dirty="0"/>
          </a:p>
        </p:txBody>
      </p:sp>
      <p:sp>
        <p:nvSpPr>
          <p:cNvPr id="13" name="Text 10"/>
          <p:cNvSpPr/>
          <p:nvPr/>
        </p:nvSpPr>
        <p:spPr>
          <a:xfrm>
            <a:off x="7992525" y="5653894"/>
            <a:ext cx="3488309" cy="213502"/>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672"/>
                </a:solidFill>
                <a:latin typeface="Arial" pitchFamily="34" charset="0"/>
                <a:ea typeface="Arial" pitchFamily="34" charset="-122"/>
                <a:cs typeface="Arial" pitchFamily="34" charset="-120"/>
              </a:rPr>
              <a:t>US-1, run 23</a:t>
            </a:r>
            <a:endParaRPr lang="en-US" sz="108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767" y="812763"/>
            <a:ext cx="10883460" cy="233801"/>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B5571A"/>
                </a:solidFill>
                <a:latin typeface="Arial" pitchFamily="34" charset="0"/>
                <a:ea typeface="Arial" pitchFamily="34" charset="-122"/>
                <a:cs typeface="Arial" pitchFamily="34" charset="-120"/>
              </a:rPr>
              <a:t>4 · RESULTS</a:t>
            </a:r>
            <a:endParaRPr lang="en-US" sz="1196" dirty="0"/>
          </a:p>
        </p:txBody>
      </p:sp>
      <p:sp>
        <p:nvSpPr>
          <p:cNvPr id="3" name="Text 1"/>
          <p:cNvSpPr/>
          <p:nvPr>
            <p:ph type="title"/>
          </p:nvPr>
        </p:nvSpPr>
        <p:spPr>
          <a:xfrm>
            <a:off x="812767" y="1097359"/>
            <a:ext cx="10883460" cy="46212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C2733"/>
                </a:solidFill>
                <a:latin typeface="Georgia" pitchFamily="18" charset="0"/>
                <a:ea typeface="Georgia" pitchFamily="18" charset="-122"/>
                <a:cs typeface="Georgia" pitchFamily="18" charset="-120"/>
              </a:rPr>
              <a:t>Route 2 delivers its own target</a:t>
            </a:r>
            <a:endParaRPr lang="en-US" sz="3150" dirty="0"/>
          </a:p>
        </p:txBody>
      </p:sp>
      <p:pic>
        <p:nvPicPr>
          <p:cNvPr id="4" name="Image 0" descr="Route 2 peak displacement against the wave-B target Sd(T_eff), log scales, with 1:1 and factor-2 lines">    </p:cNvPr>
          <p:cNvPicPr>
            <a:picLocks noChangeAspect="1"/>
          </p:cNvPicPr>
          <p:nvPr/>
        </p:nvPicPr>
        <p:blipFill>
          <a:blip r:embed="rId1"/>
          <a:srcRect l="0" r="0" t="-101" b="-101"/>
          <a:stretch/>
        </p:blipFill>
        <p:spPr>
          <a:xfrm>
            <a:off x="812767" y="1694160"/>
            <a:ext cx="4826000" cy="4191000"/>
          </a:xfrm>
          <a:prstGeom prst="rect">
            <a:avLst/>
          </a:prstGeom>
        </p:spPr>
      </p:pic>
      <p:sp>
        <p:nvSpPr>
          <p:cNvPr id="5" name="Shape 2"/>
          <p:cNvSpPr/>
          <p:nvPr/>
        </p:nvSpPr>
        <p:spPr>
          <a:xfrm>
            <a:off x="6045150" y="2392499"/>
            <a:ext cx="5334083" cy="0"/>
          </a:xfrm>
          <a:prstGeom prst="line">
            <a:avLst/>
          </a:prstGeom>
          <a:noFill/>
          <a:ln w="25400">
            <a:solidFill>
              <a:srgbClr val="2A5D8F"/>
            </a:solidFill>
            <a:prstDash val="solid"/>
          </a:ln>
        </p:spPr>
      </p:sp>
      <p:sp>
        <p:nvSpPr>
          <p:cNvPr id="6" name="Text 3"/>
          <p:cNvSpPr/>
          <p:nvPr/>
        </p:nvSpPr>
        <p:spPr>
          <a:xfrm>
            <a:off x="6045150" y="2530611"/>
            <a:ext cx="549410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C2733"/>
                </a:solidFill>
                <a:latin typeface="Arial" pitchFamily="34" charset="0"/>
                <a:ea typeface="Arial" pitchFamily="34" charset="-122"/>
                <a:cs typeface="Arial" pitchFamily="34" charset="-120"/>
              </a:rPr>
              <a:t>Target ≥ 5 mm</a:t>
            </a:r>
            <a:endParaRPr lang="en-US" sz="1800" dirty="0"/>
          </a:p>
        </p:txBody>
      </p:sp>
      <p:sp>
        <p:nvSpPr>
          <p:cNvPr id="7" name="Text 4"/>
          <p:cNvSpPr/>
          <p:nvPr/>
        </p:nvSpPr>
        <p:spPr>
          <a:xfrm>
            <a:off x="6045150" y="2901442"/>
            <a:ext cx="549410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response within ×2 of Sd(Teff)</a:t>
            </a:r>
            <a:endParaRPr lang="en-US" sz="1400" dirty="0"/>
          </a:p>
        </p:txBody>
      </p:sp>
      <p:sp>
        <p:nvSpPr>
          <p:cNvPr id="8" name="Shape 5"/>
          <p:cNvSpPr/>
          <p:nvPr/>
        </p:nvSpPr>
        <p:spPr>
          <a:xfrm>
            <a:off x="6045150" y="3417057"/>
            <a:ext cx="5334083" cy="0"/>
          </a:xfrm>
          <a:prstGeom prst="line">
            <a:avLst/>
          </a:prstGeom>
          <a:noFill/>
          <a:ln w="25400">
            <a:solidFill>
              <a:srgbClr val="B5571A"/>
            </a:solidFill>
            <a:prstDash val="solid"/>
          </a:ln>
        </p:spPr>
      </p:sp>
      <p:sp>
        <p:nvSpPr>
          <p:cNvPr id="9" name="Text 6"/>
          <p:cNvSpPr/>
          <p:nvPr/>
        </p:nvSpPr>
        <p:spPr>
          <a:xfrm>
            <a:off x="6045150" y="3555169"/>
            <a:ext cx="549410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C2733"/>
                </a:solidFill>
                <a:latin typeface="Arial" pitchFamily="34" charset="0"/>
                <a:ea typeface="Arial" pitchFamily="34" charset="-122"/>
                <a:cs typeface="Arial" pitchFamily="34" charset="-120"/>
              </a:rPr>
              <a:t>Target &lt; 5 mm</a:t>
            </a:r>
            <a:endParaRPr lang="en-US" sz="1800" dirty="0"/>
          </a:p>
        </p:txBody>
      </p:sp>
      <p:sp>
        <p:nvSpPr>
          <p:cNvPr id="10" name="Text 7"/>
          <p:cNvSpPr/>
          <p:nvPr/>
        </p:nvSpPr>
        <p:spPr>
          <a:xfrm>
            <a:off x="6045150" y="3925999"/>
            <a:ext cx="549410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below 1 : 1: wall still elastic, T1 governs</a:t>
            </a:r>
            <a:endParaRPr lang="en-US" sz="1400" dirty="0"/>
          </a:p>
        </p:txBody>
      </p:sp>
      <p:sp>
        <p:nvSpPr>
          <p:cNvPr id="11" name="Shape 8"/>
          <p:cNvSpPr/>
          <p:nvPr/>
        </p:nvSpPr>
        <p:spPr>
          <a:xfrm>
            <a:off x="6045150" y="4441614"/>
            <a:ext cx="5334083" cy="0"/>
          </a:xfrm>
          <a:prstGeom prst="line">
            <a:avLst/>
          </a:prstGeom>
          <a:noFill/>
          <a:ln w="25400">
            <a:solidFill>
              <a:srgbClr val="1C2733"/>
            </a:solidFill>
            <a:prstDash val="solid"/>
          </a:ln>
        </p:spPr>
      </p:sp>
      <p:sp>
        <p:nvSpPr>
          <p:cNvPr id="12" name="Text 9"/>
          <p:cNvSpPr/>
          <p:nvPr/>
        </p:nvSpPr>
        <p:spPr>
          <a:xfrm>
            <a:off x="6045150" y="4579727"/>
            <a:ext cx="549410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C2733"/>
                </a:solidFill>
                <a:latin typeface="Arial" pitchFamily="34" charset="0"/>
                <a:ea typeface="Arial" pitchFamily="34" charset="-122"/>
                <a:cs typeface="Arial" pitchFamily="34" charset="-120"/>
              </a:rPr>
              <a:t>The target is the issue</a:t>
            </a:r>
            <a:endParaRPr lang="en-US" sz="1800" dirty="0"/>
          </a:p>
        </p:txBody>
      </p:sp>
      <p:sp>
        <p:nvSpPr>
          <p:cNvPr id="13" name="Text 10"/>
          <p:cNvSpPr/>
          <p:nvPr/>
        </p:nvSpPr>
        <p:spPr>
          <a:xfrm>
            <a:off x="6045150" y="4950557"/>
            <a:ext cx="549410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Arial" pitchFamily="34" charset="0"/>
                <a:ea typeface="Arial" pitchFamily="34" charset="-122"/>
                <a:cs typeface="Arial" pitchFamily="34" charset="-120"/>
              </a:rPr>
              <a:t>Teff 0.344 s from the ft = 0 push; restart with 0.36 s, T1 0.089 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2733"/>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4724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Georgia" pitchFamily="18" charset="0"/>
                <a:ea typeface="Georgia" pitchFamily="18" charset="-122"/>
                <a:cs typeface="Georgia" pitchFamily="18" charset="-120"/>
              </a:rPr>
              <a:t>Next steps</a:t>
            </a:r>
            <a:endParaRPr lang="en-US" sz="3200" dirty="0"/>
          </a:p>
        </p:txBody>
      </p:sp>
      <p:sp>
        <p:nvSpPr>
          <p:cNvPr id="3" name="Shape 1"/>
          <p:cNvSpPr/>
          <p:nvPr/>
        </p:nvSpPr>
        <p:spPr>
          <a:xfrm>
            <a:off x="812767" y="1628056"/>
            <a:ext cx="5156233" cy="0"/>
          </a:xfrm>
          <a:prstGeom prst="line">
            <a:avLst/>
          </a:prstGeom>
          <a:noFill/>
          <a:ln w="25400">
            <a:solidFill>
              <a:srgbClr val="E8A06A"/>
            </a:solidFill>
            <a:prstDash val="solid"/>
          </a:ln>
        </p:spPr>
      </p:sp>
      <p:sp>
        <p:nvSpPr>
          <p:cNvPr id="4" name="Text 2"/>
          <p:cNvSpPr/>
          <p:nvPr/>
        </p:nvSpPr>
        <p:spPr>
          <a:xfrm>
            <a:off x="812767" y="1766168"/>
            <a:ext cx="53109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Arial" pitchFamily="34" charset="0"/>
                <a:ea typeface="Arial" pitchFamily="34" charset="-122"/>
                <a:cs typeface="Arial" pitchFamily="34" charset="-120"/>
              </a:rPr>
              <a:t>Base shear</a:t>
            </a:r>
            <a:endParaRPr lang="en-US" sz="1800" dirty="0"/>
          </a:p>
        </p:txBody>
      </p:sp>
      <p:sp>
        <p:nvSpPr>
          <p:cNvPr id="5" name="Text 3"/>
          <p:cNvSpPr/>
          <p:nvPr/>
        </p:nvSpPr>
        <p:spPr>
          <a:xfrm>
            <a:off x="812767" y="2116708"/>
            <a:ext cx="5310920"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Group formula adopted · confirm slab and beam masses, run-18 slip</a:t>
            </a:r>
            <a:endParaRPr lang="en-US" sz="1400" dirty="0"/>
          </a:p>
        </p:txBody>
      </p:sp>
      <p:sp>
        <p:nvSpPr>
          <p:cNvPr id="6" name="Shape 4"/>
          <p:cNvSpPr/>
          <p:nvPr/>
        </p:nvSpPr>
        <p:spPr>
          <a:xfrm>
            <a:off x="6223000" y="1628056"/>
            <a:ext cx="5156233" cy="0"/>
          </a:xfrm>
          <a:prstGeom prst="line">
            <a:avLst/>
          </a:prstGeom>
          <a:noFill/>
          <a:ln w="25400">
            <a:solidFill>
              <a:srgbClr val="E8A06A"/>
            </a:solidFill>
            <a:prstDash val="solid"/>
          </a:ln>
        </p:spPr>
      </p:sp>
      <p:sp>
        <p:nvSpPr>
          <p:cNvPr id="7" name="Text 5"/>
          <p:cNvSpPr/>
          <p:nvPr/>
        </p:nvSpPr>
        <p:spPr>
          <a:xfrm>
            <a:off x="6223000" y="1766168"/>
            <a:ext cx="53109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Arial" pitchFamily="34" charset="0"/>
                <a:ea typeface="Arial" pitchFamily="34" charset="-122"/>
                <a:cs typeface="Arial" pitchFamily="34" charset="-120"/>
              </a:rPr>
              <a:t>Pushover</a:t>
            </a:r>
            <a:endParaRPr lang="en-US" sz="1800" dirty="0"/>
          </a:p>
        </p:txBody>
      </p:sp>
      <p:sp>
        <p:nvSpPr>
          <p:cNvPr id="8" name="Text 6"/>
          <p:cNvSpPr/>
          <p:nvPr/>
        </p:nvSpPr>
        <p:spPr>
          <a:xfrm>
            <a:off x="6223000" y="2116708"/>
            <a:ext cx="5310920"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Timber friction and softer joist bearing in the pockets · ft sweep 0.05–0.10 MPa running</a:t>
            </a:r>
            <a:endParaRPr lang="en-US" sz="1400" dirty="0"/>
          </a:p>
        </p:txBody>
      </p:sp>
      <p:sp>
        <p:nvSpPr>
          <p:cNvPr id="9" name="Shape 7"/>
          <p:cNvSpPr/>
          <p:nvPr/>
        </p:nvSpPr>
        <p:spPr>
          <a:xfrm>
            <a:off x="812767" y="2881238"/>
            <a:ext cx="5156233" cy="0"/>
          </a:xfrm>
          <a:prstGeom prst="line">
            <a:avLst/>
          </a:prstGeom>
          <a:noFill/>
          <a:ln w="25400">
            <a:solidFill>
              <a:srgbClr val="8FB4D6"/>
            </a:solidFill>
            <a:prstDash val="solid"/>
          </a:ln>
        </p:spPr>
      </p:sp>
      <p:sp>
        <p:nvSpPr>
          <p:cNvPr id="10" name="Text 8"/>
          <p:cNvSpPr/>
          <p:nvPr/>
        </p:nvSpPr>
        <p:spPr>
          <a:xfrm>
            <a:off x="812767" y="3019351"/>
            <a:ext cx="53109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Arial" pitchFamily="34" charset="0"/>
                <a:ea typeface="Arial" pitchFamily="34" charset="-122"/>
                <a:cs typeface="Arial" pitchFamily="34" charset="-120"/>
              </a:rPr>
              <a:t>Route 2</a:t>
            </a:r>
            <a:endParaRPr lang="en-US" sz="1800" dirty="0"/>
          </a:p>
        </p:txBody>
      </p:sp>
      <p:sp>
        <p:nvSpPr>
          <p:cNvPr id="11" name="Text 9"/>
          <p:cNvSpPr/>
          <p:nvPr/>
        </p:nvSpPr>
        <p:spPr>
          <a:xfrm>
            <a:off x="812767" y="3369878"/>
            <a:ext cx="531092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Keep (Tp, Tm) · restart with T1 0.089 s, Teff 0.36 s</a:t>
            </a:r>
            <a:endParaRPr lang="en-US" sz="1400" dirty="0"/>
          </a:p>
        </p:txBody>
      </p:sp>
      <p:sp>
        <p:nvSpPr>
          <p:cNvPr id="12" name="Shape 10"/>
          <p:cNvSpPr/>
          <p:nvPr/>
        </p:nvSpPr>
        <p:spPr>
          <a:xfrm>
            <a:off x="6223000" y="2881238"/>
            <a:ext cx="5156233" cy="0"/>
          </a:xfrm>
          <a:prstGeom prst="line">
            <a:avLst/>
          </a:prstGeom>
          <a:noFill/>
          <a:ln w="25400">
            <a:solidFill>
              <a:srgbClr val="8FB4D6"/>
            </a:solidFill>
            <a:prstDash val="solid"/>
          </a:ln>
        </p:spPr>
      </p:sp>
      <p:sp>
        <p:nvSpPr>
          <p:cNvPr id="13" name="Text 11"/>
          <p:cNvSpPr/>
          <p:nvPr/>
        </p:nvSpPr>
        <p:spPr>
          <a:xfrm>
            <a:off x="6223000" y="3019351"/>
            <a:ext cx="53109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Arial" pitchFamily="34" charset="0"/>
                <a:ea typeface="Arial" pitchFamily="34" charset="-122"/>
                <a:cs typeface="Arial" pitchFamily="34" charset="-120"/>
              </a:rPr>
              <a:t>Damping</a:t>
            </a:r>
            <a:endParaRPr lang="en-US" sz="1800" dirty="0"/>
          </a:p>
        </p:txBody>
      </p:sp>
      <p:sp>
        <p:nvSpPr>
          <p:cNvPr id="14" name="Text 12"/>
          <p:cNvSpPr/>
          <p:nvPr/>
        </p:nvSpPr>
        <p:spPr>
          <a:xfrm>
            <a:off x="6223000" y="3369878"/>
            <a:ext cx="531092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Measured ζ ≈ 0.9–1.7 % supports 1.5 % Maxwell</a:t>
            </a:r>
            <a:endParaRPr lang="en-US" sz="1400" dirty="0"/>
          </a:p>
        </p:txBody>
      </p:sp>
    </p:spTree>
  </p:cSld>
  <p:clrMapOvr>
    <a:masterClrMapping/>
  </p:clrMapOvr>
</p:sld>
</file>

<file path=ppt/theme/theme1.xml><?xml version="1.0" encoding="utf-8"?>
<a:theme xmlns:a="http://schemas.openxmlformats.org/drawingml/2006/main" name="Progress Meeting 27-10-2026">
  <a:themeElements>
    <a:clrScheme name="Progress Meeting 27-10-2026">
      <a:dk1>
        <a:srgbClr val="1C2733"/>
      </a:dk1>
      <a:lt1>
        <a:srgbClr val="FBFBF9"/>
      </a:lt1>
      <a:dk2>
        <a:srgbClr val="545C65"/>
      </a:dk2>
      <a:lt2>
        <a:srgbClr val="E5E6E5"/>
      </a:lt2>
      <a:accent1>
        <a:srgbClr val="B5571A"/>
      </a:accent1>
      <a:accent2>
        <a:srgbClr val="2A5D8F"/>
      </a:accent2>
      <a:accent3>
        <a:srgbClr val="E8A06A"/>
      </a:accent3>
      <a:accent4>
        <a:srgbClr val="5A6672"/>
      </a:accent4>
      <a:accent5>
        <a:srgbClr val="3A4651"/>
      </a:accent5>
      <a:accent6>
        <a:srgbClr val="C9D3DC"/>
      </a:accent6>
      <a:hlink>
        <a:srgbClr val="0563C1"/>
      </a:hlink>
      <a:folHlink>
        <a:srgbClr val="954F72"/>
      </a:folHlink>
    </a:clrScheme>
    <a:fontScheme name="Progress Meeting 27-10-202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Meeting 27-10-2026</dc:title>
  <dc:subject/>
  <dc:creator/>
  <cp:lastModifiedBy/>
  <cp:revision>1</cp:revision>
  <dcterms:created xsi:type="dcterms:W3CDTF">2026-10-27T14:21:21Z</dcterms:created>
  <dcterms:modified xsi:type="dcterms:W3CDTF">2026-10-27T14:21:21Z</dcterms:modified>
</cp:coreProperties>
</file>